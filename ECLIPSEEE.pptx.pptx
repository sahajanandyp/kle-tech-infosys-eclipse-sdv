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18288000" cy="10287000"/>
  <p:notesSz cx="6858000" cy="9144000"/>
  <p:embeddedFontLst>
    <p:embeddedFont>
      <p:font typeface="Calibri (MS) Bold" charset="1" panose="020F0702030404030204"/>
      <p:regular r:id="rId46"/>
    </p:embeddedFont>
    <p:embeddedFont>
      <p:font typeface="Calibri (MS)" charset="1" panose="020F0502020204030204"/>
      <p:regular r:id="rId47"/>
    </p:embeddedFont>
    <p:embeddedFont>
      <p:font typeface="Arial" charset="1" panose="020B0604020202020204"/>
      <p:regular r:id="rId51"/>
    </p:embeddedFont>
    <p:embeddedFont>
      <p:font typeface="Calibri (MS) Italics" charset="1" panose="020F05020202040A0204"/>
      <p:regular r:id="rId52"/>
    </p:embeddedFont>
    <p:embeddedFont>
      <p:font typeface="Arial Bold" charset="1" panose="020B0704020202020204"/>
      <p:regular r:id="rId6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fonts/font46.fntdata" Type="http://schemas.openxmlformats.org/officeDocument/2006/relationships/font"/><Relationship Id="rId47" Target="fonts/font47.fntdata" Type="http://schemas.openxmlformats.org/officeDocument/2006/relationships/font"/><Relationship Id="rId48" Target="notesMasters/notesMaster1.xml" Type="http://schemas.openxmlformats.org/officeDocument/2006/relationships/notesMaster"/><Relationship Id="rId49" Target="theme/theme2.xml" Type="http://schemas.openxmlformats.org/officeDocument/2006/relationships/theme"/><Relationship Id="rId5" Target="tableStyles.xml" Type="http://schemas.openxmlformats.org/officeDocument/2006/relationships/tableStyles"/><Relationship Id="rId50" Target="notesSlides/notesSlide1.xml" Type="http://schemas.openxmlformats.org/officeDocument/2006/relationships/notesSlide"/><Relationship Id="rId51" Target="fonts/font51.fntdata" Type="http://schemas.openxmlformats.org/officeDocument/2006/relationships/font"/><Relationship Id="rId52" Target="fonts/font52.fntdata" Type="http://schemas.openxmlformats.org/officeDocument/2006/relationships/font"/><Relationship Id="rId53" Target="notesSlides/notesSlide2.xml" Type="http://schemas.openxmlformats.org/officeDocument/2006/relationships/notesSlide"/><Relationship Id="rId54" Target="notesSlides/notesSlide3.xml" Type="http://schemas.openxmlformats.org/officeDocument/2006/relationships/notesSlide"/><Relationship Id="rId55" Target="notesSlides/notesSlide4.xml" Type="http://schemas.openxmlformats.org/officeDocument/2006/relationships/notesSlide"/><Relationship Id="rId56" Target="notesSlides/notesSlide5.xml" Type="http://schemas.openxmlformats.org/officeDocument/2006/relationships/notesSlide"/><Relationship Id="rId57" Target="notesSlides/notesSlide6.xml" Type="http://schemas.openxmlformats.org/officeDocument/2006/relationships/notesSlide"/><Relationship Id="rId58" Target="notesSlides/notesSlide7.xml" Type="http://schemas.openxmlformats.org/officeDocument/2006/relationships/notesSlide"/><Relationship Id="rId59" Target="notesSlides/notesSlide8.xml" Type="http://schemas.openxmlformats.org/officeDocument/2006/relationships/notesSlide"/><Relationship Id="rId6" Target="slides/slide1.xml" Type="http://schemas.openxmlformats.org/officeDocument/2006/relationships/slide"/><Relationship Id="rId60" Target="notesSlides/notesSlide9.xml" Type="http://schemas.openxmlformats.org/officeDocument/2006/relationships/notesSlide"/><Relationship Id="rId61" Target="notesSlides/notesSlide10.xml" Type="http://schemas.openxmlformats.org/officeDocument/2006/relationships/notesSlide"/><Relationship Id="rId62" Target="notesSlides/notesSlide11.xml" Type="http://schemas.openxmlformats.org/officeDocument/2006/relationships/notesSlide"/><Relationship Id="rId63" Target="notesSlides/notesSlide12.xml" Type="http://schemas.openxmlformats.org/officeDocument/2006/relationships/notesSlide"/><Relationship Id="rId64" Target="notesSlides/notesSlide13.xml" Type="http://schemas.openxmlformats.org/officeDocument/2006/relationships/notesSlide"/><Relationship Id="rId65" Target="notesSlides/notesSlide14.xml" Type="http://schemas.openxmlformats.org/officeDocument/2006/relationships/notesSlide"/><Relationship Id="rId66" Target="notesSlides/notesSlide15.xml" Type="http://schemas.openxmlformats.org/officeDocument/2006/relationships/notesSlide"/><Relationship Id="rId67" Target="fonts/font67.fntdata" Type="http://schemas.openxmlformats.org/officeDocument/2006/relationships/font"/><Relationship Id="rId68" Target="notesSlides/notesSlide16.xml" Type="http://schemas.openxmlformats.org/officeDocument/2006/relationships/notesSlide"/><Relationship Id="rId69" Target="notesSlides/notesSlide17.xml" Type="http://schemas.openxmlformats.org/officeDocument/2006/relationships/notesSlide"/><Relationship Id="rId7" Target="slides/slide2.xml" Type="http://schemas.openxmlformats.org/officeDocument/2006/relationships/slide"/><Relationship Id="rId70" Target="notesSlides/notesSlide18.xml" Type="http://schemas.openxmlformats.org/officeDocument/2006/relationships/notesSlide"/><Relationship Id="rId71" Target="notesSlides/notesSlide19.xml" Type="http://schemas.openxmlformats.org/officeDocument/2006/relationships/notesSlide"/><Relationship Id="rId72" Target="notesSlides/notesSlide20.xml" Type="http://schemas.openxmlformats.org/officeDocument/2006/relationships/notesSlide"/><Relationship Id="rId73" Target="notesSlides/notesSlide21.xml" Type="http://schemas.openxmlformats.org/officeDocument/2006/relationships/notesSlide"/><Relationship Id="rId74" Target="notesSlides/notesSlide22.xml" Type="http://schemas.openxmlformats.org/officeDocument/2006/relationships/notesSlide"/><Relationship Id="rId75" Target="notesSlides/notesSlide23.xml" Type="http://schemas.openxmlformats.org/officeDocument/2006/relationships/notesSlide"/><Relationship Id="rId76" Target="notesSlides/notesSlide24.xml" Type="http://schemas.openxmlformats.org/officeDocument/2006/relationships/notesSlide"/><Relationship Id="rId77" Target="notesSlides/notesSlide25.xml" Type="http://schemas.openxmlformats.org/officeDocument/2006/relationships/notesSlide"/><Relationship Id="rId78" Target="notesSlides/notesSlide26.xml" Type="http://schemas.openxmlformats.org/officeDocument/2006/relationships/notesSlide"/><Relationship Id="rId79" Target="notesSlides/notesSlide27.xml" Type="http://schemas.openxmlformats.org/officeDocument/2006/relationships/notesSlide"/><Relationship Id="rId8" Target="slides/slide3.xml" Type="http://schemas.openxmlformats.org/officeDocument/2006/relationships/slide"/><Relationship Id="rId80" Target="notesSlides/notesSlide28.xml" Type="http://schemas.openxmlformats.org/officeDocument/2006/relationships/notesSlide"/><Relationship Id="rId81" Target="notesSlides/notesSlide29.xml" Type="http://schemas.openxmlformats.org/officeDocument/2006/relationships/notesSlide"/><Relationship Id="rId82" Target="notesSlides/notesSlide30.xml" Type="http://schemas.openxmlformats.org/officeDocument/2006/relationships/notesSlide"/><Relationship Id="rId83" Target="notesSlides/notesSlide31.xml" Type="http://schemas.openxmlformats.org/officeDocument/2006/relationships/notesSlide"/><Relationship Id="rId84" Target="notesSlides/notesSlide32.xml" Type="http://schemas.openxmlformats.org/officeDocument/2006/relationships/note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5.png" Type="http://schemas.openxmlformats.org/officeDocument/2006/relationships/image"/><Relationship Id="rId4" Target="../embeddings/oleObject1.bin" Type="http://schemas.openxmlformats.org/officeDocument/2006/relationships/oleObjec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6.png" Type="http://schemas.openxmlformats.org/officeDocument/2006/relationships/image"/><Relationship Id="rId4" Target="../embeddings/oleObject2.bin" Type="http://schemas.openxmlformats.org/officeDocument/2006/relationships/oleObject"/><Relationship Id="rId5" Target="../media/image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1.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2.png" Type="http://schemas.openxmlformats.org/officeDocument/2006/relationships/image"/><Relationship Id="rId4" Target="../embeddings/oleObject3.bin" Type="http://schemas.openxmlformats.org/officeDocument/2006/relationships/oleObjec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3.png" Type="http://schemas.openxmlformats.org/officeDocument/2006/relationships/image"/><Relationship Id="rId4" Target="../embeddings/oleObject4.bin" Type="http://schemas.openxmlformats.org/officeDocument/2006/relationships/oleObjec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4.png" Type="http://schemas.openxmlformats.org/officeDocument/2006/relationships/image"/><Relationship Id="rId4" Target="../embeddings/oleObject5.bin" Type="http://schemas.openxmlformats.org/officeDocument/2006/relationships/oleObjec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5.png" Type="http://schemas.openxmlformats.org/officeDocument/2006/relationships/image"/><Relationship Id="rId4" Target="../media/image16.png" Type="http://schemas.openxmlformats.org/officeDocument/2006/relationships/image"/><Relationship Id="rId5" Target="../embeddings/oleObject6.bin" Type="http://schemas.openxmlformats.org/officeDocument/2006/relationships/oleObjec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17365D"/>
            </a:solidFill>
          </p:spPr>
        </p:sp>
      </p:grpSp>
      <p:grpSp>
        <p:nvGrpSpPr>
          <p:cNvPr name="Group 4" id="4"/>
          <p:cNvGrpSpPr/>
          <p:nvPr/>
        </p:nvGrpSpPr>
        <p:grpSpPr>
          <a:xfrm rot="0">
            <a:off x="0" y="0"/>
            <a:ext cx="18287543" cy="205740"/>
            <a:chOff x="0" y="0"/>
            <a:chExt cx="24383390" cy="274320"/>
          </a:xfrm>
        </p:grpSpPr>
        <p:sp>
          <p:nvSpPr>
            <p:cNvPr name="Freeform 5" id="5"/>
            <p:cNvSpPr/>
            <p:nvPr/>
          </p:nvSpPr>
          <p:spPr>
            <a:xfrm flipH="false" flipV="false" rot="0">
              <a:off x="0" y="0"/>
              <a:ext cx="24383364" cy="274320"/>
            </a:xfrm>
            <a:custGeom>
              <a:avLst/>
              <a:gdLst/>
              <a:ahLst/>
              <a:cxnLst/>
              <a:rect r="r" b="b" t="t" l="l"/>
              <a:pathLst>
                <a:path h="274320" w="24383364">
                  <a:moveTo>
                    <a:pt x="0" y="0"/>
                  </a:moveTo>
                  <a:lnTo>
                    <a:pt x="24383364" y="0"/>
                  </a:lnTo>
                  <a:lnTo>
                    <a:pt x="24383364" y="274320"/>
                  </a:lnTo>
                  <a:lnTo>
                    <a:pt x="0" y="274320"/>
                  </a:lnTo>
                  <a:close/>
                </a:path>
              </a:pathLst>
            </a:custGeom>
            <a:solidFill>
              <a:srgbClr val="2563EB"/>
            </a:solidFill>
          </p:spPr>
        </p:sp>
      </p:grpSp>
      <p:grpSp>
        <p:nvGrpSpPr>
          <p:cNvPr name="Group 6" id="6"/>
          <p:cNvGrpSpPr/>
          <p:nvPr/>
        </p:nvGrpSpPr>
        <p:grpSpPr>
          <a:xfrm rot="0">
            <a:off x="1638776" y="2050256"/>
            <a:ext cx="15009990" cy="6186488"/>
            <a:chOff x="0" y="0"/>
            <a:chExt cx="20013320" cy="8248650"/>
          </a:xfrm>
        </p:grpSpPr>
        <p:sp>
          <p:nvSpPr>
            <p:cNvPr name="Freeform 7" id="7"/>
            <p:cNvSpPr/>
            <p:nvPr/>
          </p:nvSpPr>
          <p:spPr>
            <a:xfrm flipH="false" flipV="false" rot="0">
              <a:off x="0" y="0"/>
              <a:ext cx="20013295" cy="8248650"/>
            </a:xfrm>
            <a:custGeom>
              <a:avLst/>
              <a:gdLst/>
              <a:ahLst/>
              <a:cxnLst/>
              <a:rect r="r" b="b" t="t" l="l"/>
              <a:pathLst>
                <a:path h="8248650" w="20013295">
                  <a:moveTo>
                    <a:pt x="0" y="1374775"/>
                  </a:moveTo>
                  <a:cubicBezTo>
                    <a:pt x="0" y="615569"/>
                    <a:pt x="615569" y="0"/>
                    <a:pt x="1374775" y="0"/>
                  </a:cubicBezTo>
                  <a:lnTo>
                    <a:pt x="18638520" y="0"/>
                  </a:lnTo>
                  <a:cubicBezTo>
                    <a:pt x="19397853" y="0"/>
                    <a:pt x="20013295" y="615569"/>
                    <a:pt x="20013295" y="1374775"/>
                  </a:cubicBezTo>
                  <a:lnTo>
                    <a:pt x="20013295" y="6873875"/>
                  </a:lnTo>
                  <a:cubicBezTo>
                    <a:pt x="20013295" y="7633208"/>
                    <a:pt x="19397726" y="8248650"/>
                    <a:pt x="18638520" y="8248650"/>
                  </a:cubicBezTo>
                  <a:lnTo>
                    <a:pt x="1374775" y="8248650"/>
                  </a:lnTo>
                  <a:cubicBezTo>
                    <a:pt x="615569" y="8248650"/>
                    <a:pt x="0" y="7633081"/>
                    <a:pt x="0" y="6873875"/>
                  </a:cubicBezTo>
                  <a:close/>
                </a:path>
              </a:pathLst>
            </a:custGeom>
            <a:solidFill>
              <a:srgbClr val="FFFFFF"/>
            </a:solidFill>
            <a:ln w="14288" cap="sq">
              <a:solidFill>
                <a:srgbClr val="2563EB"/>
              </a:solidFill>
              <a:prstDash val="solid"/>
              <a:miter/>
            </a:ln>
          </p:spPr>
        </p:sp>
        <p:sp>
          <p:nvSpPr>
            <p:cNvPr name="TextBox 8" id="8"/>
            <p:cNvSpPr txBox="true"/>
            <p:nvPr/>
          </p:nvSpPr>
          <p:spPr>
            <a:xfrm>
              <a:off x="0" y="-47625"/>
              <a:ext cx="20013320" cy="8296275"/>
            </a:xfrm>
            <a:prstGeom prst="rect">
              <a:avLst/>
            </a:prstGeom>
          </p:spPr>
          <p:txBody>
            <a:bodyPr anchor="ctr" rtlCol="false" tIns="50800" lIns="50800" bIns="50800" rIns="50800"/>
            <a:lstStyle/>
            <a:p>
              <a:pPr algn="ctr">
                <a:lnSpc>
                  <a:spcPts val="2520"/>
                </a:lnSpc>
              </a:pPr>
              <a:r>
                <a:rPr lang="en-US" sz="2100" b="true">
                  <a:solidFill>
                    <a:srgbClr val="2563EB"/>
                  </a:solidFill>
                  <a:latin typeface="Calibri (MS) Bold"/>
                  <a:ea typeface="Calibri (MS) Bold"/>
                  <a:cs typeface="Calibri (MS) Bold"/>
                  <a:sym typeface="Calibri (MS) Bold"/>
                </a:rPr>
                <a:t>SECTION 01</a:t>
              </a:r>
            </a:p>
            <a:p>
              <a:pPr algn="l">
                <a:lnSpc>
                  <a:spcPts val="5759"/>
                </a:lnSpc>
              </a:pPr>
              <a:r>
                <a:rPr lang="en-US" sz="4800" b="true">
                  <a:solidFill>
                    <a:srgbClr val="17365D"/>
                  </a:solidFill>
                  <a:latin typeface="Calibri (MS) Bold"/>
                  <a:ea typeface="Calibri (MS) Bold"/>
                  <a:cs typeface="Calibri (MS) Bold"/>
                  <a:sym typeface="Calibri (MS) Bold"/>
                </a:rPr>
                <a:t>Foundation &amp; Ecosystem</a:t>
              </a:r>
            </a:p>
            <a:p>
              <a:pPr algn="l">
                <a:lnSpc>
                  <a:spcPts val="2879"/>
                </a:lnSpc>
              </a:pPr>
              <a:r>
                <a:rPr lang="en-US" sz="2400">
                  <a:solidFill>
                    <a:srgbClr val="334155"/>
                  </a:solidFill>
                  <a:latin typeface="Calibri (MS)"/>
                  <a:ea typeface="Calibri (MS)"/>
                  <a:cs typeface="Calibri (MS)"/>
                  <a:sym typeface="Calibri (MS)"/>
                </a:rPr>
                <a:t>Eclipse SDV Foundation, Active Project Catalogue, Scope &amp; Platform Architecture Concept</a:t>
              </a:r>
            </a:p>
          </p:txBody>
        </p:sp>
      </p:grpSp>
      <p:grpSp>
        <p:nvGrpSpPr>
          <p:cNvPr name="Group 9" id="9"/>
          <p:cNvGrpSpPr/>
          <p:nvPr/>
        </p:nvGrpSpPr>
        <p:grpSpPr>
          <a:xfrm rot="0">
            <a:off x="1645920" y="8778240"/>
            <a:ext cx="14995703" cy="20574"/>
            <a:chOff x="0" y="0"/>
            <a:chExt cx="19994270" cy="27432"/>
          </a:xfrm>
        </p:grpSpPr>
        <p:sp>
          <p:nvSpPr>
            <p:cNvPr name="Freeform 10" id="10"/>
            <p:cNvSpPr/>
            <p:nvPr/>
          </p:nvSpPr>
          <p:spPr>
            <a:xfrm flipH="false" flipV="false" rot="0">
              <a:off x="0" y="0"/>
              <a:ext cx="19994245" cy="27432"/>
            </a:xfrm>
            <a:custGeom>
              <a:avLst/>
              <a:gdLst/>
              <a:ahLst/>
              <a:cxnLst/>
              <a:rect r="r" b="b" t="t" l="l"/>
              <a:pathLst>
                <a:path h="27432" w="19994245">
                  <a:moveTo>
                    <a:pt x="0" y="0"/>
                  </a:moveTo>
                  <a:lnTo>
                    <a:pt x="19994245" y="0"/>
                  </a:lnTo>
                  <a:lnTo>
                    <a:pt x="19994245" y="27432"/>
                  </a:lnTo>
                  <a:lnTo>
                    <a:pt x="0" y="27432"/>
                  </a:lnTo>
                  <a:close/>
                </a:path>
              </a:pathLst>
            </a:custGeom>
            <a:solidFill>
              <a:srgbClr val="BFBFBF"/>
            </a:solidFill>
          </p:spPr>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Program introduction</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OVERVIEW</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1</a:t>
            </a:r>
          </a:p>
        </p:txBody>
      </p:sp>
      <p:sp>
        <p:nvSpPr>
          <p:cNvPr name="TextBox 9" id="9"/>
          <p:cNvSpPr txBox="true"/>
          <p:nvPr/>
        </p:nvSpPr>
        <p:spPr>
          <a:xfrm rot="0">
            <a:off x="1051541" y="1301096"/>
            <a:ext cx="16002029" cy="436283"/>
          </a:xfrm>
          <a:prstGeom prst="rect">
            <a:avLst/>
          </a:prstGeom>
        </p:spPr>
        <p:txBody>
          <a:bodyPr anchor="t" rtlCol="false" tIns="0" lIns="0" bIns="0" rIns="0">
            <a:spAutoFit/>
          </a:bodyPr>
          <a:lstStyle/>
          <a:p>
            <a:pPr algn="l">
              <a:lnSpc>
                <a:spcPts val="3060"/>
              </a:lnSpc>
            </a:pPr>
            <a:r>
              <a:rPr lang="en-US" b="true" sz="2550">
                <a:solidFill>
                  <a:srgbClr val="17365D"/>
                </a:solidFill>
                <a:latin typeface="Calibri (MS) Bold"/>
                <a:ea typeface="Calibri (MS) Bold"/>
                <a:cs typeface="Calibri (MS) Bold"/>
                <a:sym typeface="Calibri (MS) Bold"/>
              </a:rPr>
              <a:t>Purpose</a:t>
            </a:r>
          </a:p>
        </p:txBody>
      </p:sp>
      <p:sp>
        <p:nvSpPr>
          <p:cNvPr name="TextBox 10" id="10"/>
          <p:cNvSpPr txBox="true"/>
          <p:nvPr/>
        </p:nvSpPr>
        <p:spPr>
          <a:xfrm rot="0">
            <a:off x="1051541" y="1849736"/>
            <a:ext cx="16001848" cy="671722"/>
          </a:xfrm>
          <a:prstGeom prst="rect">
            <a:avLst/>
          </a:prstGeom>
        </p:spPr>
        <p:txBody>
          <a:bodyPr anchor="t" rtlCol="false" tIns="0" lIns="0" bIns="0" rIns="0">
            <a:spAutoFit/>
          </a:bodyPr>
          <a:lstStyle/>
          <a:p>
            <a:pPr algn="l">
              <a:lnSpc>
                <a:spcPts val="2610"/>
              </a:lnSpc>
            </a:pPr>
            <a:r>
              <a:rPr lang="en-US" b="true" sz="2175">
                <a:solidFill>
                  <a:srgbClr val="0F172A"/>
                </a:solidFill>
                <a:latin typeface="Calibri (MS) Bold"/>
                <a:ea typeface="Calibri (MS) Bold"/>
                <a:cs typeface="Calibri (MS) Bold"/>
                <a:sym typeface="Calibri (MS) Bold"/>
              </a:rPr>
              <a:t>Development of a reusable, vehicle-agnostic Eclipse SDV platform</a:t>
            </a:r>
          </a:p>
          <a:p>
            <a:pPr algn="l">
              <a:lnSpc>
                <a:spcPts val="2340"/>
              </a:lnSpc>
            </a:pPr>
            <a:r>
              <a:rPr lang="en-US" sz="1950" i="true">
                <a:solidFill>
                  <a:srgbClr val="0284C7"/>
                </a:solidFill>
                <a:latin typeface="Calibri (MS) Italics"/>
                <a:ea typeface="Calibri (MS) Italics"/>
                <a:cs typeface="Calibri (MS) Italics"/>
                <a:sym typeface="Calibri (MS) Italics"/>
              </a:rPr>
              <a:t>Core Principle: "Develop once. Configure per vehicle. Deploy across compatible vehicles."</a:t>
            </a:r>
          </a:p>
        </p:txBody>
      </p:sp>
      <p:sp>
        <p:nvSpPr>
          <p:cNvPr name="TextBox 11" id="11"/>
          <p:cNvSpPr txBox="true"/>
          <p:nvPr/>
        </p:nvSpPr>
        <p:spPr>
          <a:xfrm rot="0">
            <a:off x="1051541" y="2947016"/>
            <a:ext cx="16002029" cy="436283"/>
          </a:xfrm>
          <a:prstGeom prst="rect">
            <a:avLst/>
          </a:prstGeom>
        </p:spPr>
        <p:txBody>
          <a:bodyPr anchor="t" rtlCol="false" tIns="0" lIns="0" bIns="0" rIns="0">
            <a:spAutoFit/>
          </a:bodyPr>
          <a:lstStyle/>
          <a:p>
            <a:pPr algn="l">
              <a:lnSpc>
                <a:spcPts val="3060"/>
              </a:lnSpc>
            </a:pPr>
            <a:r>
              <a:rPr lang="en-US" b="true" sz="2550">
                <a:solidFill>
                  <a:srgbClr val="17365D"/>
                </a:solidFill>
                <a:latin typeface="Calibri (MS) Bold"/>
                <a:ea typeface="Calibri (MS) Bold"/>
                <a:cs typeface="Calibri (MS) Bold"/>
                <a:sym typeface="Calibri (MS) Bold"/>
              </a:rPr>
              <a:t>What students &amp; researchers gain from one reusable platform</a:t>
            </a:r>
          </a:p>
        </p:txBody>
      </p:sp>
      <p:sp>
        <p:nvSpPr>
          <p:cNvPr name="TextBox 12" id="12"/>
          <p:cNvSpPr txBox="true"/>
          <p:nvPr/>
        </p:nvSpPr>
        <p:spPr>
          <a:xfrm rot="0">
            <a:off x="1051541" y="3427076"/>
            <a:ext cx="16002029" cy="436283"/>
          </a:xfrm>
          <a:prstGeom prst="rect">
            <a:avLst/>
          </a:prstGeom>
        </p:spPr>
        <p:txBody>
          <a:bodyPr anchor="t" rtlCol="false" tIns="0" lIns="0" bIns="0" rIns="0">
            <a:spAutoFit/>
          </a:bodyPr>
          <a:lstStyle/>
          <a:p>
            <a:pPr algn="l">
              <a:lnSpc>
                <a:spcPts val="2340"/>
              </a:lnSpc>
            </a:pPr>
            <a:r>
              <a:rPr lang="en-US" sz="1950">
                <a:solidFill>
                  <a:srgbClr val="334155"/>
                </a:solidFill>
                <a:latin typeface="Calibri (MS)"/>
                <a:ea typeface="Calibri (MS)"/>
                <a:cs typeface="Calibri (MS)"/>
                <a:sym typeface="Calibri (MS)"/>
              </a:rPr>
              <a:t>A single implementation supports practical learning across vehicle software, hardware integration, cloud workflows and advanced research.</a:t>
            </a:r>
          </a:p>
        </p:txBody>
      </p:sp>
      <p:grpSp>
        <p:nvGrpSpPr>
          <p:cNvPr name="Group 13" id="13"/>
          <p:cNvGrpSpPr/>
          <p:nvPr/>
        </p:nvGrpSpPr>
        <p:grpSpPr>
          <a:xfrm rot="0">
            <a:off x="952976" y="4039076"/>
            <a:ext cx="7900988" cy="4266247"/>
            <a:chOff x="0" y="0"/>
            <a:chExt cx="10534650" cy="5688330"/>
          </a:xfrm>
        </p:grpSpPr>
        <p:sp>
          <p:nvSpPr>
            <p:cNvPr name="Freeform 14" id="14"/>
            <p:cNvSpPr/>
            <p:nvPr/>
          </p:nvSpPr>
          <p:spPr>
            <a:xfrm flipH="false" flipV="false" rot="0">
              <a:off x="0" y="0"/>
              <a:ext cx="10534650" cy="5688330"/>
            </a:xfrm>
            <a:custGeom>
              <a:avLst/>
              <a:gdLst/>
              <a:ahLst/>
              <a:cxnLst/>
              <a:rect r="r" b="b" t="t" l="l"/>
              <a:pathLst>
                <a:path h="5688330" w="10534650">
                  <a:moveTo>
                    <a:pt x="0" y="948055"/>
                  </a:moveTo>
                  <a:cubicBezTo>
                    <a:pt x="0" y="424434"/>
                    <a:pt x="424434" y="0"/>
                    <a:pt x="948055" y="0"/>
                  </a:cubicBezTo>
                  <a:lnTo>
                    <a:pt x="9586595" y="0"/>
                  </a:lnTo>
                  <a:cubicBezTo>
                    <a:pt x="10110216" y="0"/>
                    <a:pt x="10534650" y="424434"/>
                    <a:pt x="10534650" y="948055"/>
                  </a:cubicBezTo>
                  <a:lnTo>
                    <a:pt x="10534650" y="4740275"/>
                  </a:lnTo>
                  <a:cubicBezTo>
                    <a:pt x="10534650" y="5263896"/>
                    <a:pt x="10110216" y="5688330"/>
                    <a:pt x="9586595" y="5688330"/>
                  </a:cubicBezTo>
                  <a:lnTo>
                    <a:pt x="948055" y="5688330"/>
                  </a:lnTo>
                  <a:cubicBezTo>
                    <a:pt x="424434" y="5688330"/>
                    <a:pt x="0" y="5263896"/>
                    <a:pt x="0" y="4740275"/>
                  </a:cubicBezTo>
                  <a:close/>
                </a:path>
              </a:pathLst>
            </a:custGeom>
            <a:solidFill>
              <a:srgbClr val="F8FAFC"/>
            </a:solidFill>
            <a:ln w="14288" cap="sq">
              <a:solidFill>
                <a:srgbClr val="CBD5E1"/>
              </a:solidFill>
              <a:prstDash val="solid"/>
              <a:miter/>
            </a:ln>
          </p:spPr>
        </p:sp>
        <p:sp>
          <p:nvSpPr>
            <p:cNvPr name="TextBox 15" id="15"/>
            <p:cNvSpPr txBox="true"/>
            <p:nvPr/>
          </p:nvSpPr>
          <p:spPr>
            <a:xfrm>
              <a:off x="0" y="-47625"/>
              <a:ext cx="10534650" cy="5735955"/>
            </a:xfrm>
            <a:prstGeom prst="rect">
              <a:avLst/>
            </a:prstGeom>
          </p:spPr>
          <p:txBody>
            <a:bodyPr anchor="t" rtlCol="false" tIns="50800" lIns="50800" bIns="50800" rIns="50800"/>
            <a:lstStyle/>
            <a:p>
              <a:pPr algn="ctr">
                <a:lnSpc>
                  <a:spcPts val="2610"/>
                </a:lnSpc>
              </a:pPr>
              <a:r>
                <a:rPr lang="en-US" b="true" sz="2175">
                  <a:solidFill>
                    <a:srgbClr val="17365D"/>
                  </a:solidFill>
                  <a:latin typeface="Calibri (MS) Bold"/>
                  <a:ea typeface="Calibri (MS) Bold"/>
                  <a:cs typeface="Calibri (MS) Bold"/>
                  <a:sym typeface="Calibri (MS) Bold"/>
                </a:rPr>
                <a:t>Software &amp; AI Competencies</a:t>
              </a:r>
            </a:p>
            <a:p>
              <a:pPr algn="l">
                <a:lnSpc>
                  <a:spcPts val="2340"/>
                </a:lnSpc>
              </a:pPr>
              <a:r>
                <a:rPr lang="en-US" b="true" sz="1950">
                  <a:solidFill>
                    <a:srgbClr val="0F172A"/>
                  </a:solidFill>
                  <a:latin typeface="Calibri (MS) Bold"/>
                  <a:ea typeface="Calibri (MS) Bold"/>
                  <a:cs typeface="Calibri (MS) Bold"/>
                  <a:sym typeface="Calibri (MS) Bold"/>
                </a:rPr>
                <a:t>• Real SDV Exposure:</a:t>
              </a:r>
            </a:p>
            <a:p>
              <a:pPr algn="l">
                <a:lnSpc>
                  <a:spcPts val="2340"/>
                </a:lnSpc>
              </a:pPr>
              <a:r>
                <a:rPr lang="en-US" sz="1950">
                  <a:solidFill>
                    <a:srgbClr val="334155"/>
                  </a:solidFill>
                  <a:latin typeface="Calibri (MS)"/>
                  <a:ea typeface="Calibri (MS)"/>
                  <a:cs typeface="Calibri (MS)"/>
                  <a:sym typeface="Calibri (MS)"/>
                </a:rPr>
                <a:t>Use official Eclipse SDV projects (Kuksa, Velocitas, Ankaios, Kanto, Zenoh) in a modern architecture.</a:t>
              </a:r>
            </a:p>
            <a:p>
              <a:pPr algn="l">
                <a:lnSpc>
                  <a:spcPts val="2340"/>
                </a:lnSpc>
              </a:pPr>
              <a:r>
                <a:rPr lang="en-US" b="true" sz="1950">
                  <a:solidFill>
                    <a:srgbClr val="0F172A"/>
                  </a:solidFill>
                  <a:latin typeface="Calibri (MS) Bold"/>
                  <a:ea typeface="Calibri (MS) Bold"/>
                  <a:cs typeface="Calibri (MS) Bold"/>
                  <a:sym typeface="Calibri (MS) Bold"/>
                </a:rPr>
                <a:t>• End-to-End Workflows:</a:t>
              </a:r>
            </a:p>
            <a:p>
              <a:pPr algn="l">
                <a:lnSpc>
                  <a:spcPts val="2340"/>
                </a:lnSpc>
              </a:pPr>
              <a:r>
                <a:rPr lang="en-US" sz="1950">
                  <a:solidFill>
                    <a:srgbClr val="334155"/>
                  </a:solidFill>
                  <a:latin typeface="Calibri (MS)"/>
                  <a:ea typeface="Calibri (MS)"/>
                  <a:cs typeface="Calibri (MS)"/>
                  <a:sym typeface="Calibri (MS)"/>
                </a:rPr>
                <a:t>Build mobile, vehicle, cloud, diagnostics, dashboard UI and automated OTA lifecycle flows.</a:t>
              </a:r>
            </a:p>
            <a:p>
              <a:pPr algn="l">
                <a:lnSpc>
                  <a:spcPts val="2340"/>
                </a:lnSpc>
              </a:pPr>
              <a:r>
                <a:rPr lang="en-US" b="true" sz="1950">
                  <a:solidFill>
                    <a:srgbClr val="0F172A"/>
                  </a:solidFill>
                  <a:latin typeface="Calibri (MS) Bold"/>
                  <a:ea typeface="Calibri (MS) Bold"/>
                  <a:cs typeface="Calibri (MS) Bold"/>
                  <a:sym typeface="Calibri (MS) Bold"/>
                </a:rPr>
                <a:t>• AI &amp; Edge Intelligence:</a:t>
              </a:r>
            </a:p>
            <a:p>
              <a:pPr algn="l">
                <a:lnSpc>
                  <a:spcPts val="2340"/>
                </a:lnSpc>
              </a:pPr>
              <a:r>
                <a:rPr lang="en-US" sz="1950">
                  <a:solidFill>
                    <a:srgbClr val="334155"/>
                  </a:solidFill>
                  <a:latin typeface="Calibri (MS)"/>
                  <a:ea typeface="Calibri (MS)"/>
                  <a:cs typeface="Calibri (MS)"/>
                  <a:sym typeface="Calibri (MS)"/>
                </a:rPr>
                <a:t>Explore automatic AI DBC-&gt;VSS mapping and autonomous runtime software configuration.</a:t>
              </a:r>
            </a:p>
          </p:txBody>
        </p:sp>
      </p:grpSp>
      <p:grpSp>
        <p:nvGrpSpPr>
          <p:cNvPr name="Group 16" id="16"/>
          <p:cNvGrpSpPr/>
          <p:nvPr/>
        </p:nvGrpSpPr>
        <p:grpSpPr>
          <a:xfrm rot="0">
            <a:off x="9251156" y="4039076"/>
            <a:ext cx="7900988" cy="4266247"/>
            <a:chOff x="0" y="0"/>
            <a:chExt cx="10534650" cy="5688330"/>
          </a:xfrm>
        </p:grpSpPr>
        <p:sp>
          <p:nvSpPr>
            <p:cNvPr name="Freeform 17" id="17"/>
            <p:cNvSpPr/>
            <p:nvPr/>
          </p:nvSpPr>
          <p:spPr>
            <a:xfrm flipH="false" flipV="false" rot="0">
              <a:off x="0" y="0"/>
              <a:ext cx="10534650" cy="5688330"/>
            </a:xfrm>
            <a:custGeom>
              <a:avLst/>
              <a:gdLst/>
              <a:ahLst/>
              <a:cxnLst/>
              <a:rect r="r" b="b" t="t" l="l"/>
              <a:pathLst>
                <a:path h="5688330" w="10534650">
                  <a:moveTo>
                    <a:pt x="0" y="948055"/>
                  </a:moveTo>
                  <a:cubicBezTo>
                    <a:pt x="0" y="424434"/>
                    <a:pt x="424434" y="0"/>
                    <a:pt x="948055" y="0"/>
                  </a:cubicBezTo>
                  <a:lnTo>
                    <a:pt x="9586595" y="0"/>
                  </a:lnTo>
                  <a:cubicBezTo>
                    <a:pt x="10110216" y="0"/>
                    <a:pt x="10534650" y="424434"/>
                    <a:pt x="10534650" y="948055"/>
                  </a:cubicBezTo>
                  <a:lnTo>
                    <a:pt x="10534650" y="4740275"/>
                  </a:lnTo>
                  <a:cubicBezTo>
                    <a:pt x="10534650" y="5263896"/>
                    <a:pt x="10110216" y="5688330"/>
                    <a:pt x="9586595" y="5688330"/>
                  </a:cubicBezTo>
                  <a:lnTo>
                    <a:pt x="948055" y="5688330"/>
                  </a:lnTo>
                  <a:cubicBezTo>
                    <a:pt x="424434" y="5688330"/>
                    <a:pt x="0" y="5263896"/>
                    <a:pt x="0" y="4740275"/>
                  </a:cubicBezTo>
                  <a:close/>
                </a:path>
              </a:pathLst>
            </a:custGeom>
            <a:solidFill>
              <a:srgbClr val="F8FAFC"/>
            </a:solidFill>
            <a:ln w="14288" cap="sq">
              <a:solidFill>
                <a:srgbClr val="CBD5E1"/>
              </a:solidFill>
              <a:prstDash val="solid"/>
              <a:miter/>
            </a:ln>
          </p:spPr>
        </p:sp>
        <p:sp>
          <p:nvSpPr>
            <p:cNvPr name="TextBox 18" id="18"/>
            <p:cNvSpPr txBox="true"/>
            <p:nvPr/>
          </p:nvSpPr>
          <p:spPr>
            <a:xfrm>
              <a:off x="0" y="-47625"/>
              <a:ext cx="10534650" cy="5735955"/>
            </a:xfrm>
            <a:prstGeom prst="rect">
              <a:avLst/>
            </a:prstGeom>
          </p:spPr>
          <p:txBody>
            <a:bodyPr anchor="t" rtlCol="false" tIns="50800" lIns="50800" bIns="50800" rIns="50800"/>
            <a:lstStyle/>
            <a:p>
              <a:pPr algn="ctr">
                <a:lnSpc>
                  <a:spcPts val="2610"/>
                </a:lnSpc>
              </a:pPr>
              <a:r>
                <a:rPr lang="en-US" b="true" sz="2175">
                  <a:solidFill>
                    <a:srgbClr val="366092"/>
                  </a:solidFill>
                  <a:latin typeface="Calibri (MS) Bold"/>
                  <a:ea typeface="Calibri (MS) Bold"/>
                  <a:cs typeface="Calibri (MS) Bold"/>
                  <a:sym typeface="Calibri (MS) Bold"/>
                </a:rPr>
                <a:t>Hardware &amp; Research Extensibility</a:t>
              </a:r>
            </a:p>
            <a:p>
              <a:pPr algn="l">
                <a:lnSpc>
                  <a:spcPts val="2340"/>
                </a:lnSpc>
              </a:pPr>
              <a:r>
                <a:rPr lang="en-US" b="true" sz="1950">
                  <a:solidFill>
                    <a:srgbClr val="0F172A"/>
                  </a:solidFill>
                  <a:latin typeface="Calibri (MS) Bold"/>
                  <a:ea typeface="Calibri (MS) Bold"/>
                  <a:cs typeface="Calibri (MS) Bold"/>
                  <a:sym typeface="Calibri (MS) Bold"/>
                </a:rPr>
                <a:t>• Embedded Hardware:</a:t>
              </a:r>
            </a:p>
            <a:p>
              <a:pPr algn="l">
                <a:lnSpc>
                  <a:spcPts val="2340"/>
                </a:lnSpc>
              </a:pPr>
              <a:r>
                <a:rPr lang="en-US" sz="1950">
                  <a:solidFill>
                    <a:srgbClr val="334155"/>
                  </a:solidFill>
                  <a:latin typeface="Calibri (MS)"/>
                  <a:ea typeface="Calibri (MS)"/>
                  <a:cs typeface="Calibri (MS)"/>
                  <a:sym typeface="Calibri (MS)"/>
                </a:rPr>
                <a:t>Integrate Lab Skateboard DBW CAN interfaces, Jetson AGX Orin/Nano ARM64 compute, and x86 edge nodes.</a:t>
              </a:r>
            </a:p>
            <a:p>
              <a:pPr algn="l">
                <a:lnSpc>
                  <a:spcPts val="2340"/>
                </a:lnSpc>
              </a:pPr>
              <a:r>
                <a:rPr lang="en-US" b="true" sz="1950">
                  <a:solidFill>
                    <a:srgbClr val="0F172A"/>
                  </a:solidFill>
                  <a:latin typeface="Calibri (MS) Bold"/>
                  <a:ea typeface="Calibri (MS) Bold"/>
                  <a:cs typeface="Calibri (MS) Bold"/>
                  <a:sym typeface="Calibri (MS) Bold"/>
                </a:rPr>
                <a:t>• Multi-Course Value:</a:t>
              </a:r>
            </a:p>
            <a:p>
              <a:pPr algn="l">
                <a:lnSpc>
                  <a:spcPts val="2340"/>
                </a:lnSpc>
              </a:pPr>
              <a:r>
                <a:rPr lang="en-US" sz="1950">
                  <a:solidFill>
                    <a:srgbClr val="334155"/>
                  </a:solidFill>
                  <a:latin typeface="Calibri (MS)"/>
                  <a:ea typeface="Calibri (MS)"/>
                  <a:cs typeface="Calibri (MS)"/>
                  <a:sym typeface="Calibri (MS)"/>
                </a:rPr>
                <a:t>Support embedded software, Linux OS, networking, cloud orchestration, AI and vehicle testing courses.</a:t>
              </a:r>
            </a:p>
            <a:p>
              <a:pPr algn="l">
                <a:lnSpc>
                  <a:spcPts val="2340"/>
                </a:lnSpc>
              </a:pPr>
              <a:r>
                <a:rPr lang="en-US" b="true" sz="1950">
                  <a:solidFill>
                    <a:srgbClr val="0F172A"/>
                  </a:solidFill>
                  <a:latin typeface="Calibri (MS) Bold"/>
                  <a:ea typeface="Calibri (MS) Bold"/>
                  <a:cs typeface="Calibri (MS) Bold"/>
                  <a:sym typeface="Calibri (MS) Bold"/>
                </a:rPr>
                <a:t>• Extensible Research:</a:t>
              </a:r>
            </a:p>
            <a:p>
              <a:pPr algn="l">
                <a:lnSpc>
                  <a:spcPts val="2340"/>
                </a:lnSpc>
              </a:pPr>
              <a:r>
                <a:rPr lang="en-US" sz="1950">
                  <a:solidFill>
                    <a:srgbClr val="334155"/>
                  </a:solidFill>
                  <a:latin typeface="Calibri (MS)"/>
                  <a:ea typeface="Calibri (MS)"/>
                  <a:cs typeface="Calibri (MS)"/>
                  <a:sym typeface="Calibri (MS)"/>
                </a:rPr>
                <a:t>Enable future work in autonomous adaptation, digital twin frameworks, and fleet telemetry.</a:t>
              </a:r>
            </a:p>
          </p:txBody>
        </p:sp>
      </p:grpSp>
      <p:sp>
        <p:nvSpPr>
          <p:cNvPr name="TextBox 19" id="19"/>
          <p:cNvSpPr txBox="true"/>
          <p:nvPr/>
        </p:nvSpPr>
        <p:spPr>
          <a:xfrm rot="0">
            <a:off x="1051541" y="8501996"/>
            <a:ext cx="16002029" cy="916343"/>
          </a:xfrm>
          <a:prstGeom prst="rect">
            <a:avLst/>
          </a:prstGeom>
        </p:spPr>
        <p:txBody>
          <a:bodyPr anchor="t" rtlCol="false" tIns="0" lIns="0" bIns="0" rIns="0">
            <a:spAutoFit/>
          </a:bodyPr>
          <a:lstStyle/>
          <a:p>
            <a:pPr algn="l">
              <a:lnSpc>
                <a:spcPts val="2340"/>
              </a:lnSpc>
            </a:pPr>
            <a:r>
              <a:rPr lang="en-US" b="true" sz="1950">
                <a:solidFill>
                  <a:srgbClr val="0F172A"/>
                </a:solidFill>
                <a:latin typeface="Calibri (MS) Bold"/>
                <a:ea typeface="Calibri (MS) Bold"/>
                <a:cs typeface="Calibri (MS) Bold"/>
                <a:sym typeface="Calibri (MS) Bold"/>
              </a:rPr>
              <a:t>Reusable for laboratories, hackathons, research and industry demonstrations.</a:t>
            </a:r>
          </a:p>
          <a:p>
            <a:pPr algn="l">
              <a:lnSpc>
                <a:spcPts val="2340"/>
              </a:lnSpc>
            </a:pPr>
            <a:r>
              <a:rPr lang="en-US" sz="1950">
                <a:solidFill>
                  <a:srgbClr val="595959"/>
                </a:solidFill>
                <a:latin typeface="Calibri (MS)"/>
                <a:ea typeface="Calibri (MS)"/>
                <a:cs typeface="Calibri (MS)"/>
                <a:sym typeface="Calibri (MS)"/>
              </a:rPr>
              <a:t>Educational &amp; Validation Prototype: Controlled track use; no public road use or production safety claims.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Introduction to Eclipse SDV</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ECOSYSTEM</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3</a:t>
            </a:r>
          </a:p>
        </p:txBody>
      </p:sp>
      <p:sp>
        <p:nvSpPr>
          <p:cNvPr name="TextBox 9" id="9"/>
          <p:cNvSpPr txBox="true"/>
          <p:nvPr/>
        </p:nvSpPr>
        <p:spPr>
          <a:xfrm rot="0">
            <a:off x="1051541" y="1369676"/>
            <a:ext cx="16002029" cy="1739303"/>
          </a:xfrm>
          <a:prstGeom prst="rect">
            <a:avLst/>
          </a:prstGeom>
        </p:spPr>
        <p:txBody>
          <a:bodyPr anchor="t" rtlCol="false" tIns="0" lIns="0" bIns="0" rIns="0">
            <a:spAutoFit/>
          </a:bodyPr>
          <a:lstStyle/>
          <a:p>
            <a:pPr algn="l">
              <a:lnSpc>
                <a:spcPts val="2610"/>
              </a:lnSpc>
            </a:pPr>
            <a:r>
              <a:rPr lang="en-US" sz="2175">
                <a:solidFill>
                  <a:srgbClr val="0F172A"/>
                </a:solidFill>
                <a:latin typeface="Calibri (MS)"/>
                <a:ea typeface="Calibri (MS)"/>
                <a:cs typeface="Calibri (MS)"/>
                <a:sym typeface="Calibri (MS)"/>
              </a:rPr>
              <a:t>Eclipse SDV is an open automotive software ecosystem hosted by the Eclipse Foundation. The ecosystem brings together modular projects for vehicle applications, data, communications, orchestration, runtime platforms, cloud integration, diagnostics and engineering.</a:t>
            </a:r>
          </a:p>
        </p:txBody>
      </p:sp>
      <p:grpSp>
        <p:nvGrpSpPr>
          <p:cNvPr name="Group 10" id="10"/>
          <p:cNvGrpSpPr/>
          <p:nvPr/>
        </p:nvGrpSpPr>
        <p:grpSpPr>
          <a:xfrm rot="0">
            <a:off x="952976" y="3421856"/>
            <a:ext cx="7900988" cy="4952047"/>
            <a:chOff x="0" y="0"/>
            <a:chExt cx="10534650" cy="6602730"/>
          </a:xfrm>
        </p:grpSpPr>
        <p:sp>
          <p:nvSpPr>
            <p:cNvPr name="Freeform 11" id="11"/>
            <p:cNvSpPr/>
            <p:nvPr/>
          </p:nvSpPr>
          <p:spPr>
            <a:xfrm flipH="false" flipV="false" rot="0">
              <a:off x="0" y="0"/>
              <a:ext cx="10534650" cy="6602730"/>
            </a:xfrm>
            <a:custGeom>
              <a:avLst/>
              <a:gdLst/>
              <a:ahLst/>
              <a:cxnLst/>
              <a:rect r="r" b="b" t="t" l="l"/>
              <a:pathLst>
                <a:path h="6602730" w="10534650">
                  <a:moveTo>
                    <a:pt x="0" y="1100455"/>
                  </a:moveTo>
                  <a:cubicBezTo>
                    <a:pt x="0" y="492760"/>
                    <a:pt x="492760" y="0"/>
                    <a:pt x="1100455" y="0"/>
                  </a:cubicBezTo>
                  <a:lnTo>
                    <a:pt x="9434195" y="0"/>
                  </a:lnTo>
                  <a:cubicBezTo>
                    <a:pt x="10041890" y="0"/>
                    <a:pt x="10534650" y="492760"/>
                    <a:pt x="10534650" y="1100455"/>
                  </a:cubicBezTo>
                  <a:lnTo>
                    <a:pt x="10534650" y="5502275"/>
                  </a:lnTo>
                  <a:cubicBezTo>
                    <a:pt x="10534650" y="6110097"/>
                    <a:pt x="10041890" y="6602730"/>
                    <a:pt x="9434195" y="6602730"/>
                  </a:cubicBezTo>
                  <a:lnTo>
                    <a:pt x="1100455" y="6602730"/>
                  </a:lnTo>
                  <a:cubicBezTo>
                    <a:pt x="492760" y="6602730"/>
                    <a:pt x="0" y="6109970"/>
                    <a:pt x="0" y="5502275"/>
                  </a:cubicBezTo>
                  <a:close/>
                </a:path>
              </a:pathLst>
            </a:custGeom>
            <a:solidFill>
              <a:srgbClr val="F8FAFC"/>
            </a:solidFill>
            <a:ln w="14288" cap="sq">
              <a:solidFill>
                <a:srgbClr val="CBD5E1"/>
              </a:solidFill>
              <a:prstDash val="solid"/>
              <a:miter/>
            </a:ln>
          </p:spPr>
        </p:sp>
        <p:sp>
          <p:nvSpPr>
            <p:cNvPr name="TextBox 12" id="12"/>
            <p:cNvSpPr txBox="true"/>
            <p:nvPr/>
          </p:nvSpPr>
          <p:spPr>
            <a:xfrm>
              <a:off x="0" y="-47625"/>
              <a:ext cx="10534650" cy="6650355"/>
            </a:xfrm>
            <a:prstGeom prst="rect">
              <a:avLst/>
            </a:prstGeom>
          </p:spPr>
          <p:txBody>
            <a:bodyPr anchor="t" rtlCol="false" tIns="50800" lIns="50800" bIns="50800" rIns="50800"/>
            <a:lstStyle/>
            <a:p>
              <a:pPr algn="ctr">
                <a:lnSpc>
                  <a:spcPts val="2610"/>
                </a:lnSpc>
              </a:pPr>
              <a:r>
                <a:rPr lang="en-US" b="true" sz="2175">
                  <a:solidFill>
                    <a:srgbClr val="17365D"/>
                  </a:solidFill>
                  <a:latin typeface="Calibri (MS) Bold"/>
                  <a:ea typeface="Calibri (MS) Bold"/>
                  <a:cs typeface="Calibri (MS) Bold"/>
                  <a:sym typeface="Calibri (MS) Bold"/>
                </a:rPr>
                <a:t>Ecosystem Utilization Guidelines</a:t>
              </a:r>
            </a:p>
            <a:p>
              <a:pPr algn="l">
                <a:lnSpc>
                  <a:spcPts val="2340"/>
                </a:lnSpc>
              </a:pPr>
              <a:r>
                <a:rPr lang="en-US" b="true" sz="1950">
                  <a:solidFill>
                    <a:srgbClr val="0F172A"/>
                  </a:solidFill>
                  <a:latin typeface="Calibri (MS) Bold"/>
                  <a:ea typeface="Calibri (MS) Bold"/>
                  <a:cs typeface="Calibri (MS) Bold"/>
                  <a:sym typeface="Calibri (MS) Bold"/>
                </a:rPr>
                <a:t>• Modular Building Blocks:</a:t>
              </a:r>
            </a:p>
            <a:p>
              <a:pPr algn="l">
                <a:lnSpc>
                  <a:spcPts val="2340"/>
                </a:lnSpc>
              </a:pPr>
              <a:r>
                <a:rPr lang="en-US" sz="1950">
                  <a:solidFill>
                    <a:srgbClr val="334155"/>
                  </a:solidFill>
                  <a:latin typeface="Calibri (MS)"/>
                  <a:ea typeface="Calibri (MS)"/>
                  <a:cs typeface="Calibri (MS)"/>
                  <a:sym typeface="Calibri (MS)"/>
                </a:rPr>
                <a:t>Use official open-source project building blocks rather than create every layer from scratch.</a:t>
              </a:r>
            </a:p>
            <a:p>
              <a:pPr algn="l">
                <a:lnSpc>
                  <a:spcPts val="2340"/>
                </a:lnSpc>
              </a:pPr>
              <a:r>
                <a:rPr lang="en-US" b="true" sz="1950">
                  <a:solidFill>
                    <a:srgbClr val="0F172A"/>
                  </a:solidFill>
                  <a:latin typeface="Calibri (MS) Bold"/>
                  <a:ea typeface="Calibri (MS) Bold"/>
                  <a:cs typeface="Calibri (MS) Bold"/>
                  <a:sym typeface="Calibri (MS) Bold"/>
                </a:rPr>
                <a:t>• Blueprint Architecture:</a:t>
              </a:r>
            </a:p>
            <a:p>
              <a:pPr algn="l">
                <a:lnSpc>
                  <a:spcPts val="2340"/>
                </a:lnSpc>
              </a:pPr>
              <a:r>
                <a:rPr lang="en-US" sz="1950">
                  <a:solidFill>
                    <a:srgbClr val="334155"/>
                  </a:solidFill>
                  <a:latin typeface="Calibri (MS)"/>
                  <a:ea typeface="Calibri (MS)"/>
                  <a:cs typeface="Calibri (MS)"/>
                  <a:sym typeface="Calibri (MS)"/>
                </a:rPr>
                <a:t>Start from reproducible Eclipse SDV blueprint patterns for OTA, fleet management and telemetry.</a:t>
              </a:r>
            </a:p>
          </p:txBody>
        </p:sp>
      </p:grpSp>
      <p:grpSp>
        <p:nvGrpSpPr>
          <p:cNvPr name="Group 13" id="13"/>
          <p:cNvGrpSpPr/>
          <p:nvPr/>
        </p:nvGrpSpPr>
        <p:grpSpPr>
          <a:xfrm rot="0">
            <a:off x="9251156" y="3421856"/>
            <a:ext cx="7900988" cy="4952047"/>
            <a:chOff x="0" y="0"/>
            <a:chExt cx="10534650" cy="6602730"/>
          </a:xfrm>
        </p:grpSpPr>
        <p:sp>
          <p:nvSpPr>
            <p:cNvPr name="Freeform 14" id="14"/>
            <p:cNvSpPr/>
            <p:nvPr/>
          </p:nvSpPr>
          <p:spPr>
            <a:xfrm flipH="false" flipV="false" rot="0">
              <a:off x="0" y="0"/>
              <a:ext cx="10534650" cy="6602730"/>
            </a:xfrm>
            <a:custGeom>
              <a:avLst/>
              <a:gdLst/>
              <a:ahLst/>
              <a:cxnLst/>
              <a:rect r="r" b="b" t="t" l="l"/>
              <a:pathLst>
                <a:path h="6602730" w="10534650">
                  <a:moveTo>
                    <a:pt x="0" y="1100455"/>
                  </a:moveTo>
                  <a:cubicBezTo>
                    <a:pt x="0" y="492760"/>
                    <a:pt x="492760" y="0"/>
                    <a:pt x="1100455" y="0"/>
                  </a:cubicBezTo>
                  <a:lnTo>
                    <a:pt x="9434195" y="0"/>
                  </a:lnTo>
                  <a:cubicBezTo>
                    <a:pt x="10041890" y="0"/>
                    <a:pt x="10534650" y="492760"/>
                    <a:pt x="10534650" y="1100455"/>
                  </a:cubicBezTo>
                  <a:lnTo>
                    <a:pt x="10534650" y="5502275"/>
                  </a:lnTo>
                  <a:cubicBezTo>
                    <a:pt x="10534650" y="6110097"/>
                    <a:pt x="10041890" y="6602730"/>
                    <a:pt x="9434195" y="6602730"/>
                  </a:cubicBezTo>
                  <a:lnTo>
                    <a:pt x="1100455" y="6602730"/>
                  </a:lnTo>
                  <a:cubicBezTo>
                    <a:pt x="492760" y="6602730"/>
                    <a:pt x="0" y="6109970"/>
                    <a:pt x="0" y="5502275"/>
                  </a:cubicBezTo>
                  <a:close/>
                </a:path>
              </a:pathLst>
            </a:custGeom>
            <a:solidFill>
              <a:srgbClr val="F8FAFC"/>
            </a:solidFill>
            <a:ln w="14288" cap="sq">
              <a:solidFill>
                <a:srgbClr val="CBD5E1"/>
              </a:solidFill>
              <a:prstDash val="solid"/>
              <a:miter/>
            </a:ln>
          </p:spPr>
        </p:sp>
        <p:sp>
          <p:nvSpPr>
            <p:cNvPr name="TextBox 15" id="15"/>
            <p:cNvSpPr txBox="true"/>
            <p:nvPr/>
          </p:nvSpPr>
          <p:spPr>
            <a:xfrm>
              <a:off x="0" y="-47625"/>
              <a:ext cx="10534650" cy="6650355"/>
            </a:xfrm>
            <a:prstGeom prst="rect">
              <a:avLst/>
            </a:prstGeom>
          </p:spPr>
          <p:txBody>
            <a:bodyPr anchor="t" rtlCol="false" tIns="50800" lIns="50800" bIns="50800" rIns="50800"/>
            <a:lstStyle/>
            <a:p>
              <a:pPr algn="ctr">
                <a:lnSpc>
                  <a:spcPts val="2610"/>
                </a:lnSpc>
              </a:pPr>
              <a:r>
                <a:rPr lang="en-US" b="true" sz="2175">
                  <a:solidFill>
                    <a:srgbClr val="366092"/>
                  </a:solidFill>
                  <a:latin typeface="Calibri (MS) Bold"/>
                  <a:ea typeface="Calibri (MS) Bold"/>
                  <a:cs typeface="Calibri (MS) Bold"/>
                  <a:sym typeface="Calibri (MS) Bold"/>
                </a:rPr>
                <a:t>Implementation Strategy</a:t>
              </a:r>
            </a:p>
            <a:p>
              <a:pPr algn="l">
                <a:lnSpc>
                  <a:spcPts val="2340"/>
                </a:lnSpc>
              </a:pPr>
              <a:r>
                <a:rPr lang="en-US" b="true" sz="1950">
                  <a:solidFill>
                    <a:srgbClr val="0F172A"/>
                  </a:solidFill>
                  <a:latin typeface="Calibri (MS) Bold"/>
                  <a:ea typeface="Calibri (MS) Bold"/>
                  <a:cs typeface="Calibri (MS) Bold"/>
                  <a:sym typeface="Calibri (MS) Bold"/>
                </a:rPr>
                <a:t>• Targeted Coherent Stack:</a:t>
              </a:r>
            </a:p>
            <a:p>
              <a:pPr algn="l">
                <a:lnSpc>
                  <a:spcPts val="2340"/>
                </a:lnSpc>
              </a:pPr>
              <a:r>
                <a:rPr lang="en-US" sz="1950">
                  <a:solidFill>
                    <a:srgbClr val="334155"/>
                  </a:solidFill>
                  <a:latin typeface="Calibri (MS)"/>
                  <a:ea typeface="Calibri (MS)"/>
                  <a:cs typeface="Calibri (MS)"/>
                  <a:sym typeface="Calibri (MS)"/>
                </a:rPr>
                <a:t>Select a coherent subset for the SKATEBOARD APM implementation while maintaining vehicle-agnostic portability.</a:t>
              </a:r>
            </a:p>
            <a:p>
              <a:pPr algn="l">
                <a:lnSpc>
                  <a:spcPts val="2340"/>
                </a:lnSpc>
              </a:pPr>
              <a:r>
                <a:rPr lang="en-US" b="true" sz="1950">
                  <a:solidFill>
                    <a:srgbClr val="0F172A"/>
                  </a:solidFill>
                  <a:latin typeface="Calibri (MS) Bold"/>
                  <a:ea typeface="Calibri (MS) Bold"/>
                  <a:cs typeface="Calibri (MS) Bold"/>
                  <a:sym typeface="Calibri (MS) Bold"/>
                </a:rPr>
                <a:t>• Evaluation Strategy:</a:t>
              </a:r>
            </a:p>
            <a:p>
              <a:pPr algn="l">
                <a:lnSpc>
                  <a:spcPts val="2340"/>
                </a:lnSpc>
              </a:pPr>
              <a:r>
                <a:rPr lang="en-US" sz="1950">
                  <a:solidFill>
                    <a:srgbClr val="334155"/>
                  </a:solidFill>
                  <a:latin typeface="Calibri (MS)"/>
                  <a:ea typeface="Calibri (MS)"/>
                  <a:cs typeface="Calibri (MS)"/>
                  <a:sym typeface="Calibri (MS)"/>
                </a:rPr>
                <a:t>Evaluate overlapping or alternative projects separately instead of forcing every project into one runtime.</a:t>
              </a:r>
            </a:p>
          </p:txBody>
        </p:sp>
      </p:grpSp>
      <p:sp>
        <p:nvSpPr>
          <p:cNvPr name="TextBox 16" id="16"/>
          <p:cNvSpPr txBox="true"/>
          <p:nvPr/>
        </p:nvSpPr>
        <p:spPr>
          <a:xfrm rot="0">
            <a:off x="1051541" y="8639156"/>
            <a:ext cx="16002029" cy="504863"/>
          </a:xfrm>
          <a:prstGeom prst="rect">
            <a:avLst/>
          </a:prstGeom>
        </p:spPr>
        <p:txBody>
          <a:bodyPr anchor="t" rtlCol="false" tIns="0" lIns="0" bIns="0" rIns="0">
            <a:spAutoFit/>
          </a:bodyPr>
          <a:lstStyle/>
          <a:p>
            <a:pPr algn="l">
              <a:lnSpc>
                <a:spcPts val="2340"/>
              </a:lnSpc>
            </a:pPr>
            <a:r>
              <a:rPr lang="en-US" b="true" sz="1950">
                <a:solidFill>
                  <a:srgbClr val="2563EB"/>
                </a:solidFill>
                <a:latin typeface="Calibri (MS) Bold"/>
                <a:ea typeface="Calibri (MS) Bold"/>
                <a:cs typeface="Calibri (MS) Bold"/>
                <a:sym typeface="Calibri (MS) Bold"/>
              </a:rPr>
              <a:t>Official Catalogue Source: eclipsesdv.org/projects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Active Project Catalogue (Part 1/4 — Cloud &amp; Vehicle Apps)</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CATALOGUE</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4</a:t>
            </a:r>
          </a:p>
        </p:txBody>
      </p:sp>
      <p:graphicFrame>
        <p:nvGraphicFramePr>
          <p:cNvPr name="Table 9" id="9"/>
          <p:cNvGraphicFramePr>
            <a:graphicFrameLocks noGrp="true"/>
          </p:cNvGraphicFramePr>
          <p:nvPr/>
        </p:nvGraphicFramePr>
        <p:xfrm>
          <a:off x="960120" y="1577340"/>
          <a:ext cx="16173450" cy="7429500"/>
        </p:xfrm>
        <a:graphic>
          <a:graphicData uri="http://schemas.openxmlformats.org/drawingml/2006/table">
            <a:tbl>
              <a:tblPr/>
              <a:tblGrid>
                <a:gridCol w="3837774"/>
                <a:gridCol w="3426577"/>
                <a:gridCol w="8909100"/>
              </a:tblGrid>
              <a:tr h="742950">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Project Name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Category / Layer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1–2 Line Functional Description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SDV Blueprints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Cloud &amp; Fleet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Reference implementations combining SDV technologies into end-to-end vehicle architecture patterns.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SDV Dev Console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Cloud &amp; Fleet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Integrated developer console streamlining the automotive software lifecycle from dev to release.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Symphony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Cloud &amp; Fleet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End-to-end cloud orchestrator for distributing container workloads across edge nodes and vehicle fleets.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LMOS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Cloud &amp; Fleet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Language Model Operating System — AI platform for complex automotive reasoning &amp; diagnostic agents.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SDV Landscape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Cloud &amp; Fleet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Continuously maintained visual map documenting project relationships, maturity levels, and integration paths.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SDV Hephaestus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Cloud &amp; Fleet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Open tooling and contributor scaffolding lowering entry barriers for new developers joining the ecosystem.</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Velocitas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 Apps &amp;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Development framework &amp; SDK for writing containerized C++ and Python vehicle applications.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Kuksa</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 Apps &amp;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 abstraction broker connecting COVESA VSS signals to vehicle applications.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Open Vehicle API</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 Apps &amp;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Standardized API definitions exposing vehicle capabilities to applications running on high-performance compute.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Active Project Catalogue (Part 2/4 — Orchestration &amp; Runtime)</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CATALOGUE</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5</a:t>
            </a:r>
          </a:p>
        </p:txBody>
      </p:sp>
      <p:graphicFrame>
        <p:nvGraphicFramePr>
          <p:cNvPr name="Table 9" id="9"/>
          <p:cNvGraphicFramePr>
            <a:graphicFrameLocks noGrp="true"/>
          </p:cNvGraphicFramePr>
          <p:nvPr/>
        </p:nvGraphicFramePr>
        <p:xfrm>
          <a:off x="960120" y="1577340"/>
          <a:ext cx="16173450" cy="7429500"/>
        </p:xfrm>
        <a:graphic>
          <a:graphicData uri="http://schemas.openxmlformats.org/drawingml/2006/table">
            <a:tbl>
              <a:tblPr/>
              <a:tblGrid>
                <a:gridCol w="3837774"/>
                <a:gridCol w="3426577"/>
                <a:gridCol w="8909100"/>
              </a:tblGrid>
              <a:tr h="742950">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Project Name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Category / Layer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1–2 Line Functional Description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Chariott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 Apps &amp;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In-vehicle app routing broker enabling dynamic service discovery and inter-application communication.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Ibeji</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 Apps &amp;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Extensible digital twin framework modeling physical vehicle state and hardware capabilities.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uProtocol</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 Apps &amp;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Ubiquitous transport protocol unifying cloud-to-edge and inter-process (IPC) messaging.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Ankaios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Orchestration &amp; Runtime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Workload orchestrator managing microservice container lifecycles dynamically on vehicle compute nodes.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Kanto</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Orchestration &amp; Runtime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Lightweight container engine &amp; edge software stack managing containerized microservice applications.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BlueChi</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Orchestration &amp; Runtime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Lightweight multi-node service orchestrator optimized for systemd Linux nodes in vehicle networks.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Pullpiri</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Orchestration &amp; Runtime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Dynamic embedded micro-app runtime environment managing embedded micro-applications.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S-CORE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Orchestration &amp; Runtime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Standardized core runtime environment for automotive ECU execution platforms.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Leda</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Orchestration &amp; Runtime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Pre-integrated Linux distribution bundling core Eclipse SDV runtime components into a ready-to-run image.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Active Project Catalogue (Part 3/4 — Middleware &amp; Testing)</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CATALOGUE</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6</a:t>
            </a:r>
          </a:p>
        </p:txBody>
      </p:sp>
      <p:graphicFrame>
        <p:nvGraphicFramePr>
          <p:cNvPr name="Table 9" id="9"/>
          <p:cNvGraphicFramePr>
            <a:graphicFrameLocks noGrp="true"/>
          </p:cNvGraphicFramePr>
          <p:nvPr/>
        </p:nvGraphicFramePr>
        <p:xfrm>
          <a:off x="960120" y="1577340"/>
          <a:ext cx="16173450" cy="7543800"/>
        </p:xfrm>
        <a:graphic>
          <a:graphicData uri="http://schemas.openxmlformats.org/drawingml/2006/table">
            <a:tbl>
              <a:tblPr/>
              <a:tblGrid>
                <a:gridCol w="3837774"/>
                <a:gridCol w="3426577"/>
                <a:gridCol w="8909100"/>
              </a:tblGrid>
              <a:tr h="838200">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Project Name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Category / Layer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1–2 Line Functional Description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r>
              <a:tr h="838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Zenoh</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Middleware &amp; Comms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Zero-overhead pub/sub/query protocol for low-latency edge communication &amp; inter-ECU data exchange.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838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iceoryx2</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Middleware &amp; Comms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Zero-copy shared memory IPC implementation written in Rust for real-time safety-critical communication.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eCAL</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Middleware &amp; Comms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Enhanced Communication Abstraction Layer providing high-throughput IPC pub/sub communication.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838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p3com</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Middleware &amp; Comms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High-speed inter-process communication protocol for embedded automotive platforms.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Mosquitto</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Middleware &amp; Comms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Lightweight MQTT message broker used for vehicle telemetry sync and cloud messaging.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838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OpenSOVD</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Diagnostics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Implementation of ISO 17978 RESTful Service-Oriented Vehicle Diagnostics API.</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838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openDuT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Testing &amp; HIL</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Test automation framework connecting distributed Hardware-in-the-Loop (HIL) test benches.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838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OpenXilEnv</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Testing &amp; SIL</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PC simulation environment for Software-in-the-Loop (SIL) ECU application testing.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Active Project Catalogue (Part 4/4 — Data, Security &amp; Tools)</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CATALOGUE</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7</a:t>
            </a:r>
          </a:p>
        </p:txBody>
      </p:sp>
      <p:graphicFrame>
        <p:nvGraphicFramePr>
          <p:cNvPr name="Table 9" id="9"/>
          <p:cNvGraphicFramePr>
            <a:graphicFrameLocks noGrp="true"/>
          </p:cNvGraphicFramePr>
          <p:nvPr/>
        </p:nvGraphicFramePr>
        <p:xfrm>
          <a:off x="960120" y="1577340"/>
          <a:ext cx="16173450" cy="7429500"/>
        </p:xfrm>
        <a:graphic>
          <a:graphicData uri="http://schemas.openxmlformats.org/drawingml/2006/table">
            <a:tbl>
              <a:tblPr/>
              <a:tblGrid>
                <a:gridCol w="3837774"/>
                <a:gridCol w="3426577"/>
                <a:gridCol w="8909100"/>
              </a:tblGrid>
              <a:tr h="742950">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Project Name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Category / Layer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1–2 Line Functional Description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COVESA VSS v4.0</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Data &amp; Standards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Standardized taxonomy defining vehicle signals, sensors, and actuator attributes.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Data Space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Data Sharing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Federated data sharing infrastructure enforcing data sovereignty across vehicle fleets.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Security Core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Security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In-vehicle HSM key management, cryptographic services, and secure boot infrastructure.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ThreadX</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RTOS Platform</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Safety-certified deterministic real-time operating system (RTOS) for ECU microcontrollers.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Cantian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Incubating / Hypervisor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Micro-kernel hypervisor spatial isolation tooling providing separation for mixed-criticality ECUs.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Muto</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Incubating / ROS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Dynamic adaptive platform framework designed for ROS-based autonomous vehicle nodes.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AICE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Incubating / AI Code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AI Code Engine extensions providing LLM-assisted automotive C++/Rust code generation &amp; verification.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AgDrive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Incubating / DBW</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Open-source agricultural &amp; off-highway vehicle Drive-by-Wire SDK for heavy machinery automation.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7429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AutoCore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Incubating / Hardware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Embedded hardware-acceleration abstractions for automotive NPUs, GPUs, and vision processing units.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grpSp>
        <p:nvGrpSpPr>
          <p:cNvPr name="Group 4" id="4"/>
          <p:cNvGrpSpPr/>
          <p:nvPr/>
        </p:nvGrpSpPr>
        <p:grpSpPr>
          <a:xfrm rot="0">
            <a:off x="754380" y="9669780"/>
            <a:ext cx="16733520" cy="13716"/>
            <a:chOff x="0" y="0"/>
            <a:chExt cx="22311360" cy="18288"/>
          </a:xfrm>
        </p:grpSpPr>
        <p:sp>
          <p:nvSpPr>
            <p:cNvPr name="Freeform 5" id="5"/>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Freeform 6" id="6"/>
          <p:cNvSpPr/>
          <p:nvPr/>
        </p:nvSpPr>
        <p:spPr>
          <a:xfrm flipH="false" flipV="false" rot="0">
            <a:off x="3310671" y="1178835"/>
            <a:ext cx="12860493" cy="8235362"/>
          </a:xfrm>
          <a:custGeom>
            <a:avLst/>
            <a:gdLst/>
            <a:ahLst/>
            <a:cxnLst/>
            <a:rect r="r" b="b" t="t" l="l"/>
            <a:pathLst>
              <a:path h="8235362" w="12860493">
                <a:moveTo>
                  <a:pt x="0" y="0"/>
                </a:moveTo>
                <a:lnTo>
                  <a:pt x="12860493" y="0"/>
                </a:lnTo>
                <a:lnTo>
                  <a:pt x="12860493" y="8235362"/>
                </a:lnTo>
                <a:lnTo>
                  <a:pt x="0" y="8235362"/>
                </a:lnTo>
                <a:lnTo>
                  <a:pt x="0" y="0"/>
                </a:lnTo>
                <a:close/>
              </a:path>
            </a:pathLst>
          </a:custGeom>
          <a:blipFill>
            <a:blip r:embed="rId3"/>
            <a:stretch>
              <a:fillRect l="-415" t="-2269" r="0" b="-2269"/>
            </a:stretch>
          </a:blipFill>
        </p:spPr>
      </p:sp>
      <p:sp>
        <p:nvSpPr>
          <p:cNvPr name="TextBox 7" id="7"/>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Complete Eclipse SDV Project Landscape</a:t>
            </a:r>
          </a:p>
        </p:txBody>
      </p:sp>
      <p:sp>
        <p:nvSpPr>
          <p:cNvPr name="TextBox 8" id="8"/>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LANDSCAPE</a:t>
            </a:r>
          </a:p>
        </p:txBody>
      </p:sp>
      <p:sp>
        <p:nvSpPr>
          <p:cNvPr name="TextBox 9" id="9"/>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8</a:t>
            </a:r>
          </a:p>
        </p:txBody>
      </p:sp>
      <p:sp>
        <p:nvSpPr>
          <p:cNvPr name="Freeform 10" id="10"/>
          <p:cNvSpPr/>
          <p:nvPr/>
        </p:nvSpPr>
        <p:spPr>
          <a:xfrm flipH="false" flipV="false" rot="5400000">
            <a:off x="9388812" y="2987499"/>
            <a:ext cx="436971" cy="122352"/>
          </a:xfrm>
          <a:custGeom>
            <a:avLst/>
            <a:gdLst/>
            <a:ahLst/>
            <a:cxnLst/>
            <a:rect r="r" b="b" t="t" l="l"/>
            <a:pathLst>
              <a:path h="122352" w="436971">
                <a:moveTo>
                  <a:pt x="0" y="0"/>
                </a:moveTo>
                <a:lnTo>
                  <a:pt x="436971" y="0"/>
                </a:lnTo>
                <a:lnTo>
                  <a:pt x="436971" y="122351"/>
                </a:lnTo>
                <a:lnTo>
                  <a:pt x="0" y="122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5400000">
            <a:off x="9388812" y="3933808"/>
            <a:ext cx="436971" cy="122352"/>
          </a:xfrm>
          <a:custGeom>
            <a:avLst/>
            <a:gdLst/>
            <a:ahLst/>
            <a:cxnLst/>
            <a:rect r="r" b="b" t="t" l="l"/>
            <a:pathLst>
              <a:path h="122352" w="436971">
                <a:moveTo>
                  <a:pt x="0" y="0"/>
                </a:moveTo>
                <a:lnTo>
                  <a:pt x="436971" y="0"/>
                </a:lnTo>
                <a:lnTo>
                  <a:pt x="436971" y="122352"/>
                </a:lnTo>
                <a:lnTo>
                  <a:pt x="0" y="122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5400000">
            <a:off x="9388812" y="4813397"/>
            <a:ext cx="436971" cy="122352"/>
          </a:xfrm>
          <a:custGeom>
            <a:avLst/>
            <a:gdLst/>
            <a:ahLst/>
            <a:cxnLst/>
            <a:rect r="r" b="b" t="t" l="l"/>
            <a:pathLst>
              <a:path h="122352" w="436971">
                <a:moveTo>
                  <a:pt x="0" y="0"/>
                </a:moveTo>
                <a:lnTo>
                  <a:pt x="436971" y="0"/>
                </a:lnTo>
                <a:lnTo>
                  <a:pt x="436971" y="122352"/>
                </a:lnTo>
                <a:lnTo>
                  <a:pt x="0" y="122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9388812" y="5688518"/>
            <a:ext cx="436971" cy="122352"/>
          </a:xfrm>
          <a:custGeom>
            <a:avLst/>
            <a:gdLst/>
            <a:ahLst/>
            <a:cxnLst/>
            <a:rect r="r" b="b" t="t" l="l"/>
            <a:pathLst>
              <a:path h="122352" w="436971">
                <a:moveTo>
                  <a:pt x="0" y="0"/>
                </a:moveTo>
                <a:lnTo>
                  <a:pt x="436971" y="0"/>
                </a:lnTo>
                <a:lnTo>
                  <a:pt x="436971" y="122352"/>
                </a:lnTo>
                <a:lnTo>
                  <a:pt x="0" y="122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5400000">
            <a:off x="9388812" y="6639295"/>
            <a:ext cx="436971" cy="122352"/>
          </a:xfrm>
          <a:custGeom>
            <a:avLst/>
            <a:gdLst/>
            <a:ahLst/>
            <a:cxnLst/>
            <a:rect r="r" b="b" t="t" l="l"/>
            <a:pathLst>
              <a:path h="122352" w="436971">
                <a:moveTo>
                  <a:pt x="0" y="0"/>
                </a:moveTo>
                <a:lnTo>
                  <a:pt x="436971" y="0"/>
                </a:lnTo>
                <a:lnTo>
                  <a:pt x="436971" y="122352"/>
                </a:lnTo>
                <a:lnTo>
                  <a:pt x="0" y="122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5400000">
            <a:off x="9388812" y="7434046"/>
            <a:ext cx="436971" cy="122352"/>
          </a:xfrm>
          <a:custGeom>
            <a:avLst/>
            <a:gdLst/>
            <a:ahLst/>
            <a:cxnLst/>
            <a:rect r="r" b="b" t="t" l="l"/>
            <a:pathLst>
              <a:path h="122352" w="436971">
                <a:moveTo>
                  <a:pt x="0" y="0"/>
                </a:moveTo>
                <a:lnTo>
                  <a:pt x="436971" y="0"/>
                </a:lnTo>
                <a:lnTo>
                  <a:pt x="436971" y="122352"/>
                </a:lnTo>
                <a:lnTo>
                  <a:pt x="0" y="122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Use cases to be supported</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DEMONSTRATIONS</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9</a:t>
            </a:r>
          </a:p>
        </p:txBody>
      </p:sp>
      <p:sp>
        <p:nvSpPr>
          <p:cNvPr name="TextBox 9" id="9"/>
          <p:cNvSpPr txBox="true"/>
          <p:nvPr/>
        </p:nvSpPr>
        <p:spPr>
          <a:xfrm rot="0">
            <a:off x="1051541" y="1232516"/>
            <a:ext cx="16001848" cy="394745"/>
          </a:xfrm>
          <a:prstGeom prst="rect">
            <a:avLst/>
          </a:prstGeom>
        </p:spPr>
        <p:txBody>
          <a:bodyPr anchor="t" rtlCol="false" tIns="0" lIns="0" bIns="0" rIns="0">
            <a:spAutoFit/>
          </a:bodyPr>
          <a:lstStyle/>
          <a:p>
            <a:pPr algn="l">
              <a:lnSpc>
                <a:spcPts val="2340"/>
              </a:lnSpc>
            </a:pPr>
            <a:r>
              <a:rPr lang="en-US" sz="1950">
                <a:solidFill>
                  <a:srgbClr val="334155"/>
                </a:solidFill>
                <a:latin typeface="Calibri (MS)"/>
                <a:ea typeface="Calibri (MS)"/>
                <a:cs typeface="Calibri (MS)"/>
                <a:sym typeface="Calibri (MS)"/>
              </a:rPr>
              <a:t>Here is a prioritized list of use cases expected (highest priority at top):</a:t>
            </a:r>
          </a:p>
        </p:txBody>
      </p:sp>
      <p:graphicFrame>
        <p:nvGraphicFramePr>
          <p:cNvPr name="Table 10" id="10"/>
          <p:cNvGraphicFramePr>
            <a:graphicFrameLocks noGrp="true"/>
          </p:cNvGraphicFramePr>
          <p:nvPr/>
        </p:nvGraphicFramePr>
        <p:xfrm>
          <a:off x="960120" y="1714500"/>
          <a:ext cx="16173450" cy="7315200"/>
        </p:xfrm>
        <a:graphic>
          <a:graphicData uri="http://schemas.openxmlformats.org/drawingml/2006/table">
            <a:tbl>
              <a:tblPr/>
              <a:tblGrid>
                <a:gridCol w="4386011"/>
                <a:gridCol w="11787439"/>
              </a:tblGrid>
              <a:tr h="1219200">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Use case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Expected demonstration on Lab Skateboard Platform</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r>
              <a:tr h="1219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Companion lock/unlock</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Authenticated mobile command operates dedicated vehicle latch &amp; returns confirmed status.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1219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Vehicle status &amp; telemetry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Display speed, battery, steer angle, DBW mode, ECU health locally on Dashboard &amp; remotely.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219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Remote diagnostics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Read software inventory, health, faults, logs and VSS signal values using OpenSOVD REST API.</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1219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Remote OTA</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Deploy updated container workload, verify behavior change, and demonstrate automatic rollback on fail.</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2192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AI-assisted emergency braking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Detect obstacle target and command low-speed stop via standardized VSS layer (Safety DBW intact).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501" cy="492004"/>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Reduced Eclipse SDV Stack</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STACK</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10</a:t>
            </a:r>
          </a:p>
        </p:txBody>
      </p:sp>
      <p:graphicFrame>
        <p:nvGraphicFramePr>
          <p:cNvPr name="Table 9" id="9"/>
          <p:cNvGraphicFramePr>
            <a:graphicFrameLocks noGrp="true"/>
          </p:cNvGraphicFramePr>
          <p:nvPr/>
        </p:nvGraphicFramePr>
        <p:xfrm>
          <a:off x="960120" y="1577340"/>
          <a:ext cx="16154400" cy="7543800"/>
        </p:xfrm>
        <a:graphic>
          <a:graphicData uri="http://schemas.openxmlformats.org/drawingml/2006/table">
            <a:tbl>
              <a:tblPr/>
              <a:tblGrid>
                <a:gridCol w="3011828"/>
                <a:gridCol w="2190441"/>
                <a:gridCol w="6571286"/>
                <a:gridCol w="4380845"/>
              </a:tblGrid>
              <a:tr h="685800">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Project Name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Selection Status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Role in Reusable SDV Platform</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Target Use Case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r>
              <a:tr h="685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Kuksa</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CORE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 data broker exposing standardized COVESA VSS tree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 data, telemetry &amp; signal abstraction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685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Velocitas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CORE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C++/Python containerized vehicle application development SDK</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 applications &amp; business logic</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5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Ankaios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CORE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Container workload orchestrator managing microservices on node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Software deployment, container lifecycle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685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Kanto</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CORE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Lightweight container engine &amp; edge runtime manager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Always-on startup, edge container execution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5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Zenoh</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CORE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Zero-overhead pub/sub protocol for low-latency edge comms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Vehicle-to-cloud telemetry &amp; IPC messaging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685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OpenSOVD</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CORE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ISO 17978 RESTful Service-Oriented Diagnostics implementation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Remote vehicle diagnostics, faults &amp; logs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5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uProtocol</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OPTIONAL</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Ubiquitous transport protocol unifying cloud-to-edge messaging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Multi-node IPC &amp; heterogeneous messaging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685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openDuT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OPTIONAL</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Automated test bench framework connecting distributed HIL testing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Remote HIL test automation &amp; validation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5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OpenXilEnv</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OPTIONAL</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PC SIL simulation environment for ECU application testing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Software-in-the-Loop simulation testing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685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Eclipse LMOS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FUTURE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Language Model Operating System for AI diagnostic reasoning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AI-assisted diagnostic agent reasoning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grpSp>
        <p:nvGrpSpPr>
          <p:cNvPr name="Group 4" id="4"/>
          <p:cNvGrpSpPr/>
          <p:nvPr/>
        </p:nvGrpSpPr>
        <p:grpSpPr>
          <a:xfrm rot="0">
            <a:off x="754380" y="9669780"/>
            <a:ext cx="16733520" cy="13716"/>
            <a:chOff x="0" y="0"/>
            <a:chExt cx="22311360" cy="18288"/>
          </a:xfrm>
        </p:grpSpPr>
        <p:sp>
          <p:nvSpPr>
            <p:cNvPr name="Freeform 5" id="5"/>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Freeform 6" id="6"/>
          <p:cNvSpPr/>
          <p:nvPr/>
        </p:nvSpPr>
        <p:spPr>
          <a:xfrm flipH="false" flipV="false" rot="0">
            <a:off x="2810417" y="1206737"/>
            <a:ext cx="12242344" cy="8161563"/>
          </a:xfrm>
          <a:custGeom>
            <a:avLst/>
            <a:gdLst/>
            <a:ahLst/>
            <a:cxnLst/>
            <a:rect r="r" b="b" t="t" l="l"/>
            <a:pathLst>
              <a:path h="8161563" w="12242344">
                <a:moveTo>
                  <a:pt x="0" y="0"/>
                </a:moveTo>
                <a:lnTo>
                  <a:pt x="12242344" y="0"/>
                </a:lnTo>
                <a:lnTo>
                  <a:pt x="12242344" y="8161562"/>
                </a:lnTo>
                <a:lnTo>
                  <a:pt x="0" y="8161562"/>
                </a:lnTo>
                <a:lnTo>
                  <a:pt x="0" y="0"/>
                </a:lnTo>
                <a:close/>
              </a:path>
            </a:pathLst>
          </a:custGeom>
          <a:blipFill>
            <a:blip r:embed="rId3"/>
            <a:stretch>
              <a:fillRect l="0" t="0" r="0" b="0"/>
            </a:stretch>
          </a:blipFill>
        </p:spPr>
      </p:sp>
      <p:sp>
        <p:nvSpPr>
          <p:cNvPr name="TextBox 7" id="7"/>
          <p:cNvSpPr txBox="true"/>
          <p:nvPr/>
        </p:nvSpPr>
        <p:spPr>
          <a:xfrm rot="0">
            <a:off x="754380" y="115824"/>
            <a:ext cx="13990501" cy="492004"/>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Proposed Reduced Stack Architecture </a:t>
            </a:r>
          </a:p>
        </p:txBody>
      </p:sp>
      <p:sp>
        <p:nvSpPr>
          <p:cNvPr name="TextBox 8" id="8"/>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IMPLEMENTATION</a:t>
            </a:r>
          </a:p>
        </p:txBody>
      </p:sp>
      <p:sp>
        <p:nvSpPr>
          <p:cNvPr name="TextBox 9" id="9"/>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11</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Project scope definition</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SCOPE</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12</a:t>
            </a:r>
          </a:p>
        </p:txBody>
      </p:sp>
      <p:sp>
        <p:nvSpPr>
          <p:cNvPr name="TextBox 9" id="9"/>
          <p:cNvSpPr txBox="true"/>
          <p:nvPr/>
        </p:nvSpPr>
        <p:spPr>
          <a:xfrm rot="0">
            <a:off x="1051541" y="1301096"/>
            <a:ext cx="16002029" cy="436283"/>
          </a:xfrm>
          <a:prstGeom prst="rect">
            <a:avLst/>
          </a:prstGeom>
        </p:spPr>
        <p:txBody>
          <a:bodyPr anchor="t" rtlCol="false" tIns="0" lIns="0" bIns="0" rIns="0">
            <a:spAutoFit/>
          </a:bodyPr>
          <a:lstStyle/>
          <a:p>
            <a:pPr algn="l">
              <a:lnSpc>
                <a:spcPts val="3060"/>
              </a:lnSpc>
            </a:pPr>
            <a:r>
              <a:rPr lang="en-US" b="true" sz="2550">
                <a:solidFill>
                  <a:srgbClr val="17365D"/>
                </a:solidFill>
                <a:latin typeface="Calibri (MS) Bold"/>
                <a:ea typeface="Calibri (MS) Bold"/>
                <a:cs typeface="Calibri (MS) Bold"/>
                <a:sym typeface="Calibri (MS) Bold"/>
              </a:rPr>
              <a:t>Scope coverage</a:t>
            </a:r>
          </a:p>
        </p:txBody>
      </p:sp>
      <p:sp>
        <p:nvSpPr>
          <p:cNvPr name="TextBox 10" id="10"/>
          <p:cNvSpPr txBox="true"/>
          <p:nvPr/>
        </p:nvSpPr>
        <p:spPr>
          <a:xfrm rot="0">
            <a:off x="1051541" y="1849736"/>
            <a:ext cx="16002029" cy="436283"/>
          </a:xfrm>
          <a:prstGeom prst="rect">
            <a:avLst/>
          </a:prstGeom>
        </p:spPr>
        <p:txBody>
          <a:bodyPr anchor="t" rtlCol="false" tIns="0" lIns="0" bIns="0" rIns="0">
            <a:spAutoFit/>
          </a:bodyPr>
          <a:lstStyle/>
          <a:p>
            <a:pPr algn="l">
              <a:lnSpc>
                <a:spcPts val="2340"/>
              </a:lnSpc>
            </a:pPr>
            <a:r>
              <a:rPr lang="en-US" sz="1950">
                <a:solidFill>
                  <a:srgbClr val="334155"/>
                </a:solidFill>
                <a:latin typeface="Calibri (MS)"/>
                <a:ea typeface="Calibri (MS)"/>
                <a:cs typeface="Calibri (MS)"/>
                <a:sym typeface="Calibri (MS)"/>
              </a:rPr>
              <a:t>The project scope spans six coordinated areas needed to define, build, connect, onboard and validate the SDV platform.</a:t>
            </a:r>
          </a:p>
        </p:txBody>
      </p:sp>
      <p:grpSp>
        <p:nvGrpSpPr>
          <p:cNvPr name="Group 11" id="11"/>
          <p:cNvGrpSpPr/>
          <p:nvPr/>
        </p:nvGrpSpPr>
        <p:grpSpPr>
          <a:xfrm rot="0">
            <a:off x="952976" y="2530316"/>
            <a:ext cx="7900988" cy="5775008"/>
            <a:chOff x="0" y="0"/>
            <a:chExt cx="10534650" cy="7700010"/>
          </a:xfrm>
        </p:grpSpPr>
        <p:sp>
          <p:nvSpPr>
            <p:cNvPr name="Freeform 12" id="12"/>
            <p:cNvSpPr/>
            <p:nvPr/>
          </p:nvSpPr>
          <p:spPr>
            <a:xfrm flipH="false" flipV="false" rot="0">
              <a:off x="0" y="0"/>
              <a:ext cx="10534650" cy="7700011"/>
            </a:xfrm>
            <a:custGeom>
              <a:avLst/>
              <a:gdLst/>
              <a:ahLst/>
              <a:cxnLst/>
              <a:rect r="r" b="b" t="t" l="l"/>
              <a:pathLst>
                <a:path h="7700011" w="10534650">
                  <a:moveTo>
                    <a:pt x="0" y="1283335"/>
                  </a:moveTo>
                  <a:cubicBezTo>
                    <a:pt x="0" y="574548"/>
                    <a:pt x="574548" y="0"/>
                    <a:pt x="1283335" y="0"/>
                  </a:cubicBezTo>
                  <a:lnTo>
                    <a:pt x="9251315" y="0"/>
                  </a:lnTo>
                  <a:cubicBezTo>
                    <a:pt x="9960102" y="0"/>
                    <a:pt x="10534650" y="574548"/>
                    <a:pt x="10534650" y="1283335"/>
                  </a:cubicBezTo>
                  <a:lnTo>
                    <a:pt x="10534650" y="6416675"/>
                  </a:lnTo>
                  <a:cubicBezTo>
                    <a:pt x="10534650" y="7125462"/>
                    <a:pt x="9960102" y="7700011"/>
                    <a:pt x="9251315" y="7700011"/>
                  </a:cubicBezTo>
                  <a:lnTo>
                    <a:pt x="1283335" y="7700011"/>
                  </a:lnTo>
                  <a:cubicBezTo>
                    <a:pt x="574548" y="7700010"/>
                    <a:pt x="0" y="7125462"/>
                    <a:pt x="0" y="6416675"/>
                  </a:cubicBezTo>
                  <a:close/>
                </a:path>
              </a:pathLst>
            </a:custGeom>
            <a:solidFill>
              <a:srgbClr val="F8FAFC"/>
            </a:solidFill>
            <a:ln w="14288" cap="sq">
              <a:solidFill>
                <a:srgbClr val="CBD5E1"/>
              </a:solidFill>
              <a:prstDash val="solid"/>
              <a:miter/>
            </a:ln>
          </p:spPr>
        </p:sp>
        <p:sp>
          <p:nvSpPr>
            <p:cNvPr name="TextBox 13" id="13"/>
            <p:cNvSpPr txBox="true"/>
            <p:nvPr/>
          </p:nvSpPr>
          <p:spPr>
            <a:xfrm>
              <a:off x="0" y="-47625"/>
              <a:ext cx="10534650" cy="7747635"/>
            </a:xfrm>
            <a:prstGeom prst="rect">
              <a:avLst/>
            </a:prstGeom>
          </p:spPr>
          <p:txBody>
            <a:bodyPr anchor="t" rtlCol="false" tIns="50800" lIns="50800" bIns="50800" rIns="50800"/>
            <a:lstStyle/>
            <a:p>
              <a:pPr algn="ctr">
                <a:lnSpc>
                  <a:spcPts val="2610"/>
                </a:lnSpc>
              </a:pPr>
              <a:r>
                <a:rPr lang="en-US" b="true" sz="2175">
                  <a:solidFill>
                    <a:srgbClr val="17365D"/>
                  </a:solidFill>
                  <a:latin typeface="Calibri (MS) Bold"/>
                  <a:ea typeface="Calibri (MS) Bold"/>
                  <a:cs typeface="Calibri (MS) Bold"/>
                  <a:sym typeface="Calibri (MS) Bold"/>
                </a:rPr>
                <a:t>Architecture &amp; Software Scope</a:t>
              </a:r>
            </a:p>
            <a:p>
              <a:pPr algn="l">
                <a:lnSpc>
                  <a:spcPts val="2340"/>
                </a:lnSpc>
              </a:pPr>
              <a:r>
                <a:rPr lang="en-US" b="true" sz="1950">
                  <a:solidFill>
                    <a:srgbClr val="0F172A"/>
                  </a:solidFill>
                  <a:latin typeface="Calibri (MS) Bold"/>
                  <a:ea typeface="Calibri (MS) Bold"/>
                  <a:cs typeface="Calibri (MS) Bold"/>
                  <a:sym typeface="Calibri (MS) Bold"/>
                </a:rPr>
                <a:t>• System Definition:</a:t>
              </a:r>
            </a:p>
            <a:p>
              <a:pPr algn="l">
                <a:lnSpc>
                  <a:spcPts val="2340"/>
                </a:lnSpc>
              </a:pPr>
              <a:r>
                <a:rPr lang="en-US" sz="1950">
                  <a:solidFill>
                    <a:srgbClr val="334155"/>
                  </a:solidFill>
                  <a:latin typeface="Calibri (MS)"/>
                  <a:ea typeface="Calibri (MS)"/>
                  <a:cs typeface="Calibri (MS)"/>
                  <a:sym typeface="Calibri (MS)"/>
                </a:rPr>
                <a:t>Requirements, target architecture, vehicle abstraction layer, VSS signal model and acceptance criteria.</a:t>
              </a:r>
            </a:p>
            <a:p>
              <a:pPr algn="l">
                <a:lnSpc>
                  <a:spcPts val="2340"/>
                </a:lnSpc>
              </a:pPr>
              <a:r>
                <a:rPr lang="en-US" b="true" sz="1950">
                  <a:solidFill>
                    <a:srgbClr val="0F172A"/>
                  </a:solidFill>
                  <a:latin typeface="Calibri (MS) Bold"/>
                  <a:ea typeface="Calibri (MS) Bold"/>
                  <a:cs typeface="Calibri (MS) Bold"/>
                  <a:sym typeface="Calibri (MS) Bold"/>
                </a:rPr>
                <a:t>• Vehicle Software:</a:t>
              </a:r>
            </a:p>
            <a:p>
              <a:pPr algn="l">
                <a:lnSpc>
                  <a:spcPts val="2340"/>
                </a:lnSpc>
              </a:pPr>
              <a:r>
                <a:rPr lang="en-US" sz="1950">
                  <a:solidFill>
                    <a:srgbClr val="334155"/>
                  </a:solidFill>
                  <a:latin typeface="Calibri (MS)"/>
                  <a:ea typeface="Calibri (MS)"/>
                  <a:cs typeface="Calibri (MS)"/>
                  <a:sym typeface="Calibri (MS)"/>
                </a:rPr>
                <a:t>Linux platform, Kanto/Ankaios containers, Velocitas apps, Kuksa data broker, and Zenoh middleware.</a:t>
              </a:r>
            </a:p>
            <a:p>
              <a:pPr algn="l">
                <a:lnSpc>
                  <a:spcPts val="2340"/>
                </a:lnSpc>
              </a:pPr>
              <a:r>
                <a:rPr lang="en-US" b="true" sz="1950">
                  <a:solidFill>
                    <a:srgbClr val="0F172A"/>
                  </a:solidFill>
                  <a:latin typeface="Calibri (MS) Bold"/>
                  <a:ea typeface="Calibri (MS) Bold"/>
                  <a:cs typeface="Calibri (MS) Bold"/>
                  <a:sym typeface="Calibri (MS) Bold"/>
                </a:rPr>
                <a:t>• Diagnostics &amp; Testing:</a:t>
              </a:r>
            </a:p>
            <a:p>
              <a:pPr algn="l">
                <a:lnSpc>
                  <a:spcPts val="2340"/>
                </a:lnSpc>
              </a:pPr>
              <a:r>
                <a:rPr lang="en-US" sz="1950">
                  <a:solidFill>
                    <a:srgbClr val="334155"/>
                  </a:solidFill>
                  <a:latin typeface="Calibri (MS)"/>
                  <a:ea typeface="Calibri (MS)"/>
                  <a:cs typeface="Calibri (MS)"/>
                  <a:sym typeface="Calibri (MS)"/>
                </a:rPr>
                <a:t>Service-oriented OpenSOVD diagnostics, openDuT HIL test automation, and OpenXilEnv SIL simulation.</a:t>
              </a:r>
            </a:p>
          </p:txBody>
        </p:sp>
      </p:grpSp>
      <p:grpSp>
        <p:nvGrpSpPr>
          <p:cNvPr name="Group 14" id="14"/>
          <p:cNvGrpSpPr/>
          <p:nvPr/>
        </p:nvGrpSpPr>
        <p:grpSpPr>
          <a:xfrm rot="0">
            <a:off x="9251156" y="2530316"/>
            <a:ext cx="7900988" cy="5775008"/>
            <a:chOff x="0" y="0"/>
            <a:chExt cx="10534650" cy="7700010"/>
          </a:xfrm>
        </p:grpSpPr>
        <p:sp>
          <p:nvSpPr>
            <p:cNvPr name="Freeform 15" id="15"/>
            <p:cNvSpPr/>
            <p:nvPr/>
          </p:nvSpPr>
          <p:spPr>
            <a:xfrm flipH="false" flipV="false" rot="0">
              <a:off x="0" y="0"/>
              <a:ext cx="10534650" cy="7700011"/>
            </a:xfrm>
            <a:custGeom>
              <a:avLst/>
              <a:gdLst/>
              <a:ahLst/>
              <a:cxnLst/>
              <a:rect r="r" b="b" t="t" l="l"/>
              <a:pathLst>
                <a:path h="7700011" w="10534650">
                  <a:moveTo>
                    <a:pt x="0" y="1283335"/>
                  </a:moveTo>
                  <a:cubicBezTo>
                    <a:pt x="0" y="574548"/>
                    <a:pt x="574548" y="0"/>
                    <a:pt x="1283335" y="0"/>
                  </a:cubicBezTo>
                  <a:lnTo>
                    <a:pt x="9251315" y="0"/>
                  </a:lnTo>
                  <a:cubicBezTo>
                    <a:pt x="9960102" y="0"/>
                    <a:pt x="10534650" y="574548"/>
                    <a:pt x="10534650" y="1283335"/>
                  </a:cubicBezTo>
                  <a:lnTo>
                    <a:pt x="10534650" y="6416675"/>
                  </a:lnTo>
                  <a:cubicBezTo>
                    <a:pt x="10534650" y="7125462"/>
                    <a:pt x="9960102" y="7700011"/>
                    <a:pt x="9251315" y="7700011"/>
                  </a:cubicBezTo>
                  <a:lnTo>
                    <a:pt x="1283335" y="7700011"/>
                  </a:lnTo>
                  <a:cubicBezTo>
                    <a:pt x="574548" y="7700010"/>
                    <a:pt x="0" y="7125462"/>
                    <a:pt x="0" y="6416675"/>
                  </a:cubicBezTo>
                  <a:close/>
                </a:path>
              </a:pathLst>
            </a:custGeom>
            <a:solidFill>
              <a:srgbClr val="F8FAFC"/>
            </a:solidFill>
            <a:ln w="14288" cap="sq">
              <a:solidFill>
                <a:srgbClr val="CBD5E1"/>
              </a:solidFill>
              <a:prstDash val="solid"/>
              <a:miter/>
            </a:ln>
          </p:spPr>
        </p:sp>
        <p:sp>
          <p:nvSpPr>
            <p:cNvPr name="TextBox 16" id="16"/>
            <p:cNvSpPr txBox="true"/>
            <p:nvPr/>
          </p:nvSpPr>
          <p:spPr>
            <a:xfrm>
              <a:off x="0" y="-47625"/>
              <a:ext cx="10534650" cy="7747635"/>
            </a:xfrm>
            <a:prstGeom prst="rect">
              <a:avLst/>
            </a:prstGeom>
          </p:spPr>
          <p:txBody>
            <a:bodyPr anchor="t" rtlCol="false" tIns="50800" lIns="50800" bIns="50800" rIns="50800"/>
            <a:lstStyle/>
            <a:p>
              <a:pPr algn="ctr">
                <a:lnSpc>
                  <a:spcPts val="2610"/>
                </a:lnSpc>
              </a:pPr>
              <a:r>
                <a:rPr lang="en-US" b="true" sz="2175">
                  <a:solidFill>
                    <a:srgbClr val="366092"/>
                  </a:solidFill>
                  <a:latin typeface="Calibri (MS) Bold"/>
                  <a:ea typeface="Calibri (MS) Bold"/>
                  <a:cs typeface="Calibri (MS) Bold"/>
                  <a:sym typeface="Calibri (MS) Bold"/>
                </a:rPr>
                <a:t>Hardware, Platform &amp; Research Scope</a:t>
              </a:r>
            </a:p>
            <a:p>
              <a:pPr algn="l">
                <a:lnSpc>
                  <a:spcPts val="2340"/>
                </a:lnSpc>
              </a:pPr>
              <a:r>
                <a:rPr lang="en-US" b="true" sz="1950">
                  <a:solidFill>
                    <a:srgbClr val="0F172A"/>
                  </a:solidFill>
                  <a:latin typeface="Calibri (MS) Bold"/>
                  <a:ea typeface="Calibri (MS) Bold"/>
                  <a:cs typeface="Calibri (MS) Bold"/>
                  <a:sym typeface="Calibri (MS) Bold"/>
                </a:rPr>
                <a:t>• Hardware &amp; Vehicle:</a:t>
              </a:r>
            </a:p>
            <a:p>
              <a:pPr algn="l">
                <a:lnSpc>
                  <a:spcPts val="2340"/>
                </a:lnSpc>
              </a:pPr>
              <a:r>
                <a:rPr lang="en-US" sz="1950">
                  <a:solidFill>
                    <a:srgbClr val="334155"/>
                  </a:solidFill>
                  <a:latin typeface="Calibri (MS)"/>
                  <a:ea typeface="Calibri (MS)"/>
                  <a:cs typeface="Calibri (MS)"/>
                  <a:sym typeface="Calibri (MS)"/>
                </a:rPr>
                <a:t>Lab Skateboard DBW vehicle, CAN 2.0B interface, Jetson AGX Orin/Nano ARM64 &amp; x86 compute platforms.</a:t>
              </a:r>
            </a:p>
            <a:p>
              <a:pPr algn="l">
                <a:lnSpc>
                  <a:spcPts val="2340"/>
                </a:lnSpc>
              </a:pPr>
              <a:r>
                <a:rPr lang="en-US" b="true" sz="1950">
                  <a:solidFill>
                    <a:srgbClr val="0F172A"/>
                  </a:solidFill>
                  <a:latin typeface="Calibri (MS) Bold"/>
                  <a:ea typeface="Calibri (MS) Bold"/>
                  <a:cs typeface="Calibri (MS) Bold"/>
                  <a:sym typeface="Calibri (MS) Bold"/>
                </a:rPr>
                <a:t>• Cloud &amp; Companion:</a:t>
              </a:r>
            </a:p>
            <a:p>
              <a:pPr algn="l">
                <a:lnSpc>
                  <a:spcPts val="2340"/>
                </a:lnSpc>
              </a:pPr>
              <a:r>
                <a:rPr lang="en-US" sz="1950">
                  <a:solidFill>
                    <a:srgbClr val="334155"/>
                  </a:solidFill>
                  <a:latin typeface="Calibri (MS)"/>
                  <a:ea typeface="Calibri (MS)"/>
                  <a:cs typeface="Calibri (MS)"/>
                  <a:sym typeface="Calibri (MS)"/>
                </a:rPr>
                <a:t>Vehicle SDV Dashboard UI, backend APIs, telemetry sync, remote diagnostics, and OTA campaign services.</a:t>
              </a:r>
            </a:p>
            <a:p>
              <a:pPr algn="l">
                <a:lnSpc>
                  <a:spcPts val="2340"/>
                </a:lnSpc>
              </a:pPr>
              <a:r>
                <a:rPr lang="en-US" b="true" sz="1950">
                  <a:solidFill>
                    <a:srgbClr val="0F172A"/>
                  </a:solidFill>
                  <a:latin typeface="Calibri (MS) Bold"/>
                  <a:ea typeface="Calibri (MS) Bold"/>
                  <a:cs typeface="Calibri (MS) Bold"/>
                  <a:sym typeface="Calibri (MS) Bold"/>
                </a:rPr>
                <a:t>• SDV SYSTEM CONTROL:</a:t>
              </a:r>
            </a:p>
            <a:p>
              <a:pPr algn="l">
                <a:lnSpc>
                  <a:spcPts val="2340"/>
                </a:lnSpc>
              </a:pPr>
              <a:r>
                <a:rPr lang="en-US" sz="1950">
                  <a:solidFill>
                    <a:srgbClr val="334155"/>
                  </a:solidFill>
                  <a:latin typeface="Calibri (MS)"/>
                  <a:ea typeface="Calibri (MS)"/>
                  <a:cs typeface="Calibri (MS)"/>
                  <a:sym typeface="Calibri (MS)"/>
                </a:rPr>
                <a:t>Vehicle Profile specification, DBC-to-VSS signal mapping overlay &amp; container deployment pipelines.</a:t>
              </a:r>
            </a:p>
          </p:txBody>
        </p:sp>
      </p:grpSp>
      <p:sp>
        <p:nvSpPr>
          <p:cNvPr name="TextBox 17" id="17"/>
          <p:cNvSpPr txBox="true"/>
          <p:nvPr/>
        </p:nvSpPr>
        <p:spPr>
          <a:xfrm rot="0">
            <a:off x="1051541" y="8570576"/>
            <a:ext cx="16002029" cy="779183"/>
          </a:xfrm>
          <a:prstGeom prst="rect">
            <a:avLst/>
          </a:prstGeom>
        </p:spPr>
        <p:txBody>
          <a:bodyPr anchor="t" rtlCol="false" tIns="0" lIns="0" bIns="0" rIns="0">
            <a:spAutoFit/>
          </a:bodyPr>
          <a:lstStyle/>
          <a:p>
            <a:pPr algn="l">
              <a:lnSpc>
                <a:spcPts val="2340"/>
              </a:lnSpc>
            </a:pPr>
            <a:r>
              <a:rPr lang="en-US" b="true" sz="1950">
                <a:solidFill>
                  <a:srgbClr val="0F172A"/>
                </a:solidFill>
                <a:latin typeface="Calibri (MS) Bold"/>
                <a:ea typeface="Calibri (MS) Bold"/>
                <a:cs typeface="Calibri (MS) Bold"/>
                <a:sym typeface="Calibri (MS) Bold"/>
              </a:rPr>
              <a:t>A bounded, vehicle-agnostic scope keeps the platform reusable across labs, research tracks, and industry demonstrations.</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Current Vehicle — Lab Skateboard Platform</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HARDWARE</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13</a:t>
            </a:r>
          </a:p>
        </p:txBody>
      </p:sp>
      <p:grpSp>
        <p:nvGrpSpPr>
          <p:cNvPr name="Group 9" id="9"/>
          <p:cNvGrpSpPr/>
          <p:nvPr/>
        </p:nvGrpSpPr>
        <p:grpSpPr>
          <a:xfrm rot="0">
            <a:off x="952976" y="1364456"/>
            <a:ext cx="7900988" cy="6735128"/>
            <a:chOff x="0" y="0"/>
            <a:chExt cx="10534650" cy="8980170"/>
          </a:xfrm>
        </p:grpSpPr>
        <p:sp>
          <p:nvSpPr>
            <p:cNvPr name="Freeform 10" id="10"/>
            <p:cNvSpPr/>
            <p:nvPr/>
          </p:nvSpPr>
          <p:spPr>
            <a:xfrm flipH="false" flipV="false" rot="0">
              <a:off x="0" y="0"/>
              <a:ext cx="10534650" cy="8980170"/>
            </a:xfrm>
            <a:custGeom>
              <a:avLst/>
              <a:gdLst/>
              <a:ahLst/>
              <a:cxnLst/>
              <a:rect r="r" b="b" t="t" l="l"/>
              <a:pathLst>
                <a:path h="8980170" w="10534650">
                  <a:moveTo>
                    <a:pt x="0" y="1496695"/>
                  </a:moveTo>
                  <a:cubicBezTo>
                    <a:pt x="0" y="670052"/>
                    <a:pt x="670052" y="0"/>
                    <a:pt x="1496695" y="0"/>
                  </a:cubicBezTo>
                  <a:lnTo>
                    <a:pt x="9037955" y="0"/>
                  </a:lnTo>
                  <a:cubicBezTo>
                    <a:pt x="9864598" y="0"/>
                    <a:pt x="10534650" y="670052"/>
                    <a:pt x="10534650" y="1496695"/>
                  </a:cubicBezTo>
                  <a:lnTo>
                    <a:pt x="10534650" y="7483475"/>
                  </a:lnTo>
                  <a:cubicBezTo>
                    <a:pt x="10534650" y="8310118"/>
                    <a:pt x="9864598" y="8980170"/>
                    <a:pt x="9037955" y="8980170"/>
                  </a:cubicBezTo>
                  <a:lnTo>
                    <a:pt x="1496695" y="8980170"/>
                  </a:lnTo>
                  <a:cubicBezTo>
                    <a:pt x="670052" y="8980170"/>
                    <a:pt x="0" y="8310118"/>
                    <a:pt x="0" y="7483475"/>
                  </a:cubicBezTo>
                  <a:close/>
                </a:path>
              </a:pathLst>
            </a:custGeom>
            <a:solidFill>
              <a:srgbClr val="F8FAFC"/>
            </a:solidFill>
            <a:ln w="14288" cap="sq">
              <a:solidFill>
                <a:srgbClr val="CBD5E1"/>
              </a:solidFill>
              <a:prstDash val="solid"/>
              <a:miter/>
            </a:ln>
          </p:spPr>
        </p:sp>
        <p:sp>
          <p:nvSpPr>
            <p:cNvPr name="TextBox 11" id="11"/>
            <p:cNvSpPr txBox="true"/>
            <p:nvPr/>
          </p:nvSpPr>
          <p:spPr>
            <a:xfrm>
              <a:off x="0" y="-47625"/>
              <a:ext cx="10534650" cy="9027795"/>
            </a:xfrm>
            <a:prstGeom prst="rect">
              <a:avLst/>
            </a:prstGeom>
          </p:spPr>
          <p:txBody>
            <a:bodyPr anchor="t" rtlCol="false" tIns="50800" lIns="50800" bIns="50800" rIns="50800"/>
            <a:lstStyle/>
            <a:p>
              <a:pPr algn="ctr">
                <a:lnSpc>
                  <a:spcPts val="2610"/>
                </a:lnSpc>
              </a:pPr>
              <a:r>
                <a:rPr lang="en-US" b="true" sz="2175">
                  <a:solidFill>
                    <a:srgbClr val="17365D"/>
                  </a:solidFill>
                  <a:latin typeface="Calibri (MS) Bold"/>
                  <a:ea typeface="Calibri (MS) Bold"/>
                  <a:cs typeface="Calibri (MS) Bold"/>
                  <a:sym typeface="Calibri (MS) Bold"/>
                </a:rPr>
                <a:t>SKATEBOARD APM CAN / DBW Architecture</a:t>
              </a:r>
            </a:p>
            <a:p>
              <a:pPr algn="l">
                <a:lnSpc>
                  <a:spcPts val="2340"/>
                </a:lnSpc>
              </a:pPr>
              <a:r>
                <a:rPr lang="en-US" b="true" sz="1950">
                  <a:solidFill>
                    <a:srgbClr val="0F172A"/>
                  </a:solidFill>
                  <a:latin typeface="Calibri (MS) Bold"/>
                  <a:ea typeface="Calibri (MS) Bold"/>
                  <a:cs typeface="Calibri (MS) Bold"/>
                  <a:sym typeface="Calibri (MS) Bold"/>
                </a:rPr>
                <a:t>• Vehicle Platform:</a:t>
              </a:r>
            </a:p>
            <a:p>
              <a:pPr algn="l">
                <a:lnSpc>
                  <a:spcPts val="2340"/>
                </a:lnSpc>
              </a:pPr>
              <a:r>
                <a:rPr lang="en-US" sz="1950">
                  <a:solidFill>
                    <a:srgbClr val="334155"/>
                  </a:solidFill>
                  <a:latin typeface="Calibri (MS)"/>
                  <a:ea typeface="Calibri (MS)"/>
                  <a:cs typeface="Calibri (MS)"/>
                  <a:sym typeface="Calibri (MS)"/>
                </a:rPr>
                <a:t>SKATEBOARD APM Drive-by-Wire vehicle (Physical validation platform).</a:t>
              </a:r>
            </a:p>
            <a:p>
              <a:pPr algn="l">
                <a:lnSpc>
                  <a:spcPts val="2340"/>
                </a:lnSpc>
              </a:pPr>
              <a:r>
                <a:rPr lang="en-US" b="true" sz="1950">
                  <a:solidFill>
                    <a:srgbClr val="0F172A"/>
                  </a:solidFill>
                  <a:latin typeface="Calibri (MS) Bold"/>
                  <a:ea typeface="Calibri (MS) Bold"/>
                  <a:cs typeface="Calibri (MS) Bold"/>
                  <a:sym typeface="Calibri (MS) Bold"/>
                </a:rPr>
                <a:t>• Physical Interface:</a:t>
              </a:r>
            </a:p>
            <a:p>
              <a:pPr algn="l">
                <a:lnSpc>
                  <a:spcPts val="2340"/>
                </a:lnSpc>
              </a:pPr>
              <a:r>
                <a:rPr lang="en-US" sz="1950">
                  <a:solidFill>
                    <a:srgbClr val="334155"/>
                  </a:solidFill>
                  <a:latin typeface="Calibri (MS)"/>
                  <a:ea typeface="Calibri (MS)"/>
                  <a:cs typeface="Calibri (MS)"/>
                  <a:sym typeface="Calibri (MS)"/>
                </a:rPr>
                <a:t>CAN 2.0B Bus interface operating at 500 kbps / 1 Mbps.</a:t>
              </a:r>
            </a:p>
            <a:p>
              <a:pPr algn="l">
                <a:lnSpc>
                  <a:spcPts val="2340"/>
                </a:lnSpc>
              </a:pPr>
              <a:r>
                <a:rPr lang="en-US" b="true" sz="1950">
                  <a:solidFill>
                    <a:srgbClr val="0F172A"/>
                  </a:solidFill>
                  <a:latin typeface="Calibri (MS) Bold"/>
                  <a:ea typeface="Calibri (MS) Bold"/>
                  <a:cs typeface="Calibri (MS) Bold"/>
                  <a:sym typeface="Calibri (MS) Bold"/>
                </a:rPr>
                <a:t>• General Request (CAN):</a:t>
              </a:r>
            </a:p>
            <a:p>
              <a:pPr algn="l">
                <a:lnSpc>
                  <a:spcPts val="2340"/>
                </a:lnSpc>
              </a:pPr>
              <a:r>
                <a:rPr lang="en-US" sz="1950">
                  <a:solidFill>
                    <a:srgbClr val="334155"/>
                  </a:solidFill>
                  <a:latin typeface="Calibri (MS)"/>
                  <a:ea typeface="Calibri (MS)"/>
                  <a:cs typeface="Calibri (MS)"/>
                  <a:sym typeface="Calibri (MS)"/>
                </a:rPr>
                <a:t>PGN / CAN ID: 0x1228 / 0797 (Command targets &amp; control requests).</a:t>
              </a:r>
            </a:p>
            <a:p>
              <a:pPr algn="l">
                <a:lnSpc>
                  <a:spcPts val="2340"/>
                </a:lnSpc>
              </a:pPr>
              <a:r>
                <a:rPr lang="en-US" b="true" sz="1950">
                  <a:solidFill>
                    <a:srgbClr val="0F172A"/>
                  </a:solidFill>
                  <a:latin typeface="Calibri (MS) Bold"/>
                  <a:ea typeface="Calibri (MS) Bold"/>
                  <a:cs typeface="Calibri (MS) Bold"/>
                  <a:sym typeface="Calibri (MS) Bold"/>
                </a:rPr>
                <a:t>• General Status (CAN):</a:t>
              </a:r>
            </a:p>
            <a:p>
              <a:pPr algn="l">
                <a:lnSpc>
                  <a:spcPts val="2340"/>
                </a:lnSpc>
              </a:pPr>
              <a:r>
                <a:rPr lang="en-US" sz="1950">
                  <a:solidFill>
                    <a:srgbClr val="334155"/>
                  </a:solidFill>
                  <a:latin typeface="Calibri (MS)"/>
                  <a:ea typeface="Calibri (MS)"/>
                  <a:cs typeface="Calibri (MS)"/>
                  <a:sym typeface="Calibri (MS)"/>
                </a:rPr>
                <a:t>PGN / CAN ID: 0x1291 / 0109 (Vehicle status &amp; telemetry feedback).</a:t>
              </a:r>
            </a:p>
          </p:txBody>
        </p:sp>
      </p:grpSp>
      <p:grpSp>
        <p:nvGrpSpPr>
          <p:cNvPr name="Group 12" id="12"/>
          <p:cNvGrpSpPr/>
          <p:nvPr/>
        </p:nvGrpSpPr>
        <p:grpSpPr>
          <a:xfrm rot="0">
            <a:off x="9251156" y="1364456"/>
            <a:ext cx="7900988" cy="6735128"/>
            <a:chOff x="0" y="0"/>
            <a:chExt cx="10534650" cy="8980170"/>
          </a:xfrm>
        </p:grpSpPr>
        <p:sp>
          <p:nvSpPr>
            <p:cNvPr name="Freeform 13" id="13"/>
            <p:cNvSpPr/>
            <p:nvPr/>
          </p:nvSpPr>
          <p:spPr>
            <a:xfrm flipH="false" flipV="false" rot="0">
              <a:off x="0" y="0"/>
              <a:ext cx="10534650" cy="8980170"/>
            </a:xfrm>
            <a:custGeom>
              <a:avLst/>
              <a:gdLst/>
              <a:ahLst/>
              <a:cxnLst/>
              <a:rect r="r" b="b" t="t" l="l"/>
              <a:pathLst>
                <a:path h="8980170" w="10534650">
                  <a:moveTo>
                    <a:pt x="0" y="1496695"/>
                  </a:moveTo>
                  <a:cubicBezTo>
                    <a:pt x="0" y="670052"/>
                    <a:pt x="670052" y="0"/>
                    <a:pt x="1496695" y="0"/>
                  </a:cubicBezTo>
                  <a:lnTo>
                    <a:pt x="9037955" y="0"/>
                  </a:lnTo>
                  <a:cubicBezTo>
                    <a:pt x="9864598" y="0"/>
                    <a:pt x="10534650" y="670052"/>
                    <a:pt x="10534650" y="1496695"/>
                  </a:cubicBezTo>
                  <a:lnTo>
                    <a:pt x="10534650" y="7483475"/>
                  </a:lnTo>
                  <a:cubicBezTo>
                    <a:pt x="10534650" y="8310118"/>
                    <a:pt x="9864598" y="8980170"/>
                    <a:pt x="9037955" y="8980170"/>
                  </a:cubicBezTo>
                  <a:lnTo>
                    <a:pt x="1496695" y="8980170"/>
                  </a:lnTo>
                  <a:cubicBezTo>
                    <a:pt x="670052" y="8980170"/>
                    <a:pt x="0" y="8310118"/>
                    <a:pt x="0" y="7483475"/>
                  </a:cubicBezTo>
                  <a:close/>
                </a:path>
              </a:pathLst>
            </a:custGeom>
            <a:solidFill>
              <a:srgbClr val="F8FAFC"/>
            </a:solidFill>
            <a:ln w="14288" cap="sq">
              <a:solidFill>
                <a:srgbClr val="CBD5E1"/>
              </a:solidFill>
              <a:prstDash val="solid"/>
              <a:miter/>
            </a:ln>
          </p:spPr>
        </p:sp>
        <p:sp>
          <p:nvSpPr>
            <p:cNvPr name="TextBox 14" id="14"/>
            <p:cNvSpPr txBox="true"/>
            <p:nvPr/>
          </p:nvSpPr>
          <p:spPr>
            <a:xfrm>
              <a:off x="0" y="-47625"/>
              <a:ext cx="10534650" cy="9027795"/>
            </a:xfrm>
            <a:prstGeom prst="rect">
              <a:avLst/>
            </a:prstGeom>
          </p:spPr>
          <p:txBody>
            <a:bodyPr anchor="t" rtlCol="false" tIns="50800" lIns="50800" bIns="50800" rIns="50800"/>
            <a:lstStyle/>
            <a:p>
              <a:pPr algn="ctr">
                <a:lnSpc>
                  <a:spcPts val="2610"/>
                </a:lnSpc>
              </a:pPr>
              <a:r>
                <a:rPr lang="en-US" b="true" sz="2175">
                  <a:solidFill>
                    <a:srgbClr val="D97706"/>
                  </a:solidFill>
                  <a:latin typeface="Calibri (MS) Bold"/>
                  <a:ea typeface="Calibri (MS) Bold"/>
                  <a:cs typeface="Calibri (MS) Bold"/>
                  <a:sym typeface="Calibri (MS) Bold"/>
                </a:rPr>
                <a:t>Documented CAN Signals &amp; Safety</a:t>
              </a:r>
            </a:p>
            <a:p>
              <a:pPr algn="l">
                <a:lnSpc>
                  <a:spcPts val="2340"/>
                </a:lnSpc>
              </a:pPr>
              <a:r>
                <a:rPr lang="en-US" b="true" sz="1950">
                  <a:solidFill>
                    <a:srgbClr val="0F172A"/>
                  </a:solidFill>
                  <a:latin typeface="Calibri (MS) Bold"/>
                  <a:ea typeface="Calibri (MS) Bold"/>
                  <a:cs typeface="Calibri (MS) Bold"/>
                  <a:sym typeface="Calibri (MS) Bold"/>
                </a:rPr>
                <a:t>• Steering Control:</a:t>
              </a:r>
            </a:p>
            <a:p>
              <a:pPr algn="l">
                <a:lnSpc>
                  <a:spcPts val="2340"/>
                </a:lnSpc>
              </a:pPr>
              <a:r>
                <a:rPr lang="en-US" sz="1950">
                  <a:solidFill>
                    <a:srgbClr val="334155"/>
                  </a:solidFill>
                  <a:latin typeface="Calibri (MS)"/>
                  <a:ea typeface="Calibri (MS)"/>
                  <a:cs typeface="Calibri (MS)"/>
                  <a:sym typeface="Calibri (MS)"/>
                </a:rPr>
                <a:t>Steer_Cmd (+-540 deg target angle) + Steering Angle Feedback.</a:t>
              </a:r>
            </a:p>
            <a:p>
              <a:pPr algn="l">
                <a:lnSpc>
                  <a:spcPts val="2340"/>
                </a:lnSpc>
              </a:pPr>
              <a:r>
                <a:rPr lang="en-US" b="true" sz="1950">
                  <a:solidFill>
                    <a:srgbClr val="0F172A"/>
                  </a:solidFill>
                  <a:latin typeface="Calibri (MS) Bold"/>
                  <a:ea typeface="Calibri (MS) Bold"/>
                  <a:cs typeface="Calibri (MS) Bold"/>
                  <a:sym typeface="Calibri (MS) Bold"/>
                </a:rPr>
                <a:t>• Throttle &amp; Brake:</a:t>
              </a:r>
            </a:p>
            <a:p>
              <a:pPr algn="l">
                <a:lnSpc>
                  <a:spcPts val="2340"/>
                </a:lnSpc>
              </a:pPr>
              <a:r>
                <a:rPr lang="en-US" sz="1950">
                  <a:solidFill>
                    <a:srgbClr val="334155"/>
                  </a:solidFill>
                  <a:latin typeface="Calibri (MS)"/>
                  <a:ea typeface="Calibri (MS)"/>
                  <a:cs typeface="Calibri (MS)"/>
                  <a:sym typeface="Calibri (MS)"/>
                </a:rPr>
                <a:t>Throttle_Cmd (0-100% target) &amp; Vehicle Brake status feedback.</a:t>
              </a:r>
            </a:p>
            <a:p>
              <a:pPr algn="l">
                <a:lnSpc>
                  <a:spcPts val="2340"/>
                </a:lnSpc>
              </a:pPr>
              <a:r>
                <a:rPr lang="en-US" b="true" sz="1950">
                  <a:solidFill>
                    <a:srgbClr val="0F172A"/>
                  </a:solidFill>
                  <a:latin typeface="Calibri (MS) Bold"/>
                  <a:ea typeface="Calibri (MS) Bold"/>
                  <a:cs typeface="Calibri (MS) Bold"/>
                  <a:sym typeface="Calibri (MS) Bold"/>
                </a:rPr>
                <a:t>• Vehicle Operational Modes:</a:t>
              </a:r>
            </a:p>
            <a:p>
              <a:pPr algn="l">
                <a:lnSpc>
                  <a:spcPts val="2340"/>
                </a:lnSpc>
              </a:pPr>
              <a:r>
                <a:rPr lang="en-US" sz="1950">
                  <a:solidFill>
                    <a:srgbClr val="334155"/>
                  </a:solidFill>
                  <a:latin typeface="Calibri (MS)"/>
                  <a:ea typeface="Calibri (MS)"/>
                  <a:cs typeface="Calibri (MS)"/>
                  <a:sym typeface="Calibri (MS)"/>
                </a:rPr>
                <a:t>Drive Mode, Speed Mode, DBW Mode, Turtle Mode, CCU Enable.</a:t>
              </a:r>
            </a:p>
            <a:p>
              <a:pPr algn="l">
                <a:lnSpc>
                  <a:spcPts val="2340"/>
                </a:lnSpc>
              </a:pPr>
              <a:r>
                <a:rPr lang="en-US" b="true" sz="1950">
                  <a:solidFill>
                    <a:srgbClr val="0F172A"/>
                  </a:solidFill>
                  <a:latin typeface="Calibri (MS) Bold"/>
                  <a:ea typeface="Calibri (MS) Bold"/>
                  <a:cs typeface="Calibri (MS) Bold"/>
                  <a:sym typeface="Calibri (MS) Bold"/>
                </a:rPr>
                <a:t>• Safety &amp; Interlocks:</a:t>
              </a:r>
            </a:p>
            <a:p>
              <a:pPr algn="l">
                <a:lnSpc>
                  <a:spcPts val="2340"/>
                </a:lnSpc>
              </a:pPr>
              <a:r>
                <a:rPr lang="en-US" sz="1950">
                  <a:solidFill>
                    <a:srgbClr val="334155"/>
                  </a:solidFill>
                  <a:latin typeface="Calibri (MS)"/>
                  <a:ea typeface="Calibri (MS)"/>
                  <a:cs typeface="Calibri (MS)"/>
                  <a:sym typeface="Calibri (MS)"/>
                </a:rPr>
                <a:t>Emergency Switch Status, LLC Stop, Vehicle Interlock, Charging Connector Status.</a:t>
              </a:r>
            </a:p>
          </p:txBody>
        </p:sp>
      </p:grpSp>
      <p:sp>
        <p:nvSpPr>
          <p:cNvPr name="TextBox 15" id="15"/>
          <p:cNvSpPr txBox="true"/>
          <p:nvPr/>
        </p:nvSpPr>
        <p:spPr>
          <a:xfrm rot="0">
            <a:off x="1051541" y="8296256"/>
            <a:ext cx="16001848" cy="560127"/>
          </a:xfrm>
          <a:prstGeom prst="rect">
            <a:avLst/>
          </a:prstGeom>
        </p:spPr>
        <p:txBody>
          <a:bodyPr anchor="t" rtlCol="false" tIns="0" lIns="0" bIns="0" rIns="0">
            <a:spAutoFit/>
          </a:bodyPr>
          <a:lstStyle/>
          <a:p>
            <a:pPr algn="l">
              <a:lnSpc>
                <a:spcPts val="2340"/>
              </a:lnSpc>
            </a:pPr>
            <a:r>
              <a:rPr lang="en-US" b="true" sz="1950">
                <a:solidFill>
                  <a:srgbClr val="E11D48"/>
                </a:solidFill>
                <a:latin typeface="Calibri (MS) Bold"/>
                <a:ea typeface="Calibri (MS) Bold"/>
                <a:cs typeface="Calibri (MS) Bold"/>
                <a:sym typeface="Calibri (MS) Bold"/>
              </a:rPr>
              <a:t>IMPORTANT ARCHITECTURAL ISOLATION RULE:</a:t>
            </a:r>
          </a:p>
          <a:p>
            <a:pPr algn="l">
              <a:lnSpc>
                <a:spcPts val="2340"/>
              </a:lnSpc>
            </a:pPr>
            <a:r>
              <a:rPr lang="en-US" sz="1950">
                <a:solidFill>
                  <a:srgbClr val="0F172A"/>
                </a:solidFill>
                <a:latin typeface="Calibri (MS)"/>
                <a:ea typeface="Calibri (MS)"/>
                <a:cs typeface="Calibri (MS)"/>
                <a:sym typeface="Calibri (MS)"/>
              </a:rPr>
              <a:t>SKATEBOARD-specific CAN IDs are NEVER placed directly in vehicle applications. They are isolated inside a dedicated Vehicle Adapter behind the KUKSA / VSS abstraction layer.</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Vehicle-Agnostic Platform Concept</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ARCHITECTURE</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14</a:t>
            </a:r>
          </a:p>
        </p:txBody>
      </p:sp>
      <p:sp>
        <p:nvSpPr>
          <p:cNvPr name="TextBox 9" id="9"/>
          <p:cNvSpPr txBox="true"/>
          <p:nvPr/>
        </p:nvSpPr>
        <p:spPr>
          <a:xfrm rot="0">
            <a:off x="1051541" y="1301096"/>
            <a:ext cx="16002029" cy="504863"/>
          </a:xfrm>
          <a:prstGeom prst="rect">
            <a:avLst/>
          </a:prstGeom>
        </p:spPr>
        <p:txBody>
          <a:bodyPr anchor="t" rtlCol="false" tIns="0" lIns="0" bIns="0" rIns="0">
            <a:spAutoFit/>
          </a:bodyPr>
          <a:lstStyle/>
          <a:p>
            <a:pPr algn="l">
              <a:lnSpc>
                <a:spcPts val="2610"/>
              </a:lnSpc>
            </a:pPr>
            <a:r>
              <a:rPr lang="en-US" b="true" sz="2175">
                <a:solidFill>
                  <a:srgbClr val="2563EB"/>
                </a:solidFill>
                <a:latin typeface="Calibri (MS) Bold"/>
                <a:ea typeface="Calibri (MS) Bold"/>
                <a:cs typeface="Calibri (MS) Bold"/>
                <a:sym typeface="Calibri (MS) Bold"/>
              </a:rPr>
              <a:t>Major Architectural Message: "Develop once. Configure per vehicle. Deploy across compatible vehicles."</a:t>
            </a:r>
          </a:p>
        </p:txBody>
      </p:sp>
      <p:grpSp>
        <p:nvGrpSpPr>
          <p:cNvPr name="Group 10" id="10"/>
          <p:cNvGrpSpPr/>
          <p:nvPr/>
        </p:nvGrpSpPr>
        <p:grpSpPr>
          <a:xfrm rot="0">
            <a:off x="952976" y="1981676"/>
            <a:ext cx="7900988" cy="6186488"/>
            <a:chOff x="0" y="0"/>
            <a:chExt cx="10534650" cy="8248650"/>
          </a:xfrm>
        </p:grpSpPr>
        <p:sp>
          <p:nvSpPr>
            <p:cNvPr name="Freeform 11" id="11"/>
            <p:cNvSpPr/>
            <p:nvPr/>
          </p:nvSpPr>
          <p:spPr>
            <a:xfrm flipH="false" flipV="false" rot="0">
              <a:off x="0" y="0"/>
              <a:ext cx="10534650" cy="8248650"/>
            </a:xfrm>
            <a:custGeom>
              <a:avLst/>
              <a:gdLst/>
              <a:ahLst/>
              <a:cxnLst/>
              <a:rect r="r" b="b" t="t" l="l"/>
              <a:pathLst>
                <a:path h="8248650" w="10534650">
                  <a:moveTo>
                    <a:pt x="0" y="1374775"/>
                  </a:moveTo>
                  <a:cubicBezTo>
                    <a:pt x="0" y="615569"/>
                    <a:pt x="615569" y="0"/>
                    <a:pt x="1374775" y="0"/>
                  </a:cubicBezTo>
                  <a:lnTo>
                    <a:pt x="9159875" y="0"/>
                  </a:lnTo>
                  <a:cubicBezTo>
                    <a:pt x="9919081" y="0"/>
                    <a:pt x="10534650" y="615569"/>
                    <a:pt x="10534650" y="1374775"/>
                  </a:cubicBezTo>
                  <a:lnTo>
                    <a:pt x="10534650" y="6873875"/>
                  </a:lnTo>
                  <a:cubicBezTo>
                    <a:pt x="10534650" y="7633208"/>
                    <a:pt x="9919081" y="8248650"/>
                    <a:pt x="9159875" y="8248650"/>
                  </a:cubicBezTo>
                  <a:lnTo>
                    <a:pt x="1374775" y="8248650"/>
                  </a:lnTo>
                  <a:cubicBezTo>
                    <a:pt x="615569" y="8248650"/>
                    <a:pt x="0" y="7633081"/>
                    <a:pt x="0" y="6873875"/>
                  </a:cubicBezTo>
                  <a:close/>
                </a:path>
              </a:pathLst>
            </a:custGeom>
            <a:solidFill>
              <a:srgbClr val="F8FAFC"/>
            </a:solidFill>
            <a:ln w="14288" cap="sq">
              <a:solidFill>
                <a:srgbClr val="CBD5E1"/>
              </a:solidFill>
              <a:prstDash val="solid"/>
              <a:miter/>
            </a:ln>
          </p:spPr>
        </p:sp>
        <p:sp>
          <p:nvSpPr>
            <p:cNvPr name="TextBox 12" id="12"/>
            <p:cNvSpPr txBox="true"/>
            <p:nvPr/>
          </p:nvSpPr>
          <p:spPr>
            <a:xfrm>
              <a:off x="0" y="-47625"/>
              <a:ext cx="10534650" cy="8296275"/>
            </a:xfrm>
            <a:prstGeom prst="rect">
              <a:avLst/>
            </a:prstGeom>
          </p:spPr>
          <p:txBody>
            <a:bodyPr anchor="t" rtlCol="false" tIns="50800" lIns="50800" bIns="50800" rIns="50800"/>
            <a:lstStyle/>
            <a:p>
              <a:pPr algn="ctr">
                <a:lnSpc>
                  <a:spcPts val="2610"/>
                </a:lnSpc>
              </a:pPr>
              <a:r>
                <a:rPr lang="en-US" b="true" sz="2175">
                  <a:solidFill>
                    <a:srgbClr val="17365D"/>
                  </a:solidFill>
                  <a:latin typeface="Calibri (MS) Bold"/>
                  <a:ea typeface="Calibri (MS) Bold"/>
                  <a:cs typeface="Calibri (MS) Bold"/>
                  <a:sym typeface="Calibri (MS) Bold"/>
                </a:rPr>
                <a:t>Core Platform Principles</a:t>
              </a:r>
            </a:p>
            <a:p>
              <a:pPr algn="l">
                <a:lnSpc>
                  <a:spcPts val="2340"/>
                </a:lnSpc>
              </a:pPr>
              <a:r>
                <a:rPr lang="en-US" b="true" sz="1950">
                  <a:solidFill>
                    <a:srgbClr val="0F172A"/>
                  </a:solidFill>
                  <a:latin typeface="Calibri (MS) Bold"/>
                  <a:ea typeface="Calibri (MS) Bold"/>
                  <a:cs typeface="Calibri (MS) Bold"/>
                  <a:sym typeface="Calibri (MS) Bold"/>
                </a:rPr>
                <a:t>• Vehicle-Independent Software:</a:t>
              </a:r>
            </a:p>
            <a:p>
              <a:pPr algn="l">
                <a:lnSpc>
                  <a:spcPts val="2340"/>
                </a:lnSpc>
              </a:pPr>
              <a:r>
                <a:rPr lang="en-US" sz="1950">
                  <a:solidFill>
                    <a:srgbClr val="334155"/>
                  </a:solidFill>
                  <a:latin typeface="Calibri (MS)"/>
                  <a:ea typeface="Calibri (MS)"/>
                  <a:cs typeface="Calibri (MS)"/>
                  <a:sym typeface="Calibri (MS)"/>
                </a:rPr>
                <a:t>Applications, KUKSA VSS data model, container orchestration, and OTA mechanisms remain 100% identical across vehicles.</a:t>
              </a:r>
            </a:p>
            <a:p>
              <a:pPr algn="l">
                <a:lnSpc>
                  <a:spcPts val="2340"/>
                </a:lnSpc>
              </a:pPr>
              <a:r>
                <a:rPr lang="en-US" b="true" sz="1950">
                  <a:solidFill>
                    <a:srgbClr val="0F172A"/>
                  </a:solidFill>
                  <a:latin typeface="Calibri (MS) Bold"/>
                  <a:ea typeface="Calibri (MS) Bold"/>
                  <a:cs typeface="Calibri (MS) Bold"/>
                  <a:sym typeface="Calibri (MS) Bold"/>
                </a:rPr>
                <a:t>• Vehicle Integration Boundary:</a:t>
              </a:r>
            </a:p>
            <a:p>
              <a:pPr algn="l">
                <a:lnSpc>
                  <a:spcPts val="2340"/>
                </a:lnSpc>
              </a:pPr>
              <a:r>
                <a:rPr lang="en-US" sz="1950">
                  <a:solidFill>
                    <a:srgbClr val="334155"/>
                  </a:solidFill>
                  <a:latin typeface="Calibri (MS)"/>
                  <a:ea typeface="Calibri (MS)"/>
                  <a:cs typeface="Calibri (MS)"/>
                  <a:sym typeface="Calibri (MS)"/>
                </a:rPr>
                <a:t>Isolated behind Vehicle Profile and Vehicle Adapter. Only the adapter translates standardized VSS to CAN/DBC.</a:t>
              </a:r>
            </a:p>
            <a:p>
              <a:pPr algn="l">
                <a:lnSpc>
                  <a:spcPts val="2340"/>
                </a:lnSpc>
              </a:pPr>
              <a:r>
                <a:rPr lang="en-US" b="true" sz="1950">
                  <a:solidFill>
                    <a:srgbClr val="0F172A"/>
                  </a:solidFill>
                  <a:latin typeface="Calibri (MS) Bold"/>
                  <a:ea typeface="Calibri (MS) Bold"/>
                  <a:cs typeface="Calibri (MS) Bold"/>
                  <a:sym typeface="Calibri (MS) Bold"/>
                </a:rPr>
                <a:t>• Target Vehicle Scope:</a:t>
              </a:r>
            </a:p>
            <a:p>
              <a:pPr algn="l">
                <a:lnSpc>
                  <a:spcPts val="2340"/>
                </a:lnSpc>
              </a:pPr>
              <a:r>
                <a:rPr lang="en-US" sz="1950">
                  <a:solidFill>
                    <a:srgbClr val="334155"/>
                  </a:solidFill>
                  <a:latin typeface="Calibri (MS)"/>
                  <a:ea typeface="Calibri (MS)"/>
                  <a:cs typeface="Calibri (MS)"/>
                  <a:sym typeface="Calibri (MS)"/>
                </a:rPr>
                <a:t>Designed for compatible vehicles satisfying defined minimum compute, OS, and communication requirements.</a:t>
              </a:r>
            </a:p>
          </p:txBody>
        </p:sp>
      </p:grpSp>
      <p:grpSp>
        <p:nvGrpSpPr>
          <p:cNvPr name="Group 13" id="13"/>
          <p:cNvGrpSpPr/>
          <p:nvPr/>
        </p:nvGrpSpPr>
        <p:grpSpPr>
          <a:xfrm rot="0">
            <a:off x="9251156" y="1981676"/>
            <a:ext cx="7900988" cy="6186488"/>
            <a:chOff x="0" y="0"/>
            <a:chExt cx="10534650" cy="8248650"/>
          </a:xfrm>
        </p:grpSpPr>
        <p:sp>
          <p:nvSpPr>
            <p:cNvPr name="Freeform 14" id="14"/>
            <p:cNvSpPr/>
            <p:nvPr/>
          </p:nvSpPr>
          <p:spPr>
            <a:xfrm flipH="false" flipV="false" rot="0">
              <a:off x="0" y="0"/>
              <a:ext cx="10534650" cy="8248650"/>
            </a:xfrm>
            <a:custGeom>
              <a:avLst/>
              <a:gdLst/>
              <a:ahLst/>
              <a:cxnLst/>
              <a:rect r="r" b="b" t="t" l="l"/>
              <a:pathLst>
                <a:path h="8248650" w="10534650">
                  <a:moveTo>
                    <a:pt x="0" y="1374775"/>
                  </a:moveTo>
                  <a:cubicBezTo>
                    <a:pt x="0" y="615569"/>
                    <a:pt x="615569" y="0"/>
                    <a:pt x="1374775" y="0"/>
                  </a:cubicBezTo>
                  <a:lnTo>
                    <a:pt x="9159875" y="0"/>
                  </a:lnTo>
                  <a:cubicBezTo>
                    <a:pt x="9919081" y="0"/>
                    <a:pt x="10534650" y="615569"/>
                    <a:pt x="10534650" y="1374775"/>
                  </a:cubicBezTo>
                  <a:lnTo>
                    <a:pt x="10534650" y="6873875"/>
                  </a:lnTo>
                  <a:cubicBezTo>
                    <a:pt x="10534650" y="7633208"/>
                    <a:pt x="9919081" y="8248650"/>
                    <a:pt x="9159875" y="8248650"/>
                  </a:cubicBezTo>
                  <a:lnTo>
                    <a:pt x="1374775" y="8248650"/>
                  </a:lnTo>
                  <a:cubicBezTo>
                    <a:pt x="615569" y="8248650"/>
                    <a:pt x="0" y="7633081"/>
                    <a:pt x="0" y="6873875"/>
                  </a:cubicBezTo>
                  <a:close/>
                </a:path>
              </a:pathLst>
            </a:custGeom>
            <a:solidFill>
              <a:srgbClr val="F8FAFC"/>
            </a:solidFill>
            <a:ln w="14288" cap="sq">
              <a:solidFill>
                <a:srgbClr val="CBD5E1"/>
              </a:solidFill>
              <a:prstDash val="solid"/>
              <a:miter/>
            </a:ln>
          </p:spPr>
        </p:sp>
        <p:sp>
          <p:nvSpPr>
            <p:cNvPr name="TextBox 15" id="15"/>
            <p:cNvSpPr txBox="true"/>
            <p:nvPr/>
          </p:nvSpPr>
          <p:spPr>
            <a:xfrm>
              <a:off x="0" y="-47625"/>
              <a:ext cx="10534650" cy="8296275"/>
            </a:xfrm>
            <a:prstGeom prst="rect">
              <a:avLst/>
            </a:prstGeom>
          </p:spPr>
          <p:txBody>
            <a:bodyPr anchor="t" rtlCol="false" tIns="50800" lIns="50800" bIns="50800" rIns="50800"/>
            <a:lstStyle/>
            <a:p>
              <a:pPr algn="ctr">
                <a:lnSpc>
                  <a:spcPts val="2610"/>
                </a:lnSpc>
              </a:pPr>
              <a:r>
                <a:rPr lang="en-US" b="true" sz="2175">
                  <a:solidFill>
                    <a:srgbClr val="0284C7"/>
                  </a:solidFill>
                  <a:latin typeface="Calibri (MS) Bold"/>
                  <a:ea typeface="Calibri (MS) Bold"/>
                  <a:cs typeface="Calibri (MS) Bold"/>
                  <a:sym typeface="Calibri (MS) Bold"/>
                </a:rPr>
                <a:t>Multi-Vehicle Deployment Model</a:t>
              </a:r>
            </a:p>
            <a:p>
              <a:pPr algn="l">
                <a:lnSpc>
                  <a:spcPts val="2340"/>
                </a:lnSpc>
              </a:pPr>
              <a:r>
                <a:rPr lang="en-US" b="true" sz="1950">
                  <a:solidFill>
                    <a:srgbClr val="0F172A"/>
                  </a:solidFill>
                  <a:latin typeface="Calibri (MS) Bold"/>
                  <a:ea typeface="Calibri (MS) Bold"/>
                  <a:cs typeface="Calibri (MS) Bold"/>
                  <a:sym typeface="Calibri (MS) Bold"/>
                </a:rPr>
                <a:t>• Lab Skateboard Vehicle (Current):</a:t>
              </a:r>
            </a:p>
            <a:p>
              <a:pPr algn="l">
                <a:lnSpc>
                  <a:spcPts val="2340"/>
                </a:lnSpc>
              </a:pPr>
              <a:r>
                <a:rPr lang="en-US" sz="1950">
                  <a:solidFill>
                    <a:srgbClr val="334155"/>
                  </a:solidFill>
                  <a:latin typeface="Calibri (MS)"/>
                  <a:ea typeface="Calibri (MS)"/>
                  <a:cs typeface="Calibri (MS)"/>
                  <a:sym typeface="Calibri (MS)"/>
                </a:rPr>
                <a:t>Uses  Vehicle Profile + SKATEBOARD CAN Adapter (0x1228 / 0x1291 DBC signals) ➔ Same Velocitas App Layer.</a:t>
              </a:r>
            </a:p>
            <a:p>
              <a:pPr algn="l">
                <a:lnSpc>
                  <a:spcPts val="2340"/>
                </a:lnSpc>
              </a:pPr>
              <a:r>
                <a:rPr lang="en-US" b="true" sz="1950">
                  <a:solidFill>
                    <a:srgbClr val="0F172A"/>
                  </a:solidFill>
                  <a:latin typeface="Calibri (MS) Bold"/>
                  <a:ea typeface="Calibri (MS) Bold"/>
                  <a:cs typeface="Calibri (MS) Bold"/>
                  <a:sym typeface="Calibri (MS) Bold"/>
                </a:rPr>
                <a:t>• Vehicle B (Future Compatible):</a:t>
              </a:r>
            </a:p>
            <a:p>
              <a:pPr algn="l">
                <a:lnSpc>
                  <a:spcPts val="2340"/>
                </a:lnSpc>
              </a:pPr>
              <a:r>
                <a:rPr lang="en-US" sz="1950">
                  <a:solidFill>
                    <a:srgbClr val="334155"/>
                  </a:solidFill>
                  <a:latin typeface="Calibri (MS)"/>
                  <a:ea typeface="Calibri (MS)"/>
                  <a:cs typeface="Calibri (MS)"/>
                  <a:sym typeface="Calibri (MS)"/>
                </a:rPr>
                <a:t>Uses Vehicle B Profile + Vehicle B Adapter (Different CAN/Ethernet DBC) ➔ Same Velocitas App Layer.</a:t>
              </a:r>
            </a:p>
            <a:p>
              <a:pPr algn="l">
                <a:lnSpc>
                  <a:spcPts val="2340"/>
                </a:lnSpc>
              </a:pPr>
              <a:r>
                <a:rPr lang="en-US" b="true" sz="1950">
                  <a:solidFill>
                    <a:srgbClr val="0F172A"/>
                  </a:solidFill>
                  <a:latin typeface="Calibri (MS) Bold"/>
                  <a:ea typeface="Calibri (MS) Bold"/>
                  <a:cs typeface="Calibri (MS) Bold"/>
                  <a:sym typeface="Calibri (MS) Bold"/>
                </a:rPr>
                <a:t>• Vehicle C (Future Compatible):</a:t>
              </a:r>
            </a:p>
            <a:p>
              <a:pPr algn="l">
                <a:lnSpc>
                  <a:spcPts val="2340"/>
                </a:lnSpc>
              </a:pPr>
              <a:r>
                <a:rPr lang="en-US" sz="1950">
                  <a:solidFill>
                    <a:srgbClr val="334155"/>
                  </a:solidFill>
                  <a:latin typeface="Calibri (MS)"/>
                  <a:ea typeface="Calibri (MS)"/>
                  <a:cs typeface="Calibri (MS)"/>
                  <a:sym typeface="Calibri (MS)"/>
                </a:rPr>
                <a:t>Uses Vehicle C Profile + Vehicle C Adapter (Different CAN/DBC) ➔ Same Velocitas App Layer.</a:t>
              </a:r>
            </a:p>
          </p:txBody>
        </p:sp>
      </p:grpSp>
      <p:sp>
        <p:nvSpPr>
          <p:cNvPr name="TextBox 16" id="16"/>
          <p:cNvSpPr txBox="true"/>
          <p:nvPr/>
        </p:nvSpPr>
        <p:spPr>
          <a:xfrm rot="0">
            <a:off x="1051541" y="8296256"/>
            <a:ext cx="16001848" cy="521875"/>
          </a:xfrm>
          <a:prstGeom prst="rect">
            <a:avLst/>
          </a:prstGeom>
        </p:spPr>
        <p:txBody>
          <a:bodyPr anchor="t" rtlCol="false" tIns="0" lIns="0" bIns="0" rIns="0">
            <a:spAutoFit/>
          </a:bodyPr>
          <a:lstStyle/>
          <a:p>
            <a:pPr algn="l">
              <a:lnSpc>
                <a:spcPts val="2340"/>
              </a:lnSpc>
            </a:pPr>
            <a:r>
              <a:rPr lang="en-US" b="true" sz="1950">
                <a:solidFill>
                  <a:srgbClr val="0F172A"/>
                </a:solidFill>
                <a:latin typeface="Calibri (MS) Bold"/>
                <a:ea typeface="Calibri (MS) Bold"/>
                <a:cs typeface="Calibri (MS) Bold"/>
                <a:sym typeface="Calibri (MS) Bold"/>
              </a:rPr>
              <a:t>Key Architectural Distinction:</a:t>
            </a:r>
          </a:p>
          <a:p>
            <a:pPr algn="l">
              <a:lnSpc>
                <a:spcPts val="2340"/>
              </a:lnSpc>
            </a:pPr>
            <a:r>
              <a:rPr lang="en-US" sz="1950">
                <a:solidFill>
                  <a:srgbClr val="0284C7"/>
                </a:solidFill>
                <a:latin typeface="Calibri (MS)"/>
                <a:ea typeface="Calibri (MS)"/>
                <a:cs typeface="Calibri (MS)"/>
                <a:sym typeface="Calibri (MS)"/>
              </a:rPr>
              <a:t>The SKATEBOARD APM is our FIRST physical validation vehicle — it is NOT the architectural limitation of the platform.</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Minimum Compatible Vehicle Requirements</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PLATFORM</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15</a:t>
            </a:r>
          </a:p>
        </p:txBody>
      </p:sp>
      <p:graphicFrame>
        <p:nvGraphicFramePr>
          <p:cNvPr name="Table 9" id="9"/>
          <p:cNvGraphicFramePr>
            <a:graphicFrameLocks noGrp="true"/>
          </p:cNvGraphicFramePr>
          <p:nvPr/>
        </p:nvGraphicFramePr>
        <p:xfrm>
          <a:off x="960120" y="1577340"/>
          <a:ext cx="16173450" cy="7543800"/>
        </p:xfrm>
        <a:graphic>
          <a:graphicData uri="http://schemas.openxmlformats.org/drawingml/2006/table">
            <a:tbl>
              <a:tblPr/>
              <a:tblGrid>
                <a:gridCol w="3426577"/>
                <a:gridCol w="6579035"/>
                <a:gridCol w="6167838"/>
              </a:tblGrid>
              <a:tr h="1257300">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Domain / Subsystem</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Minimum Platform Requirement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Validation on Reference Implementations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r>
              <a:tr h="12573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Compute &amp; CPU</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ARM64 or x86_64 multi-core processor (Min 4 Cores, 8GB RAM)</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Jetson AGX Orin / Orin Nano (ARM64) &amp; Lenovo ThinkEdge SE50 (x86)</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12573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Operating System</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Linux Kernel &gt;= 5.4 with systemd, cgroups v2 &amp; container runtime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Ubuntu Linux 20.04 / 22.04 LTS &amp; Eclipse Leda pre-integrated distro</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2573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Communication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CAN 2.0B / CAN-FD or Automotive Ethernet (100BASE-T1)</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SKATEBOARD APM DBW CAN Bus at 500 kbps / 1 Mbps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12573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Vehicle Abstraction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OEM CAN DBC file or signal matrix exposing drive, speed &amp; status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SKATEBOARD APM DBC File parsed via AI DBC-&gt;VSS Mapper into COVESA VSS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2573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Actuation Boundary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Drive-by-Wire (DBW) or electronic control interface for steering/speed</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SKATEBOARD APM DBW Module with safety watchdog heartbeat counter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17365D"/>
            </a:solidFill>
          </p:spPr>
        </p:sp>
      </p:grpSp>
      <p:grpSp>
        <p:nvGrpSpPr>
          <p:cNvPr name="Group 4" id="4"/>
          <p:cNvGrpSpPr/>
          <p:nvPr/>
        </p:nvGrpSpPr>
        <p:grpSpPr>
          <a:xfrm rot="0">
            <a:off x="0" y="0"/>
            <a:ext cx="18287543" cy="205740"/>
            <a:chOff x="0" y="0"/>
            <a:chExt cx="24383390" cy="274320"/>
          </a:xfrm>
        </p:grpSpPr>
        <p:sp>
          <p:nvSpPr>
            <p:cNvPr name="Freeform 5" id="5"/>
            <p:cNvSpPr/>
            <p:nvPr/>
          </p:nvSpPr>
          <p:spPr>
            <a:xfrm flipH="false" flipV="false" rot="0">
              <a:off x="0" y="0"/>
              <a:ext cx="24383364" cy="274320"/>
            </a:xfrm>
            <a:custGeom>
              <a:avLst/>
              <a:gdLst/>
              <a:ahLst/>
              <a:cxnLst/>
              <a:rect r="r" b="b" t="t" l="l"/>
              <a:pathLst>
                <a:path h="274320" w="24383364">
                  <a:moveTo>
                    <a:pt x="0" y="0"/>
                  </a:moveTo>
                  <a:lnTo>
                    <a:pt x="24383364" y="0"/>
                  </a:lnTo>
                  <a:lnTo>
                    <a:pt x="24383364" y="274320"/>
                  </a:lnTo>
                  <a:lnTo>
                    <a:pt x="0" y="274320"/>
                  </a:lnTo>
                  <a:close/>
                </a:path>
              </a:pathLst>
            </a:custGeom>
            <a:solidFill>
              <a:srgbClr val="2563EB"/>
            </a:solidFill>
          </p:spPr>
        </p:sp>
      </p:grpSp>
      <p:grpSp>
        <p:nvGrpSpPr>
          <p:cNvPr name="Group 6" id="6"/>
          <p:cNvGrpSpPr/>
          <p:nvPr/>
        </p:nvGrpSpPr>
        <p:grpSpPr>
          <a:xfrm rot="0">
            <a:off x="1638776" y="2050256"/>
            <a:ext cx="15009990" cy="6186488"/>
            <a:chOff x="0" y="0"/>
            <a:chExt cx="20013320" cy="8248650"/>
          </a:xfrm>
        </p:grpSpPr>
        <p:sp>
          <p:nvSpPr>
            <p:cNvPr name="Freeform 7" id="7"/>
            <p:cNvSpPr/>
            <p:nvPr/>
          </p:nvSpPr>
          <p:spPr>
            <a:xfrm flipH="false" flipV="false" rot="0">
              <a:off x="0" y="0"/>
              <a:ext cx="20013295" cy="8248650"/>
            </a:xfrm>
            <a:custGeom>
              <a:avLst/>
              <a:gdLst/>
              <a:ahLst/>
              <a:cxnLst/>
              <a:rect r="r" b="b" t="t" l="l"/>
              <a:pathLst>
                <a:path h="8248650" w="20013295">
                  <a:moveTo>
                    <a:pt x="0" y="1374775"/>
                  </a:moveTo>
                  <a:cubicBezTo>
                    <a:pt x="0" y="615569"/>
                    <a:pt x="615569" y="0"/>
                    <a:pt x="1374775" y="0"/>
                  </a:cubicBezTo>
                  <a:lnTo>
                    <a:pt x="18638520" y="0"/>
                  </a:lnTo>
                  <a:cubicBezTo>
                    <a:pt x="19397853" y="0"/>
                    <a:pt x="20013295" y="615569"/>
                    <a:pt x="20013295" y="1374775"/>
                  </a:cubicBezTo>
                  <a:lnTo>
                    <a:pt x="20013295" y="6873875"/>
                  </a:lnTo>
                  <a:cubicBezTo>
                    <a:pt x="20013295" y="7633208"/>
                    <a:pt x="19397726" y="8248650"/>
                    <a:pt x="18638520" y="8248650"/>
                  </a:cubicBezTo>
                  <a:lnTo>
                    <a:pt x="1374775" y="8248650"/>
                  </a:lnTo>
                  <a:cubicBezTo>
                    <a:pt x="615569" y="8248650"/>
                    <a:pt x="0" y="7633081"/>
                    <a:pt x="0" y="6873875"/>
                  </a:cubicBezTo>
                  <a:close/>
                </a:path>
              </a:pathLst>
            </a:custGeom>
            <a:solidFill>
              <a:srgbClr val="FFFFFF"/>
            </a:solidFill>
            <a:ln w="14288" cap="sq">
              <a:solidFill>
                <a:srgbClr val="2563EB"/>
              </a:solidFill>
              <a:prstDash val="solid"/>
              <a:miter/>
            </a:ln>
          </p:spPr>
        </p:sp>
        <p:sp>
          <p:nvSpPr>
            <p:cNvPr name="TextBox 8" id="8"/>
            <p:cNvSpPr txBox="true"/>
            <p:nvPr/>
          </p:nvSpPr>
          <p:spPr>
            <a:xfrm>
              <a:off x="0" y="-47625"/>
              <a:ext cx="20013320" cy="8296275"/>
            </a:xfrm>
            <a:prstGeom prst="rect">
              <a:avLst/>
            </a:prstGeom>
          </p:spPr>
          <p:txBody>
            <a:bodyPr anchor="ctr" rtlCol="false" tIns="50800" lIns="50800" bIns="50800" rIns="50800"/>
            <a:lstStyle/>
            <a:p>
              <a:pPr algn="ctr">
                <a:lnSpc>
                  <a:spcPts val="2520"/>
                </a:lnSpc>
              </a:pPr>
              <a:r>
                <a:rPr lang="en-US" sz="2100" b="true">
                  <a:solidFill>
                    <a:srgbClr val="2563EB"/>
                  </a:solidFill>
                  <a:latin typeface="Calibri (MS) Bold"/>
                  <a:ea typeface="Calibri (MS) Bold"/>
                  <a:cs typeface="Calibri (MS) Bold"/>
                  <a:sym typeface="Calibri (MS) Bold"/>
                </a:rPr>
                <a:t>SECTION 02</a:t>
              </a:r>
            </a:p>
            <a:p>
              <a:pPr algn="l">
                <a:lnSpc>
                  <a:spcPts val="5759"/>
                </a:lnSpc>
              </a:pPr>
              <a:r>
                <a:rPr lang="en-US" sz="4800" b="true">
                  <a:solidFill>
                    <a:srgbClr val="17365D"/>
                  </a:solidFill>
                  <a:latin typeface="Calibri (MS) Bold"/>
                  <a:ea typeface="Calibri (MS) Bold"/>
                  <a:cs typeface="Calibri (MS) Bold"/>
                  <a:sym typeface="Calibri (MS) Bold"/>
                </a:rPr>
                <a:t>System Setup &amp; Subsystem Layers</a:t>
              </a:r>
            </a:p>
            <a:p>
              <a:pPr algn="l">
                <a:lnSpc>
                  <a:spcPts val="2879"/>
                </a:lnSpc>
              </a:pPr>
              <a:r>
                <a:rPr lang="en-US" sz="2400">
                  <a:solidFill>
                    <a:srgbClr val="334155"/>
                  </a:solidFill>
                  <a:latin typeface="Calibri (MS)"/>
                  <a:ea typeface="Calibri (MS)"/>
                  <a:cs typeface="Calibri (MS)"/>
                  <a:sym typeface="Calibri (MS)"/>
                </a:rPr>
                <a:t>Multi-Layer Architecture, Vehicle Abstraction Boundary &amp; Multi-Architecture Strategy</a:t>
              </a:r>
            </a:p>
          </p:txBody>
        </p:sp>
      </p:grpSp>
      <p:grpSp>
        <p:nvGrpSpPr>
          <p:cNvPr name="Group 9" id="9"/>
          <p:cNvGrpSpPr/>
          <p:nvPr/>
        </p:nvGrpSpPr>
        <p:grpSpPr>
          <a:xfrm rot="0">
            <a:off x="1645920" y="8778240"/>
            <a:ext cx="14995703" cy="20574"/>
            <a:chOff x="0" y="0"/>
            <a:chExt cx="19994270" cy="27432"/>
          </a:xfrm>
        </p:grpSpPr>
        <p:sp>
          <p:nvSpPr>
            <p:cNvPr name="Freeform 10" id="10"/>
            <p:cNvSpPr/>
            <p:nvPr/>
          </p:nvSpPr>
          <p:spPr>
            <a:xfrm flipH="false" flipV="false" rot="0">
              <a:off x="0" y="0"/>
              <a:ext cx="19994245" cy="27432"/>
            </a:xfrm>
            <a:custGeom>
              <a:avLst/>
              <a:gdLst/>
              <a:ahLst/>
              <a:cxnLst/>
              <a:rect r="r" b="b" t="t" l="l"/>
              <a:pathLst>
                <a:path h="27432" w="19994245">
                  <a:moveTo>
                    <a:pt x="0" y="0"/>
                  </a:moveTo>
                  <a:lnTo>
                    <a:pt x="19994245" y="0"/>
                  </a:lnTo>
                  <a:lnTo>
                    <a:pt x="19994245" y="27432"/>
                  </a:lnTo>
                  <a:lnTo>
                    <a:pt x="0" y="27432"/>
                  </a:lnTo>
                  <a:close/>
                </a:path>
              </a:pathLst>
            </a:custGeom>
            <a:solidFill>
              <a:srgbClr val="BFBFBF"/>
            </a:solidFill>
          </p:spPr>
        </p:sp>
      </p:gr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52" cy="1292847"/>
            <a:chOff x="0" y="0"/>
            <a:chExt cx="24383403" cy="1723796"/>
          </a:xfrm>
        </p:grpSpPr>
        <p:sp>
          <p:nvSpPr>
            <p:cNvPr name="Freeform 3" id="3"/>
            <p:cNvSpPr/>
            <p:nvPr/>
          </p:nvSpPr>
          <p:spPr>
            <a:xfrm flipH="false" flipV="false" rot="0">
              <a:off x="0" y="0"/>
              <a:ext cx="24383364" cy="1723771"/>
            </a:xfrm>
            <a:custGeom>
              <a:avLst/>
              <a:gdLst/>
              <a:ahLst/>
              <a:cxnLst/>
              <a:rect r="r" b="b" t="t" l="l"/>
              <a:pathLst>
                <a:path h="1723771" w="24383364">
                  <a:moveTo>
                    <a:pt x="0" y="0"/>
                  </a:moveTo>
                  <a:lnTo>
                    <a:pt x="24383364" y="0"/>
                  </a:lnTo>
                  <a:lnTo>
                    <a:pt x="24383364" y="1723771"/>
                  </a:lnTo>
                  <a:lnTo>
                    <a:pt x="0" y="1723771"/>
                  </a:lnTo>
                  <a:close/>
                </a:path>
              </a:pathLst>
            </a:custGeom>
            <a:solidFill>
              <a:srgbClr val="17365D"/>
            </a:solidFill>
          </p:spPr>
        </p:sp>
      </p:grpSp>
      <p:sp>
        <p:nvSpPr>
          <p:cNvPr name="TextBox 4" id="4"/>
          <p:cNvSpPr txBox="true"/>
          <p:nvPr/>
        </p:nvSpPr>
        <p:spPr>
          <a:xfrm rot="0">
            <a:off x="754380" y="584311"/>
            <a:ext cx="13990501" cy="492004"/>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Vehicle Abstraction &amp; Integration</a:t>
            </a:r>
          </a:p>
        </p:txBody>
      </p:sp>
      <p:sp>
        <p:nvSpPr>
          <p:cNvPr name="TextBox 5" id="5"/>
          <p:cNvSpPr txBox="true"/>
          <p:nvPr/>
        </p:nvSpPr>
        <p:spPr>
          <a:xfrm rot="0">
            <a:off x="14986530" y="612886"/>
            <a:ext cx="2715749" cy="301428"/>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ABSTRACTION</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17</a:t>
            </a:r>
          </a:p>
        </p:txBody>
      </p:sp>
      <p:grpSp>
        <p:nvGrpSpPr>
          <p:cNvPr name="Group 9" id="9"/>
          <p:cNvGrpSpPr/>
          <p:nvPr/>
        </p:nvGrpSpPr>
        <p:grpSpPr>
          <a:xfrm rot="0">
            <a:off x="1581017" y="1509493"/>
            <a:ext cx="7900988" cy="3299374"/>
            <a:chOff x="0" y="0"/>
            <a:chExt cx="10534650" cy="4399166"/>
          </a:xfrm>
        </p:grpSpPr>
        <p:sp>
          <p:nvSpPr>
            <p:cNvPr name="Freeform 10" id="10"/>
            <p:cNvSpPr/>
            <p:nvPr/>
          </p:nvSpPr>
          <p:spPr>
            <a:xfrm flipH="false" flipV="false" rot="0">
              <a:off x="0" y="0"/>
              <a:ext cx="10534650" cy="4399153"/>
            </a:xfrm>
            <a:custGeom>
              <a:avLst/>
              <a:gdLst/>
              <a:ahLst/>
              <a:cxnLst/>
              <a:rect r="r" b="b" t="t" l="l"/>
              <a:pathLst>
                <a:path h="4399153" w="10534650">
                  <a:moveTo>
                    <a:pt x="0" y="733171"/>
                  </a:moveTo>
                  <a:cubicBezTo>
                    <a:pt x="0" y="328295"/>
                    <a:pt x="328295" y="0"/>
                    <a:pt x="733171" y="0"/>
                  </a:cubicBezTo>
                  <a:lnTo>
                    <a:pt x="9801479" y="0"/>
                  </a:lnTo>
                  <a:cubicBezTo>
                    <a:pt x="10206482" y="0"/>
                    <a:pt x="10534650" y="328295"/>
                    <a:pt x="10534650" y="733171"/>
                  </a:cubicBezTo>
                  <a:lnTo>
                    <a:pt x="10534650" y="3665982"/>
                  </a:lnTo>
                  <a:cubicBezTo>
                    <a:pt x="10534650" y="4070985"/>
                    <a:pt x="10206355" y="4399153"/>
                    <a:pt x="9801479" y="4399153"/>
                  </a:cubicBezTo>
                  <a:lnTo>
                    <a:pt x="733171" y="4399153"/>
                  </a:lnTo>
                  <a:cubicBezTo>
                    <a:pt x="328295" y="4399153"/>
                    <a:pt x="0" y="4070858"/>
                    <a:pt x="0" y="3665982"/>
                  </a:cubicBezTo>
                  <a:close/>
                </a:path>
              </a:pathLst>
            </a:custGeom>
            <a:solidFill>
              <a:srgbClr val="F8FAFC"/>
            </a:solidFill>
            <a:ln w="14288" cap="sq">
              <a:solidFill>
                <a:srgbClr val="CBD5E1"/>
              </a:solidFill>
              <a:prstDash val="solid"/>
              <a:miter/>
            </a:ln>
          </p:spPr>
        </p:sp>
        <p:sp>
          <p:nvSpPr>
            <p:cNvPr name="TextBox 11" id="11"/>
            <p:cNvSpPr txBox="true"/>
            <p:nvPr/>
          </p:nvSpPr>
          <p:spPr>
            <a:xfrm>
              <a:off x="0" y="-38100"/>
              <a:ext cx="10534650" cy="4437266"/>
            </a:xfrm>
            <a:prstGeom prst="rect">
              <a:avLst/>
            </a:prstGeom>
          </p:spPr>
          <p:txBody>
            <a:bodyPr anchor="t" rtlCol="false" tIns="50800" lIns="50800" bIns="50800" rIns="50800"/>
            <a:lstStyle/>
            <a:p>
              <a:pPr algn="ctr">
                <a:lnSpc>
                  <a:spcPts val="2160"/>
                </a:lnSpc>
              </a:pPr>
              <a:r>
                <a:rPr lang="en-US" b="true" sz="1800">
                  <a:solidFill>
                    <a:srgbClr val="17365D"/>
                  </a:solidFill>
                  <a:latin typeface="Calibri (MS) Bold"/>
                  <a:ea typeface="Calibri (MS) Bold"/>
                  <a:cs typeface="Calibri (MS) Bold"/>
                  <a:sym typeface="Calibri (MS) Bold"/>
                </a:rPr>
                <a:t>Vehicle-Independent Layer (Standardized)</a:t>
              </a:r>
            </a:p>
            <a:p>
              <a:pPr algn="l">
                <a:lnSpc>
                  <a:spcPts val="1980"/>
                </a:lnSpc>
              </a:pPr>
              <a:r>
                <a:rPr lang="en-US" b="true" sz="1650">
                  <a:solidFill>
                    <a:srgbClr val="0F172A"/>
                  </a:solidFill>
                  <a:latin typeface="Calibri (MS) Bold"/>
                  <a:ea typeface="Calibri (MS) Bold"/>
                  <a:cs typeface="Calibri (MS) Bold"/>
                  <a:sym typeface="Calibri (MS) Bold"/>
                </a:rPr>
                <a:t>• Standardized Application Layer:</a:t>
              </a:r>
            </a:p>
            <a:p>
              <a:pPr algn="l">
                <a:lnSpc>
                  <a:spcPts val="1980"/>
                </a:lnSpc>
              </a:pPr>
              <a:r>
                <a:rPr lang="en-US" sz="1650">
                  <a:solidFill>
                    <a:srgbClr val="334155"/>
                  </a:solidFill>
                  <a:latin typeface="Calibri (MS)"/>
                  <a:ea typeface="Calibri (MS)"/>
                  <a:cs typeface="Calibri (MS)"/>
                  <a:sym typeface="Calibri (MS)"/>
                </a:rPr>
                <a:t>Velocitas applications consume only standard COVESA VSS signal names (e.g. 'Vehicle.Speed', 'Vehicle.Cabin.Door.IsLocked').</a:t>
              </a:r>
            </a:p>
            <a:p>
              <a:pPr algn="l">
                <a:lnSpc>
                  <a:spcPts val="1980"/>
                </a:lnSpc>
              </a:pPr>
              <a:r>
                <a:rPr lang="en-US" b="true" sz="1650">
                  <a:solidFill>
                    <a:srgbClr val="0F172A"/>
                  </a:solidFill>
                  <a:latin typeface="Calibri (MS) Bold"/>
                  <a:ea typeface="Calibri (MS) Bold"/>
                  <a:cs typeface="Calibri (MS) Bold"/>
                  <a:sym typeface="Calibri (MS) Bold"/>
                </a:rPr>
                <a:t>• Hardware &amp; Protocol Independence:</a:t>
              </a:r>
            </a:p>
            <a:p>
              <a:pPr algn="l">
                <a:lnSpc>
                  <a:spcPts val="1980"/>
                </a:lnSpc>
              </a:pPr>
              <a:r>
                <a:rPr lang="en-US" sz="1650">
                  <a:solidFill>
                    <a:srgbClr val="334155"/>
                  </a:solidFill>
                  <a:latin typeface="Calibri (MS)"/>
                  <a:ea typeface="Calibri (MS)"/>
                  <a:cs typeface="Calibri (MS)"/>
                  <a:sym typeface="Calibri (MS)"/>
                </a:rPr>
                <a:t>Applications never contain hardcoded CAN IDs or OEM-specific byte offsets. They remain 100% portable.</a:t>
              </a:r>
            </a:p>
            <a:p>
              <a:pPr algn="l">
                <a:lnSpc>
                  <a:spcPts val="1980"/>
                </a:lnSpc>
              </a:pPr>
              <a:r>
                <a:rPr lang="en-US" b="true" sz="1650">
                  <a:solidFill>
                    <a:srgbClr val="0F172A"/>
                  </a:solidFill>
                  <a:latin typeface="Calibri (MS) Bold"/>
                  <a:ea typeface="Calibri (MS) Bold"/>
                  <a:cs typeface="Calibri (MS) Bold"/>
                  <a:sym typeface="Calibri (MS) Bold"/>
                </a:rPr>
                <a:t>• KUKSA VSS Data Broker:</a:t>
              </a:r>
            </a:p>
            <a:p>
              <a:pPr algn="l">
                <a:lnSpc>
                  <a:spcPts val="1980"/>
                </a:lnSpc>
              </a:pPr>
              <a:r>
                <a:rPr lang="en-US" sz="1650">
                  <a:solidFill>
                    <a:srgbClr val="334155"/>
                  </a:solidFill>
                  <a:latin typeface="Calibri (MS)"/>
                  <a:ea typeface="Calibri (MS)"/>
                  <a:cs typeface="Calibri (MS)"/>
                  <a:sym typeface="Calibri (MS)"/>
                </a:rPr>
                <a:t>Acts as the central decoupling boundary between high-level vehicle applications and low-level CAN networks.</a:t>
              </a:r>
            </a:p>
          </p:txBody>
        </p:sp>
      </p:grpSp>
      <p:grpSp>
        <p:nvGrpSpPr>
          <p:cNvPr name="Group 12" id="12"/>
          <p:cNvGrpSpPr/>
          <p:nvPr/>
        </p:nvGrpSpPr>
        <p:grpSpPr>
          <a:xfrm rot="0">
            <a:off x="1581017" y="4919320"/>
            <a:ext cx="7900988" cy="3398425"/>
            <a:chOff x="0" y="0"/>
            <a:chExt cx="10534650" cy="4531233"/>
          </a:xfrm>
        </p:grpSpPr>
        <p:sp>
          <p:nvSpPr>
            <p:cNvPr name="Freeform 13" id="13"/>
            <p:cNvSpPr/>
            <p:nvPr/>
          </p:nvSpPr>
          <p:spPr>
            <a:xfrm flipH="false" flipV="false" rot="0">
              <a:off x="0" y="0"/>
              <a:ext cx="10534651" cy="4531233"/>
            </a:xfrm>
            <a:custGeom>
              <a:avLst/>
              <a:gdLst/>
              <a:ahLst/>
              <a:cxnLst/>
              <a:rect r="r" b="b" t="t" l="l"/>
              <a:pathLst>
                <a:path h="4531233" w="10534651">
                  <a:moveTo>
                    <a:pt x="0" y="755269"/>
                  </a:moveTo>
                  <a:cubicBezTo>
                    <a:pt x="0" y="338074"/>
                    <a:pt x="338074" y="0"/>
                    <a:pt x="755269" y="0"/>
                  </a:cubicBezTo>
                  <a:lnTo>
                    <a:pt x="9779381" y="0"/>
                  </a:lnTo>
                  <a:cubicBezTo>
                    <a:pt x="10196450" y="0"/>
                    <a:pt x="10534651" y="338074"/>
                    <a:pt x="10534651" y="755269"/>
                  </a:cubicBezTo>
                  <a:lnTo>
                    <a:pt x="10534651" y="3775964"/>
                  </a:lnTo>
                  <a:cubicBezTo>
                    <a:pt x="10534651" y="4193032"/>
                    <a:pt x="10196576" y="4531233"/>
                    <a:pt x="9779381" y="4531233"/>
                  </a:cubicBezTo>
                  <a:lnTo>
                    <a:pt x="755269" y="4531233"/>
                  </a:lnTo>
                  <a:cubicBezTo>
                    <a:pt x="338074" y="4531233"/>
                    <a:pt x="0" y="4193159"/>
                    <a:pt x="0" y="3775964"/>
                  </a:cubicBezTo>
                  <a:close/>
                </a:path>
              </a:pathLst>
            </a:custGeom>
            <a:solidFill>
              <a:srgbClr val="F8FAFC"/>
            </a:solidFill>
            <a:ln w="14288" cap="sq">
              <a:solidFill>
                <a:srgbClr val="CBD5E1"/>
              </a:solidFill>
              <a:prstDash val="solid"/>
              <a:miter/>
            </a:ln>
          </p:spPr>
        </p:sp>
        <p:sp>
          <p:nvSpPr>
            <p:cNvPr name="TextBox 14" id="14"/>
            <p:cNvSpPr txBox="true"/>
            <p:nvPr/>
          </p:nvSpPr>
          <p:spPr>
            <a:xfrm>
              <a:off x="0" y="-38100"/>
              <a:ext cx="10534650" cy="4569333"/>
            </a:xfrm>
            <a:prstGeom prst="rect">
              <a:avLst/>
            </a:prstGeom>
          </p:spPr>
          <p:txBody>
            <a:bodyPr anchor="t" rtlCol="false" tIns="50800" lIns="50800" bIns="50800" rIns="50800"/>
            <a:lstStyle/>
            <a:p>
              <a:pPr algn="ctr">
                <a:lnSpc>
                  <a:spcPts val="2160"/>
                </a:lnSpc>
              </a:pPr>
              <a:r>
                <a:rPr lang="en-US" sz="1800" b="true">
                  <a:solidFill>
                    <a:srgbClr val="0284C7"/>
                  </a:solidFill>
                  <a:latin typeface="Calibri (MS) Bold"/>
                  <a:ea typeface="Calibri (MS) Bold"/>
                  <a:cs typeface="Calibri (MS) Bold"/>
                  <a:sym typeface="Calibri (MS) Bold"/>
                </a:rPr>
                <a:t>Vehicle-Specific Integration Boundary</a:t>
              </a:r>
            </a:p>
            <a:p>
              <a:pPr algn="l">
                <a:lnSpc>
                  <a:spcPts val="1980"/>
                </a:lnSpc>
              </a:pPr>
              <a:r>
                <a:rPr lang="en-US" b="true" sz="1650">
                  <a:solidFill>
                    <a:srgbClr val="0F172A"/>
                  </a:solidFill>
                  <a:latin typeface="Calibri (MS) Bold"/>
                  <a:ea typeface="Calibri (MS) Bold"/>
                  <a:cs typeface="Calibri (MS) Bold"/>
                  <a:sym typeface="Calibri (MS) Bold"/>
                </a:rPr>
                <a:t>• Vehicle Profile:</a:t>
              </a:r>
            </a:p>
            <a:p>
              <a:pPr algn="l">
                <a:lnSpc>
                  <a:spcPts val="1980"/>
                </a:lnSpc>
              </a:pPr>
              <a:r>
                <a:rPr lang="en-US" sz="1650">
                  <a:solidFill>
                    <a:srgbClr val="334155"/>
                  </a:solidFill>
                  <a:latin typeface="Calibri (MS)"/>
                  <a:ea typeface="Calibri (MS)"/>
                  <a:cs typeface="Calibri (MS)"/>
                  <a:sym typeface="Calibri (MS)"/>
                </a:rPr>
                <a:t>Defines the specific vehicle's capabilities, CAN DBC mappings, and VSS signal conversion rules.</a:t>
              </a:r>
            </a:p>
            <a:p>
              <a:pPr algn="l">
                <a:lnSpc>
                  <a:spcPts val="1980"/>
                </a:lnSpc>
              </a:pPr>
              <a:r>
                <a:rPr lang="en-US" b="true" sz="1650">
                  <a:solidFill>
                    <a:srgbClr val="0F172A"/>
                  </a:solidFill>
                  <a:latin typeface="Calibri (MS) Bold"/>
                  <a:ea typeface="Calibri (MS) Bold"/>
                  <a:cs typeface="Calibri (MS) Bold"/>
                  <a:sym typeface="Calibri (MS) Bold"/>
                </a:rPr>
                <a:t>• Lab Skateboard Vehicle Adapter:</a:t>
              </a:r>
            </a:p>
            <a:p>
              <a:pPr algn="l">
                <a:lnSpc>
                  <a:spcPts val="1980"/>
                </a:lnSpc>
              </a:pPr>
              <a:r>
                <a:rPr lang="en-US" sz="1650">
                  <a:solidFill>
                    <a:srgbClr val="334155"/>
                  </a:solidFill>
                  <a:latin typeface="Calibri (MS)"/>
                  <a:ea typeface="Calibri (MS)"/>
                  <a:cs typeface="Calibri (MS)"/>
                  <a:sym typeface="Calibri (MS)"/>
                </a:rPr>
                <a:t>Translates Kuksa VSS updates into Lab Skateboard-specific CAN frames (0x1228 General Request) and decodes 0x1291 General Status.</a:t>
              </a:r>
            </a:p>
            <a:p>
              <a:pPr algn="l">
                <a:lnSpc>
                  <a:spcPts val="1980"/>
                </a:lnSpc>
              </a:pPr>
              <a:r>
                <a:rPr lang="en-US" b="true" sz="1650">
                  <a:solidFill>
                    <a:srgbClr val="0F172A"/>
                  </a:solidFill>
                  <a:latin typeface="Calibri (MS) Bold"/>
                  <a:ea typeface="Calibri (MS) Bold"/>
                  <a:cs typeface="Calibri (MS) Bold"/>
                  <a:sym typeface="Calibri (MS) Bold"/>
                </a:rPr>
                <a:t>• Vehicle B Adapter (Future):</a:t>
              </a:r>
            </a:p>
            <a:p>
              <a:pPr algn="l">
                <a:lnSpc>
                  <a:spcPts val="1980"/>
                </a:lnSpc>
              </a:pPr>
              <a:r>
                <a:rPr lang="en-US" sz="1650">
                  <a:solidFill>
                    <a:srgbClr val="334155"/>
                  </a:solidFill>
                  <a:latin typeface="Calibri (MS)"/>
                  <a:ea typeface="Calibri (MS)"/>
                  <a:cs typeface="Calibri (MS)"/>
                  <a:sym typeface="Calibri (MS)"/>
                </a:rPr>
                <a:t>Translates Kuksa VSS updates into Vehicle B's specific CAN/Ethernet protocol without altering application code.</a:t>
              </a:r>
            </a:p>
          </p:txBody>
        </p:sp>
      </p:grpSp>
      <p:sp>
        <p:nvSpPr>
          <p:cNvPr name="TextBox 15" id="15"/>
          <p:cNvSpPr txBox="true"/>
          <p:nvPr/>
        </p:nvSpPr>
        <p:spPr>
          <a:xfrm rot="0">
            <a:off x="1051541" y="8433416"/>
            <a:ext cx="16002029" cy="916343"/>
          </a:xfrm>
          <a:prstGeom prst="rect">
            <a:avLst/>
          </a:prstGeom>
        </p:spPr>
        <p:txBody>
          <a:bodyPr anchor="t" rtlCol="false" tIns="0" lIns="0" bIns="0" rIns="0">
            <a:spAutoFit/>
          </a:bodyPr>
          <a:lstStyle/>
          <a:p>
            <a:pPr algn="l">
              <a:lnSpc>
                <a:spcPts val="2340"/>
              </a:lnSpc>
            </a:pPr>
            <a:r>
              <a:rPr lang="en-US" b="true" sz="1950">
                <a:solidFill>
                  <a:srgbClr val="E11D48"/>
                </a:solidFill>
                <a:latin typeface="Calibri (MS) Bold"/>
                <a:ea typeface="Calibri (MS) Bold"/>
                <a:cs typeface="Calibri (MS) Bold"/>
                <a:sym typeface="Calibri (MS) Bold"/>
              </a:rPr>
              <a:t>STRICT TECHNICAL BOUNDARY RULE:</a:t>
            </a:r>
          </a:p>
          <a:p>
            <a:pPr algn="l">
              <a:lnSpc>
                <a:spcPts val="2340"/>
              </a:lnSpc>
            </a:pPr>
            <a:r>
              <a:rPr lang="en-US" sz="1950">
                <a:solidFill>
                  <a:srgbClr val="0F172A"/>
                </a:solidFill>
                <a:latin typeface="Calibri (MS)"/>
                <a:ea typeface="Calibri (MS)"/>
                <a:cs typeface="Calibri (MS)"/>
                <a:sym typeface="Calibri (MS)"/>
              </a:rPr>
              <a:t>Velocitas Application ➔ KUKSA / VSS ➔ Vehicle Profile ➔ Lab Skateboard Vehicle Adapter ➔ Lab Skateboard CAN (0x1228 / 0x1291) ➔ DBW Controller.</a:t>
            </a:r>
          </a:p>
        </p:txBody>
      </p:sp>
      <p:sp>
        <p:nvSpPr>
          <p:cNvPr name="TextBox 16" id="16"/>
          <p:cNvSpPr txBox="true"/>
          <p:nvPr/>
        </p:nvSpPr>
        <p:spPr>
          <a:xfrm rot="0">
            <a:off x="312334" y="43796"/>
            <a:ext cx="9930898" cy="426377"/>
          </a:xfrm>
          <a:prstGeom prst="rect">
            <a:avLst/>
          </a:prstGeom>
        </p:spPr>
        <p:txBody>
          <a:bodyPr anchor="t" rtlCol="false" tIns="0" lIns="0" bIns="0" rIns="0">
            <a:spAutoFit/>
          </a:bodyPr>
          <a:lstStyle/>
          <a:p>
            <a:pPr algn="l">
              <a:lnSpc>
                <a:spcPts val="3060"/>
              </a:lnSpc>
            </a:pPr>
            <a:r>
              <a:rPr lang="en-US" b="true" sz="2550">
                <a:solidFill>
                  <a:srgbClr val="FFFFFF"/>
                </a:solidFill>
                <a:latin typeface="Calibri (MS) Bold"/>
                <a:ea typeface="Calibri (MS) Bold"/>
                <a:cs typeface="Calibri (MS) Bold"/>
                <a:sym typeface="Calibri (MS) Bold"/>
              </a:rPr>
              <a:t>| SYSTEM SETUP</a:t>
            </a:r>
          </a:p>
        </p:txBody>
      </p:sp>
      <p:grpSp>
        <p:nvGrpSpPr>
          <p:cNvPr name="Group 17" id="17"/>
          <p:cNvGrpSpPr/>
          <p:nvPr/>
        </p:nvGrpSpPr>
        <p:grpSpPr>
          <a:xfrm rot="0">
            <a:off x="10327519" y="1602877"/>
            <a:ext cx="7381684" cy="861184"/>
            <a:chOff x="0" y="0"/>
            <a:chExt cx="9842246" cy="1148245"/>
          </a:xfrm>
        </p:grpSpPr>
        <p:sp>
          <p:nvSpPr>
            <p:cNvPr name="Freeform 18" id="18"/>
            <p:cNvSpPr/>
            <p:nvPr/>
          </p:nvSpPr>
          <p:spPr>
            <a:xfrm flipH="false" flipV="false" rot="0">
              <a:off x="0" y="0"/>
              <a:ext cx="9842246" cy="1148207"/>
            </a:xfrm>
            <a:custGeom>
              <a:avLst/>
              <a:gdLst/>
              <a:ahLst/>
              <a:cxnLst/>
              <a:rect r="r" b="b" t="t" l="l"/>
              <a:pathLst>
                <a:path h="1148207" w="9842246">
                  <a:moveTo>
                    <a:pt x="0" y="191389"/>
                  </a:moveTo>
                  <a:cubicBezTo>
                    <a:pt x="0" y="85725"/>
                    <a:pt x="85725" y="0"/>
                    <a:pt x="191389" y="0"/>
                  </a:cubicBezTo>
                  <a:lnTo>
                    <a:pt x="9650857" y="0"/>
                  </a:lnTo>
                  <a:cubicBezTo>
                    <a:pt x="9756521" y="0"/>
                    <a:pt x="9842246" y="85725"/>
                    <a:pt x="9842246" y="191389"/>
                  </a:cubicBezTo>
                  <a:lnTo>
                    <a:pt x="9842246" y="956818"/>
                  </a:lnTo>
                  <a:cubicBezTo>
                    <a:pt x="9842246" y="1062482"/>
                    <a:pt x="9756521" y="1148207"/>
                    <a:pt x="9650857" y="1148207"/>
                  </a:cubicBezTo>
                  <a:lnTo>
                    <a:pt x="191389" y="1148207"/>
                  </a:lnTo>
                  <a:cubicBezTo>
                    <a:pt x="85725" y="1148207"/>
                    <a:pt x="0" y="1062609"/>
                    <a:pt x="0" y="956818"/>
                  </a:cubicBezTo>
                  <a:close/>
                </a:path>
              </a:pathLst>
            </a:custGeom>
            <a:solidFill>
              <a:srgbClr val="F8FAFC"/>
            </a:solidFill>
            <a:ln w="14288" cap="sq">
              <a:solidFill>
                <a:srgbClr val="CBD5E1"/>
              </a:solidFill>
              <a:prstDash val="solid"/>
              <a:miter/>
            </a:ln>
          </p:spPr>
        </p:sp>
        <p:sp>
          <p:nvSpPr>
            <p:cNvPr name="TextBox 19" id="19"/>
            <p:cNvSpPr txBox="true"/>
            <p:nvPr/>
          </p:nvSpPr>
          <p:spPr>
            <a:xfrm>
              <a:off x="0" y="-47625"/>
              <a:ext cx="9842246" cy="1195870"/>
            </a:xfrm>
            <a:prstGeom prst="rect">
              <a:avLst/>
            </a:prstGeom>
          </p:spPr>
          <p:txBody>
            <a:bodyPr anchor="ctr" rtlCol="false" tIns="50800" lIns="50800" bIns="50800" rIns="50800"/>
            <a:lstStyle/>
            <a:p>
              <a:pPr algn="ctr">
                <a:lnSpc>
                  <a:spcPts val="2340"/>
                </a:lnSpc>
              </a:pPr>
              <a:r>
                <a:rPr lang="en-US" b="true" sz="1950">
                  <a:solidFill>
                    <a:srgbClr val="CFE2F3"/>
                  </a:solidFill>
                  <a:latin typeface="Calibri (MS) Bold"/>
                  <a:ea typeface="Calibri (MS) Bold"/>
                  <a:cs typeface="Calibri (MS) Bold"/>
                  <a:sym typeface="Calibri (MS) Bold"/>
                </a:rPr>
                <a:t>OTA / CLOUD   ➜   OTA Control Plane  |  Fleet Telemetry Services  |  Container Registry</a:t>
              </a:r>
            </a:p>
          </p:txBody>
        </p:sp>
      </p:grpSp>
      <p:grpSp>
        <p:nvGrpSpPr>
          <p:cNvPr name="Group 20" id="20"/>
          <p:cNvGrpSpPr/>
          <p:nvPr/>
        </p:nvGrpSpPr>
        <p:grpSpPr>
          <a:xfrm rot="0">
            <a:off x="10327519" y="2546414"/>
            <a:ext cx="7381684" cy="861184"/>
            <a:chOff x="0" y="0"/>
            <a:chExt cx="9842246" cy="1148245"/>
          </a:xfrm>
        </p:grpSpPr>
        <p:sp>
          <p:nvSpPr>
            <p:cNvPr name="Freeform 21" id="21"/>
            <p:cNvSpPr/>
            <p:nvPr/>
          </p:nvSpPr>
          <p:spPr>
            <a:xfrm flipH="false" flipV="false" rot="0">
              <a:off x="0" y="0"/>
              <a:ext cx="9842246" cy="1148207"/>
            </a:xfrm>
            <a:custGeom>
              <a:avLst/>
              <a:gdLst/>
              <a:ahLst/>
              <a:cxnLst/>
              <a:rect r="r" b="b" t="t" l="l"/>
              <a:pathLst>
                <a:path h="1148207" w="9842246">
                  <a:moveTo>
                    <a:pt x="0" y="191389"/>
                  </a:moveTo>
                  <a:cubicBezTo>
                    <a:pt x="0" y="85725"/>
                    <a:pt x="85725" y="0"/>
                    <a:pt x="191389" y="0"/>
                  </a:cubicBezTo>
                  <a:lnTo>
                    <a:pt x="9650857" y="0"/>
                  </a:lnTo>
                  <a:cubicBezTo>
                    <a:pt x="9756521" y="0"/>
                    <a:pt x="9842246" y="85725"/>
                    <a:pt x="9842246" y="191389"/>
                  </a:cubicBezTo>
                  <a:lnTo>
                    <a:pt x="9842246" y="956818"/>
                  </a:lnTo>
                  <a:cubicBezTo>
                    <a:pt x="9842246" y="1062482"/>
                    <a:pt x="9756521" y="1148207"/>
                    <a:pt x="9650857" y="1148207"/>
                  </a:cubicBezTo>
                  <a:lnTo>
                    <a:pt x="191389" y="1148207"/>
                  </a:lnTo>
                  <a:cubicBezTo>
                    <a:pt x="85725" y="1148207"/>
                    <a:pt x="0" y="1062609"/>
                    <a:pt x="0" y="956818"/>
                  </a:cubicBezTo>
                  <a:close/>
                </a:path>
              </a:pathLst>
            </a:custGeom>
            <a:solidFill>
              <a:srgbClr val="F8FAFC"/>
            </a:solidFill>
            <a:ln w="14288" cap="sq">
              <a:solidFill>
                <a:srgbClr val="CBD5E1"/>
              </a:solidFill>
              <a:prstDash val="solid"/>
              <a:miter/>
            </a:ln>
          </p:spPr>
        </p:sp>
        <p:sp>
          <p:nvSpPr>
            <p:cNvPr name="TextBox 22" id="22"/>
            <p:cNvSpPr txBox="true"/>
            <p:nvPr/>
          </p:nvSpPr>
          <p:spPr>
            <a:xfrm>
              <a:off x="0" y="-47625"/>
              <a:ext cx="9842246" cy="1195870"/>
            </a:xfrm>
            <a:prstGeom prst="rect">
              <a:avLst/>
            </a:prstGeom>
          </p:spPr>
          <p:txBody>
            <a:bodyPr anchor="ctr" rtlCol="false" tIns="50800" lIns="50800" bIns="50800" rIns="50800"/>
            <a:lstStyle/>
            <a:p>
              <a:pPr algn="ctr">
                <a:lnSpc>
                  <a:spcPts val="2340"/>
                </a:lnSpc>
              </a:pPr>
              <a:r>
                <a:rPr lang="en-US" b="true" sz="1950">
                  <a:solidFill>
                    <a:srgbClr val="CFD7E7"/>
                  </a:solidFill>
                  <a:latin typeface="Calibri (MS) Bold"/>
                  <a:ea typeface="Calibri (MS) Bold"/>
                  <a:cs typeface="Calibri (MS) Bold"/>
                  <a:sym typeface="Calibri (MS) Bold"/>
                </a:rPr>
                <a:t>VEHICLE RUNTIME   ➜   Eclipse Kanto (Container Engine)  |  Eclipse Ankaios (Workload Orchestrator)</a:t>
              </a:r>
            </a:p>
          </p:txBody>
        </p:sp>
      </p:grpSp>
      <p:grpSp>
        <p:nvGrpSpPr>
          <p:cNvPr name="Group 23" id="23"/>
          <p:cNvGrpSpPr/>
          <p:nvPr/>
        </p:nvGrpSpPr>
        <p:grpSpPr>
          <a:xfrm rot="0">
            <a:off x="10327519" y="3489941"/>
            <a:ext cx="7381684" cy="861184"/>
            <a:chOff x="0" y="0"/>
            <a:chExt cx="9842246" cy="1148245"/>
          </a:xfrm>
        </p:grpSpPr>
        <p:sp>
          <p:nvSpPr>
            <p:cNvPr name="Freeform 24" id="24"/>
            <p:cNvSpPr/>
            <p:nvPr/>
          </p:nvSpPr>
          <p:spPr>
            <a:xfrm flipH="false" flipV="false" rot="0">
              <a:off x="0" y="0"/>
              <a:ext cx="9842246" cy="1148207"/>
            </a:xfrm>
            <a:custGeom>
              <a:avLst/>
              <a:gdLst/>
              <a:ahLst/>
              <a:cxnLst/>
              <a:rect r="r" b="b" t="t" l="l"/>
              <a:pathLst>
                <a:path h="1148207" w="9842246">
                  <a:moveTo>
                    <a:pt x="0" y="191389"/>
                  </a:moveTo>
                  <a:cubicBezTo>
                    <a:pt x="0" y="85725"/>
                    <a:pt x="85725" y="0"/>
                    <a:pt x="191389" y="0"/>
                  </a:cubicBezTo>
                  <a:lnTo>
                    <a:pt x="9650857" y="0"/>
                  </a:lnTo>
                  <a:cubicBezTo>
                    <a:pt x="9756521" y="0"/>
                    <a:pt x="9842246" y="85725"/>
                    <a:pt x="9842246" y="191389"/>
                  </a:cubicBezTo>
                  <a:lnTo>
                    <a:pt x="9842246" y="956818"/>
                  </a:lnTo>
                  <a:cubicBezTo>
                    <a:pt x="9842246" y="1062482"/>
                    <a:pt x="9756521" y="1148207"/>
                    <a:pt x="9650857" y="1148207"/>
                  </a:cubicBezTo>
                  <a:lnTo>
                    <a:pt x="191389" y="1148207"/>
                  </a:lnTo>
                  <a:cubicBezTo>
                    <a:pt x="85725" y="1148207"/>
                    <a:pt x="0" y="1062609"/>
                    <a:pt x="0" y="956818"/>
                  </a:cubicBezTo>
                  <a:close/>
                </a:path>
              </a:pathLst>
            </a:custGeom>
            <a:solidFill>
              <a:srgbClr val="F8FAFC"/>
            </a:solidFill>
            <a:ln w="14288" cap="sq">
              <a:solidFill>
                <a:srgbClr val="CBD5E1"/>
              </a:solidFill>
              <a:prstDash val="solid"/>
              <a:miter/>
            </a:ln>
          </p:spPr>
        </p:sp>
        <p:sp>
          <p:nvSpPr>
            <p:cNvPr name="TextBox 25" id="25"/>
            <p:cNvSpPr txBox="true"/>
            <p:nvPr/>
          </p:nvSpPr>
          <p:spPr>
            <a:xfrm>
              <a:off x="0" y="-47625"/>
              <a:ext cx="9842246" cy="1195870"/>
            </a:xfrm>
            <a:prstGeom prst="rect">
              <a:avLst/>
            </a:prstGeom>
          </p:spPr>
          <p:txBody>
            <a:bodyPr anchor="ctr" rtlCol="false" tIns="50800" lIns="50800" bIns="50800" rIns="50800"/>
            <a:lstStyle/>
            <a:p>
              <a:pPr algn="ctr">
                <a:lnSpc>
                  <a:spcPts val="2340"/>
                </a:lnSpc>
              </a:pPr>
              <a:r>
                <a:rPr lang="en-US" b="true" sz="1950">
                  <a:solidFill>
                    <a:srgbClr val="CFD7E7"/>
                  </a:solidFill>
                  <a:latin typeface="Calibri (MS) Bold"/>
                  <a:ea typeface="Calibri (MS) Bold"/>
                  <a:cs typeface="Calibri (MS) Bold"/>
                  <a:sym typeface="Calibri (MS) Bold"/>
                </a:rPr>
                <a:t>VEHICLE APPLICATIONS   ➜   Eclipse Velocitas (App SDK)  |  Vehicle Telemetry App  |  ADAS Service App</a:t>
              </a:r>
            </a:p>
          </p:txBody>
        </p:sp>
      </p:grpSp>
      <p:grpSp>
        <p:nvGrpSpPr>
          <p:cNvPr name="Group 26" id="26"/>
          <p:cNvGrpSpPr/>
          <p:nvPr/>
        </p:nvGrpSpPr>
        <p:grpSpPr>
          <a:xfrm rot="0">
            <a:off x="10327519" y="4433478"/>
            <a:ext cx="7381684" cy="861184"/>
            <a:chOff x="0" y="0"/>
            <a:chExt cx="9842246" cy="1148245"/>
          </a:xfrm>
        </p:grpSpPr>
        <p:sp>
          <p:nvSpPr>
            <p:cNvPr name="Freeform 27" id="27"/>
            <p:cNvSpPr/>
            <p:nvPr/>
          </p:nvSpPr>
          <p:spPr>
            <a:xfrm flipH="false" flipV="false" rot="0">
              <a:off x="0" y="0"/>
              <a:ext cx="9842246" cy="1148207"/>
            </a:xfrm>
            <a:custGeom>
              <a:avLst/>
              <a:gdLst/>
              <a:ahLst/>
              <a:cxnLst/>
              <a:rect r="r" b="b" t="t" l="l"/>
              <a:pathLst>
                <a:path h="1148207" w="9842246">
                  <a:moveTo>
                    <a:pt x="0" y="191389"/>
                  </a:moveTo>
                  <a:cubicBezTo>
                    <a:pt x="0" y="85725"/>
                    <a:pt x="85725" y="0"/>
                    <a:pt x="191389" y="0"/>
                  </a:cubicBezTo>
                  <a:lnTo>
                    <a:pt x="9650857" y="0"/>
                  </a:lnTo>
                  <a:cubicBezTo>
                    <a:pt x="9756521" y="0"/>
                    <a:pt x="9842246" y="85725"/>
                    <a:pt x="9842246" y="191389"/>
                  </a:cubicBezTo>
                  <a:lnTo>
                    <a:pt x="9842246" y="956818"/>
                  </a:lnTo>
                  <a:cubicBezTo>
                    <a:pt x="9842246" y="1062482"/>
                    <a:pt x="9756521" y="1148207"/>
                    <a:pt x="9650857" y="1148207"/>
                  </a:cubicBezTo>
                  <a:lnTo>
                    <a:pt x="191389" y="1148207"/>
                  </a:lnTo>
                  <a:cubicBezTo>
                    <a:pt x="85725" y="1148207"/>
                    <a:pt x="0" y="1062609"/>
                    <a:pt x="0" y="956818"/>
                  </a:cubicBezTo>
                  <a:close/>
                </a:path>
              </a:pathLst>
            </a:custGeom>
            <a:solidFill>
              <a:srgbClr val="F8FAFC"/>
            </a:solidFill>
            <a:ln w="14288" cap="sq">
              <a:solidFill>
                <a:srgbClr val="CBD5E1"/>
              </a:solidFill>
              <a:prstDash val="solid"/>
              <a:miter/>
            </a:ln>
          </p:spPr>
        </p:sp>
        <p:sp>
          <p:nvSpPr>
            <p:cNvPr name="TextBox 28" id="28"/>
            <p:cNvSpPr txBox="true"/>
            <p:nvPr/>
          </p:nvSpPr>
          <p:spPr>
            <a:xfrm>
              <a:off x="0" y="-47625"/>
              <a:ext cx="9842246" cy="1195870"/>
            </a:xfrm>
            <a:prstGeom prst="rect">
              <a:avLst/>
            </a:prstGeom>
          </p:spPr>
          <p:txBody>
            <a:bodyPr anchor="ctr" rtlCol="false" tIns="50800" lIns="50800" bIns="50800" rIns="50800"/>
            <a:lstStyle/>
            <a:p>
              <a:pPr algn="ctr">
                <a:lnSpc>
                  <a:spcPts val="2340"/>
                </a:lnSpc>
              </a:pPr>
              <a:r>
                <a:rPr lang="en-US" b="true" sz="1950">
                  <a:solidFill>
                    <a:srgbClr val="0284C7"/>
                  </a:solidFill>
                  <a:latin typeface="Calibri (MS) Bold"/>
                  <a:ea typeface="Calibri (MS) Bold"/>
                  <a:cs typeface="Calibri (MS) Bold"/>
                  <a:sym typeface="Calibri (MS) Bold"/>
                </a:rPr>
                <a:t>VEHICLE DATA   ➜   Eclipse Kuksa (Signal Broker)  |  COVESA VSS v4.0 Standard Taxonomy</a:t>
              </a:r>
            </a:p>
          </p:txBody>
        </p:sp>
      </p:grpSp>
      <p:grpSp>
        <p:nvGrpSpPr>
          <p:cNvPr name="Group 29" id="29"/>
          <p:cNvGrpSpPr/>
          <p:nvPr/>
        </p:nvGrpSpPr>
        <p:grpSpPr>
          <a:xfrm rot="0">
            <a:off x="10327519" y="5377005"/>
            <a:ext cx="7381684" cy="861184"/>
            <a:chOff x="0" y="0"/>
            <a:chExt cx="9842246" cy="1148245"/>
          </a:xfrm>
        </p:grpSpPr>
        <p:sp>
          <p:nvSpPr>
            <p:cNvPr name="Freeform 30" id="30"/>
            <p:cNvSpPr/>
            <p:nvPr/>
          </p:nvSpPr>
          <p:spPr>
            <a:xfrm flipH="false" flipV="false" rot="0">
              <a:off x="0" y="0"/>
              <a:ext cx="9842246" cy="1148207"/>
            </a:xfrm>
            <a:custGeom>
              <a:avLst/>
              <a:gdLst/>
              <a:ahLst/>
              <a:cxnLst/>
              <a:rect r="r" b="b" t="t" l="l"/>
              <a:pathLst>
                <a:path h="1148207" w="9842246">
                  <a:moveTo>
                    <a:pt x="0" y="191389"/>
                  </a:moveTo>
                  <a:cubicBezTo>
                    <a:pt x="0" y="85725"/>
                    <a:pt x="85725" y="0"/>
                    <a:pt x="191389" y="0"/>
                  </a:cubicBezTo>
                  <a:lnTo>
                    <a:pt x="9650857" y="0"/>
                  </a:lnTo>
                  <a:cubicBezTo>
                    <a:pt x="9756521" y="0"/>
                    <a:pt x="9842246" y="85725"/>
                    <a:pt x="9842246" y="191389"/>
                  </a:cubicBezTo>
                  <a:lnTo>
                    <a:pt x="9842246" y="956818"/>
                  </a:lnTo>
                  <a:cubicBezTo>
                    <a:pt x="9842246" y="1062482"/>
                    <a:pt x="9756521" y="1148207"/>
                    <a:pt x="9650857" y="1148207"/>
                  </a:cubicBezTo>
                  <a:lnTo>
                    <a:pt x="191389" y="1148207"/>
                  </a:lnTo>
                  <a:cubicBezTo>
                    <a:pt x="85725" y="1148207"/>
                    <a:pt x="0" y="1062609"/>
                    <a:pt x="0" y="956818"/>
                  </a:cubicBezTo>
                  <a:close/>
                </a:path>
              </a:pathLst>
            </a:custGeom>
            <a:solidFill>
              <a:srgbClr val="F8FAFC"/>
            </a:solidFill>
            <a:ln w="14288" cap="sq">
              <a:solidFill>
                <a:srgbClr val="CBD5E1"/>
              </a:solidFill>
              <a:prstDash val="solid"/>
              <a:miter/>
            </a:ln>
          </p:spPr>
        </p:sp>
        <p:sp>
          <p:nvSpPr>
            <p:cNvPr name="TextBox 31" id="31"/>
            <p:cNvSpPr txBox="true"/>
            <p:nvPr/>
          </p:nvSpPr>
          <p:spPr>
            <a:xfrm>
              <a:off x="0" y="-47625"/>
              <a:ext cx="9842246" cy="1195870"/>
            </a:xfrm>
            <a:prstGeom prst="rect">
              <a:avLst/>
            </a:prstGeom>
          </p:spPr>
          <p:txBody>
            <a:bodyPr anchor="ctr" rtlCol="false" tIns="50800" lIns="50800" bIns="50800" rIns="50800"/>
            <a:lstStyle/>
            <a:p>
              <a:pPr algn="ctr">
                <a:lnSpc>
                  <a:spcPts val="2340"/>
                </a:lnSpc>
              </a:pPr>
              <a:r>
                <a:rPr lang="en-US" b="true" sz="1950">
                  <a:solidFill>
                    <a:srgbClr val="D97706"/>
                  </a:solidFill>
                  <a:latin typeface="Calibri (MS) Bold"/>
                  <a:ea typeface="Calibri (MS) Bold"/>
                  <a:cs typeface="Calibri (MS) Bold"/>
                  <a:sym typeface="Calibri (MS) Bold"/>
                </a:rPr>
                <a:t>COMMUNICATION   ➜   Eclipse Zenoh (Low-Latency Pub/Sub)  |  uProtocol Transport Layer</a:t>
              </a:r>
            </a:p>
          </p:txBody>
        </p:sp>
      </p:grpSp>
      <p:grpSp>
        <p:nvGrpSpPr>
          <p:cNvPr name="Group 32" id="32"/>
          <p:cNvGrpSpPr/>
          <p:nvPr/>
        </p:nvGrpSpPr>
        <p:grpSpPr>
          <a:xfrm rot="0">
            <a:off x="10327519" y="6320533"/>
            <a:ext cx="7381684" cy="861184"/>
            <a:chOff x="0" y="0"/>
            <a:chExt cx="9842246" cy="1148245"/>
          </a:xfrm>
        </p:grpSpPr>
        <p:sp>
          <p:nvSpPr>
            <p:cNvPr name="Freeform 33" id="33"/>
            <p:cNvSpPr/>
            <p:nvPr/>
          </p:nvSpPr>
          <p:spPr>
            <a:xfrm flipH="false" flipV="false" rot="0">
              <a:off x="0" y="0"/>
              <a:ext cx="9842246" cy="1148207"/>
            </a:xfrm>
            <a:custGeom>
              <a:avLst/>
              <a:gdLst/>
              <a:ahLst/>
              <a:cxnLst/>
              <a:rect r="r" b="b" t="t" l="l"/>
              <a:pathLst>
                <a:path h="1148207" w="9842246">
                  <a:moveTo>
                    <a:pt x="0" y="191389"/>
                  </a:moveTo>
                  <a:cubicBezTo>
                    <a:pt x="0" y="85725"/>
                    <a:pt x="85725" y="0"/>
                    <a:pt x="191389" y="0"/>
                  </a:cubicBezTo>
                  <a:lnTo>
                    <a:pt x="9650857" y="0"/>
                  </a:lnTo>
                  <a:cubicBezTo>
                    <a:pt x="9756521" y="0"/>
                    <a:pt x="9842246" y="85725"/>
                    <a:pt x="9842246" y="191389"/>
                  </a:cubicBezTo>
                  <a:lnTo>
                    <a:pt x="9842246" y="956818"/>
                  </a:lnTo>
                  <a:cubicBezTo>
                    <a:pt x="9842246" y="1062482"/>
                    <a:pt x="9756521" y="1148207"/>
                    <a:pt x="9650857" y="1148207"/>
                  </a:cubicBezTo>
                  <a:lnTo>
                    <a:pt x="191389" y="1148207"/>
                  </a:lnTo>
                  <a:cubicBezTo>
                    <a:pt x="85725" y="1148207"/>
                    <a:pt x="0" y="1062609"/>
                    <a:pt x="0" y="956818"/>
                  </a:cubicBezTo>
                  <a:close/>
                </a:path>
              </a:pathLst>
            </a:custGeom>
            <a:solidFill>
              <a:srgbClr val="F8FAFC"/>
            </a:solidFill>
            <a:ln w="14288" cap="sq">
              <a:solidFill>
                <a:srgbClr val="CBD5E1"/>
              </a:solidFill>
              <a:prstDash val="solid"/>
              <a:miter/>
            </a:ln>
          </p:spPr>
        </p:sp>
        <p:sp>
          <p:nvSpPr>
            <p:cNvPr name="TextBox 34" id="34"/>
            <p:cNvSpPr txBox="true"/>
            <p:nvPr/>
          </p:nvSpPr>
          <p:spPr>
            <a:xfrm>
              <a:off x="0" y="-47625"/>
              <a:ext cx="9842246" cy="1195870"/>
            </a:xfrm>
            <a:prstGeom prst="rect">
              <a:avLst/>
            </a:prstGeom>
          </p:spPr>
          <p:txBody>
            <a:bodyPr anchor="ctr" rtlCol="false" tIns="50800" lIns="50800" bIns="50800" rIns="50800"/>
            <a:lstStyle/>
            <a:p>
              <a:pPr algn="ctr">
                <a:lnSpc>
                  <a:spcPts val="2340"/>
                </a:lnSpc>
              </a:pPr>
              <a:r>
                <a:rPr lang="en-US" b="true" sz="1950">
                  <a:solidFill>
                    <a:srgbClr val="17365D"/>
                  </a:solidFill>
                  <a:latin typeface="Calibri (MS) Bold"/>
                  <a:ea typeface="Calibri (MS) Bold"/>
                  <a:cs typeface="Calibri (MS) Bold"/>
                  <a:sym typeface="Calibri (MS) Bold"/>
                </a:rPr>
                <a:t>VEHICLE ABSTRACTION   ➜   Lab Skateboard Vehicle Profile  |  VSS Overlay  |  Lab Skateboard Vehicle Adapter (DBC / CAN)</a:t>
              </a:r>
            </a:p>
          </p:txBody>
        </p:sp>
      </p:grpSp>
      <p:grpSp>
        <p:nvGrpSpPr>
          <p:cNvPr name="Group 35" id="35"/>
          <p:cNvGrpSpPr/>
          <p:nvPr/>
        </p:nvGrpSpPr>
        <p:grpSpPr>
          <a:xfrm rot="0">
            <a:off x="10327519" y="7264070"/>
            <a:ext cx="7381684" cy="861184"/>
            <a:chOff x="0" y="0"/>
            <a:chExt cx="9842246" cy="1148245"/>
          </a:xfrm>
        </p:grpSpPr>
        <p:sp>
          <p:nvSpPr>
            <p:cNvPr name="Freeform 36" id="36"/>
            <p:cNvSpPr/>
            <p:nvPr/>
          </p:nvSpPr>
          <p:spPr>
            <a:xfrm flipH="false" flipV="false" rot="0">
              <a:off x="0" y="0"/>
              <a:ext cx="9842246" cy="1148207"/>
            </a:xfrm>
            <a:custGeom>
              <a:avLst/>
              <a:gdLst/>
              <a:ahLst/>
              <a:cxnLst/>
              <a:rect r="r" b="b" t="t" l="l"/>
              <a:pathLst>
                <a:path h="1148207" w="9842246">
                  <a:moveTo>
                    <a:pt x="0" y="191389"/>
                  </a:moveTo>
                  <a:cubicBezTo>
                    <a:pt x="0" y="85725"/>
                    <a:pt x="85725" y="0"/>
                    <a:pt x="191389" y="0"/>
                  </a:cubicBezTo>
                  <a:lnTo>
                    <a:pt x="9650857" y="0"/>
                  </a:lnTo>
                  <a:cubicBezTo>
                    <a:pt x="9756521" y="0"/>
                    <a:pt x="9842246" y="85725"/>
                    <a:pt x="9842246" y="191389"/>
                  </a:cubicBezTo>
                  <a:lnTo>
                    <a:pt x="9842246" y="956818"/>
                  </a:lnTo>
                  <a:cubicBezTo>
                    <a:pt x="9842246" y="1062482"/>
                    <a:pt x="9756521" y="1148207"/>
                    <a:pt x="9650857" y="1148207"/>
                  </a:cubicBezTo>
                  <a:lnTo>
                    <a:pt x="191389" y="1148207"/>
                  </a:lnTo>
                  <a:cubicBezTo>
                    <a:pt x="85725" y="1148207"/>
                    <a:pt x="0" y="1062609"/>
                    <a:pt x="0" y="956818"/>
                  </a:cubicBezTo>
                  <a:close/>
                </a:path>
              </a:pathLst>
            </a:custGeom>
            <a:solidFill>
              <a:srgbClr val="F8FAFC"/>
            </a:solidFill>
            <a:ln w="14288" cap="sq">
              <a:solidFill>
                <a:srgbClr val="CBD5E1"/>
              </a:solidFill>
              <a:prstDash val="solid"/>
              <a:miter/>
            </a:ln>
          </p:spPr>
        </p:sp>
        <p:sp>
          <p:nvSpPr>
            <p:cNvPr name="TextBox 37" id="37"/>
            <p:cNvSpPr txBox="true"/>
            <p:nvPr/>
          </p:nvSpPr>
          <p:spPr>
            <a:xfrm>
              <a:off x="0" y="-47625"/>
              <a:ext cx="9842246" cy="1195870"/>
            </a:xfrm>
            <a:prstGeom prst="rect">
              <a:avLst/>
            </a:prstGeom>
          </p:spPr>
          <p:txBody>
            <a:bodyPr anchor="ctr" rtlCol="false" tIns="50800" lIns="50800" bIns="50800" rIns="50800"/>
            <a:lstStyle/>
            <a:p>
              <a:pPr algn="ctr">
                <a:lnSpc>
                  <a:spcPts val="2340"/>
                </a:lnSpc>
              </a:pPr>
              <a:r>
                <a:rPr lang="en-US" b="true" sz="1950">
                  <a:solidFill>
                    <a:srgbClr val="CFD7E7"/>
                  </a:solidFill>
                  <a:latin typeface="Calibri (MS) Bold"/>
                  <a:ea typeface="Calibri (MS) Bold"/>
                  <a:cs typeface="Calibri (MS) Bold"/>
                  <a:sym typeface="Calibri (MS) Bold"/>
                </a:rPr>
                <a:t>Lab Skateboard DBW ACTUATION   ➜   CAN 2.0B Bus (0x1228 Request / 0x1291 Status) ➔ Actuators &amp; ECUs</a:t>
              </a:r>
            </a:p>
          </p:txBody>
        </p:sp>
      </p:gr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1292047"/>
            <a:chOff x="0" y="0"/>
            <a:chExt cx="24383390" cy="1722730"/>
          </a:xfrm>
        </p:grpSpPr>
        <p:sp>
          <p:nvSpPr>
            <p:cNvPr name="Freeform 3" id="3"/>
            <p:cNvSpPr/>
            <p:nvPr/>
          </p:nvSpPr>
          <p:spPr>
            <a:xfrm flipH="false" flipV="false" rot="0">
              <a:off x="0" y="0"/>
              <a:ext cx="24383364" cy="1722755"/>
            </a:xfrm>
            <a:custGeom>
              <a:avLst/>
              <a:gdLst/>
              <a:ahLst/>
              <a:cxnLst/>
              <a:rect r="r" b="b" t="t" l="l"/>
              <a:pathLst>
                <a:path h="1722755" w="24383364">
                  <a:moveTo>
                    <a:pt x="0" y="0"/>
                  </a:moveTo>
                  <a:lnTo>
                    <a:pt x="24383364" y="0"/>
                  </a:lnTo>
                  <a:lnTo>
                    <a:pt x="24383364" y="1722755"/>
                  </a:lnTo>
                  <a:lnTo>
                    <a:pt x="0" y="1722755"/>
                  </a:lnTo>
                  <a:close/>
                </a:path>
              </a:pathLst>
            </a:custGeom>
            <a:solidFill>
              <a:srgbClr val="17365D"/>
            </a:solidFill>
          </p:spPr>
        </p:sp>
      </p:grpSp>
      <p:sp>
        <p:nvSpPr>
          <p:cNvPr name="TextBox 4" id="4"/>
          <p:cNvSpPr txBox="true"/>
          <p:nvPr/>
        </p:nvSpPr>
        <p:spPr>
          <a:xfrm rot="0">
            <a:off x="312268" y="-1905"/>
            <a:ext cx="9934042" cy="517169"/>
          </a:xfrm>
          <a:prstGeom prst="rect">
            <a:avLst/>
          </a:prstGeom>
        </p:spPr>
        <p:txBody>
          <a:bodyPr anchor="t" rtlCol="false" tIns="0" lIns="0" bIns="0" rIns="0">
            <a:spAutoFit/>
          </a:bodyPr>
          <a:lstStyle/>
          <a:p>
            <a:pPr algn="l">
              <a:lnSpc>
                <a:spcPts val="2340"/>
              </a:lnSpc>
            </a:pPr>
            <a:r>
              <a:rPr lang="en-US" sz="1950" b="true">
                <a:solidFill>
                  <a:srgbClr val="FFFFFF"/>
                </a:solidFill>
                <a:latin typeface="Calibri (MS) Bold"/>
                <a:ea typeface="Calibri (MS) Bold"/>
                <a:cs typeface="Calibri (MS) Bold"/>
                <a:sym typeface="Calibri (MS) Bold"/>
              </a:rPr>
              <a:t>| SYSTEM SETUP</a:t>
            </a:r>
          </a:p>
        </p:txBody>
      </p:sp>
      <p:sp>
        <p:nvSpPr>
          <p:cNvPr name="TextBox 5" id="5"/>
          <p:cNvSpPr txBox="true"/>
          <p:nvPr/>
        </p:nvSpPr>
        <p:spPr>
          <a:xfrm rot="0">
            <a:off x="845820" y="637413"/>
            <a:ext cx="13807440" cy="455295"/>
          </a:xfrm>
          <a:prstGeom prst="rect">
            <a:avLst/>
          </a:prstGeom>
        </p:spPr>
        <p:txBody>
          <a:bodyPr anchor="t" rtlCol="false" tIns="0" lIns="0" bIns="0" rIns="0">
            <a:spAutoFit/>
          </a:bodyPr>
          <a:lstStyle/>
          <a:p>
            <a:pPr algn="l">
              <a:lnSpc>
                <a:spcPts val="3960"/>
              </a:lnSpc>
            </a:pPr>
            <a:r>
              <a:rPr lang="en-US" sz="3300" b="true">
                <a:solidFill>
                  <a:srgbClr val="FFFFFF"/>
                </a:solidFill>
                <a:latin typeface="Calibri (MS) Bold"/>
                <a:ea typeface="Calibri (MS) Bold"/>
                <a:cs typeface="Calibri (MS) Bold"/>
                <a:sym typeface="Calibri (MS) Bold"/>
              </a:rPr>
              <a:t>Vehicle Applications &amp; Telemetry Subsystem</a:t>
            </a:r>
          </a:p>
        </p:txBody>
      </p:sp>
      <p:sp>
        <p:nvSpPr>
          <p:cNvPr name="TextBox 6" id="6"/>
          <p:cNvSpPr txBox="true"/>
          <p:nvPr/>
        </p:nvSpPr>
        <p:spPr>
          <a:xfrm rot="0">
            <a:off x="15076170" y="656463"/>
            <a:ext cx="2532888" cy="299085"/>
          </a:xfrm>
          <a:prstGeom prst="rect">
            <a:avLst/>
          </a:prstGeom>
        </p:spPr>
        <p:txBody>
          <a:bodyPr anchor="t" rtlCol="false" tIns="0" lIns="0" bIns="0" rIns="0">
            <a:spAutoFit/>
          </a:bodyPr>
          <a:lstStyle/>
          <a:p>
            <a:pPr algn="l">
              <a:lnSpc>
                <a:spcPts val="2340"/>
              </a:lnSpc>
            </a:pPr>
            <a:r>
              <a:rPr lang="en-US" sz="1950" b="true">
                <a:solidFill>
                  <a:srgbClr val="FFFFFF"/>
                </a:solidFill>
                <a:latin typeface="Calibri (MS) Bold"/>
                <a:ea typeface="Calibri (MS) Bold"/>
                <a:cs typeface="Calibri (MS) Bold"/>
                <a:sym typeface="Calibri (MS) Bold"/>
              </a:rPr>
              <a:t>APPLICATIONS</a:t>
            </a:r>
          </a:p>
        </p:txBody>
      </p:sp>
      <p:grpSp>
        <p:nvGrpSpPr>
          <p:cNvPr name="Group 7" id="7"/>
          <p:cNvGrpSpPr/>
          <p:nvPr/>
        </p:nvGrpSpPr>
        <p:grpSpPr>
          <a:xfrm rot="0">
            <a:off x="1579797" y="1626432"/>
            <a:ext cx="7900988" cy="3179940"/>
            <a:chOff x="0" y="0"/>
            <a:chExt cx="10534650" cy="4239920"/>
          </a:xfrm>
        </p:grpSpPr>
        <p:sp>
          <p:nvSpPr>
            <p:cNvPr name="Freeform 8" id="8"/>
            <p:cNvSpPr/>
            <p:nvPr/>
          </p:nvSpPr>
          <p:spPr>
            <a:xfrm flipH="false" flipV="false" rot="0">
              <a:off x="0" y="0"/>
              <a:ext cx="10534650" cy="4239895"/>
            </a:xfrm>
            <a:custGeom>
              <a:avLst/>
              <a:gdLst/>
              <a:ahLst/>
              <a:cxnLst/>
              <a:rect r="r" b="b" t="t" l="l"/>
              <a:pathLst>
                <a:path h="4239895" w="10534650">
                  <a:moveTo>
                    <a:pt x="0" y="706628"/>
                  </a:moveTo>
                  <a:cubicBezTo>
                    <a:pt x="0" y="316357"/>
                    <a:pt x="316357" y="0"/>
                    <a:pt x="706628" y="0"/>
                  </a:cubicBezTo>
                  <a:lnTo>
                    <a:pt x="9828022" y="0"/>
                  </a:lnTo>
                  <a:cubicBezTo>
                    <a:pt x="10218293" y="0"/>
                    <a:pt x="10534650" y="316357"/>
                    <a:pt x="10534650" y="706628"/>
                  </a:cubicBezTo>
                  <a:lnTo>
                    <a:pt x="10534650" y="3533267"/>
                  </a:lnTo>
                  <a:cubicBezTo>
                    <a:pt x="10534650" y="3923538"/>
                    <a:pt x="10218293" y="4239895"/>
                    <a:pt x="9828022" y="4239895"/>
                  </a:cubicBezTo>
                  <a:lnTo>
                    <a:pt x="706628" y="4239895"/>
                  </a:lnTo>
                  <a:cubicBezTo>
                    <a:pt x="316357" y="4239895"/>
                    <a:pt x="0" y="3923538"/>
                    <a:pt x="0" y="3533267"/>
                  </a:cubicBezTo>
                  <a:close/>
                </a:path>
              </a:pathLst>
            </a:custGeom>
            <a:solidFill>
              <a:srgbClr val="F8FAFC"/>
            </a:solidFill>
            <a:ln w="14288" cap="sq">
              <a:solidFill>
                <a:srgbClr val="94A3B8"/>
              </a:solidFill>
              <a:prstDash val="solid"/>
              <a:miter/>
            </a:ln>
          </p:spPr>
        </p:sp>
        <p:sp>
          <p:nvSpPr>
            <p:cNvPr name="TextBox 9" id="9"/>
            <p:cNvSpPr txBox="true"/>
            <p:nvPr/>
          </p:nvSpPr>
          <p:spPr>
            <a:xfrm>
              <a:off x="0" y="-57150"/>
              <a:ext cx="10534650" cy="4297070"/>
            </a:xfrm>
            <a:prstGeom prst="rect">
              <a:avLst/>
            </a:prstGeom>
          </p:spPr>
          <p:txBody>
            <a:bodyPr anchor="ctr" rtlCol="false" tIns="50800" lIns="50800" bIns="50800" rIns="50800"/>
            <a:lstStyle/>
            <a:p>
              <a:pPr algn="ctr">
                <a:lnSpc>
                  <a:spcPts val="2700"/>
                </a:lnSpc>
              </a:pPr>
              <a:r>
                <a:rPr lang="en-US" sz="2250" b="true">
                  <a:solidFill>
                    <a:srgbClr val="17365D"/>
                  </a:solidFill>
                  <a:latin typeface="Calibri (MS) Bold"/>
                  <a:ea typeface="Calibri (MS) Bold"/>
                  <a:cs typeface="Calibri (MS) Bold"/>
                  <a:sym typeface="Calibri (MS) Bold"/>
                </a:rPr>
                <a:t>Containerized Vehicle Application Layer</a:t>
              </a:r>
            </a:p>
            <a:p>
              <a:pPr algn="l">
                <a:lnSpc>
                  <a:spcPts val="2160"/>
                </a:lnSpc>
              </a:pPr>
              <a:r>
                <a:rPr lang="en-US" sz="1800">
                  <a:solidFill>
                    <a:srgbClr val="334155"/>
                  </a:solidFill>
                  <a:latin typeface="Calibri (MS)"/>
                  <a:ea typeface="Calibri (MS)"/>
                  <a:cs typeface="Calibri (MS)"/>
                  <a:sym typeface="Calibri (MS)"/>
                </a:rPr>
                <a:t>• Velocitas C++/Python SDK: Provides high-level SDK for writing containerized vehicle applications.</a:t>
              </a:r>
            </a:p>
            <a:p>
              <a:pPr algn="l">
                <a:lnSpc>
                  <a:spcPts val="2160"/>
                </a:lnSpc>
              </a:pPr>
              <a:r>
                <a:rPr lang="en-US" sz="1800">
                  <a:solidFill>
                    <a:srgbClr val="334155"/>
                  </a:solidFill>
                  <a:latin typeface="Calibri (MS)"/>
                  <a:ea typeface="Calibri (MS)"/>
                  <a:cs typeface="Calibri (MS)"/>
                  <a:sym typeface="Calibri (MS)"/>
                </a:rPr>
                <a:t>• Telemetry &amp; ADAS Services: Implements real-time speed/steer data processing and obstacle detection.</a:t>
              </a:r>
            </a:p>
            <a:p>
              <a:pPr algn="l">
                <a:lnSpc>
                  <a:spcPts val="2160"/>
                </a:lnSpc>
              </a:pPr>
              <a:r>
                <a:rPr lang="en-US" sz="1800">
                  <a:solidFill>
                    <a:srgbClr val="334155"/>
                  </a:solidFill>
                  <a:latin typeface="Calibri (MS)"/>
                  <a:ea typeface="Calibri (MS)"/>
                  <a:cs typeface="Calibri (MS)"/>
                  <a:sym typeface="Calibri (MS)"/>
                </a:rPr>
                <a:t>• Vehicle Decoupling: Consumes standardized VSS data tree directly from Kuksa Broker.</a:t>
              </a:r>
            </a:p>
          </p:txBody>
        </p:sp>
      </p:grpSp>
      <p:grpSp>
        <p:nvGrpSpPr>
          <p:cNvPr name="Group 10" id="10"/>
          <p:cNvGrpSpPr/>
          <p:nvPr/>
        </p:nvGrpSpPr>
        <p:grpSpPr>
          <a:xfrm rot="0">
            <a:off x="1579797" y="5133613"/>
            <a:ext cx="7900988" cy="3179940"/>
            <a:chOff x="0" y="0"/>
            <a:chExt cx="10534650" cy="4239920"/>
          </a:xfrm>
        </p:grpSpPr>
        <p:sp>
          <p:nvSpPr>
            <p:cNvPr name="Freeform 11" id="11"/>
            <p:cNvSpPr/>
            <p:nvPr/>
          </p:nvSpPr>
          <p:spPr>
            <a:xfrm flipH="false" flipV="false" rot="0">
              <a:off x="0" y="0"/>
              <a:ext cx="10534650" cy="4239895"/>
            </a:xfrm>
            <a:custGeom>
              <a:avLst/>
              <a:gdLst/>
              <a:ahLst/>
              <a:cxnLst/>
              <a:rect r="r" b="b" t="t" l="l"/>
              <a:pathLst>
                <a:path h="4239895" w="10534650">
                  <a:moveTo>
                    <a:pt x="0" y="706628"/>
                  </a:moveTo>
                  <a:cubicBezTo>
                    <a:pt x="0" y="316357"/>
                    <a:pt x="316357" y="0"/>
                    <a:pt x="706628" y="0"/>
                  </a:cubicBezTo>
                  <a:lnTo>
                    <a:pt x="9828022" y="0"/>
                  </a:lnTo>
                  <a:cubicBezTo>
                    <a:pt x="10218293" y="0"/>
                    <a:pt x="10534650" y="316357"/>
                    <a:pt x="10534650" y="706628"/>
                  </a:cubicBezTo>
                  <a:lnTo>
                    <a:pt x="10534650" y="3533267"/>
                  </a:lnTo>
                  <a:cubicBezTo>
                    <a:pt x="10534650" y="3923538"/>
                    <a:pt x="10218293" y="4239895"/>
                    <a:pt x="9828022" y="4239895"/>
                  </a:cubicBezTo>
                  <a:lnTo>
                    <a:pt x="706628" y="4239895"/>
                  </a:lnTo>
                  <a:cubicBezTo>
                    <a:pt x="316357" y="4239895"/>
                    <a:pt x="0" y="3923538"/>
                    <a:pt x="0" y="3533267"/>
                  </a:cubicBezTo>
                  <a:close/>
                </a:path>
              </a:pathLst>
            </a:custGeom>
            <a:solidFill>
              <a:srgbClr val="F8FAFC"/>
            </a:solidFill>
            <a:ln w="14288" cap="sq">
              <a:solidFill>
                <a:srgbClr val="94A3B8"/>
              </a:solidFill>
              <a:prstDash val="solid"/>
              <a:miter/>
            </a:ln>
          </p:spPr>
        </p:sp>
        <p:sp>
          <p:nvSpPr>
            <p:cNvPr name="TextBox 12" id="12"/>
            <p:cNvSpPr txBox="true"/>
            <p:nvPr/>
          </p:nvSpPr>
          <p:spPr>
            <a:xfrm>
              <a:off x="0" y="-57150"/>
              <a:ext cx="10534650" cy="4297070"/>
            </a:xfrm>
            <a:prstGeom prst="rect">
              <a:avLst/>
            </a:prstGeom>
          </p:spPr>
          <p:txBody>
            <a:bodyPr anchor="ctr" rtlCol="false" tIns="50800" lIns="50800" bIns="50800" rIns="50800"/>
            <a:lstStyle/>
            <a:p>
              <a:pPr algn="ctr">
                <a:lnSpc>
                  <a:spcPts val="2700"/>
                </a:lnSpc>
              </a:pPr>
              <a:r>
                <a:rPr lang="en-US" sz="2250" b="true">
                  <a:solidFill>
                    <a:srgbClr val="17365D"/>
                  </a:solidFill>
                  <a:latin typeface="Calibri (MS) Bold"/>
                  <a:ea typeface="Calibri (MS) Bold"/>
                  <a:cs typeface="Calibri (MS) Bold"/>
                  <a:sym typeface="Calibri (MS) Bold"/>
                </a:rPr>
                <a:t>Publish/Subscribe Telemetry Pipeline</a:t>
              </a:r>
            </a:p>
            <a:p>
              <a:pPr algn="l">
                <a:lnSpc>
                  <a:spcPts val="2160"/>
                </a:lnSpc>
              </a:pPr>
              <a:r>
                <a:rPr lang="en-US" sz="1800">
                  <a:solidFill>
                    <a:srgbClr val="334155"/>
                  </a:solidFill>
                  <a:latin typeface="Calibri (MS)"/>
                  <a:ea typeface="Calibri (MS)"/>
                  <a:cs typeface="Calibri (MS)"/>
                  <a:sym typeface="Calibri (MS)"/>
                </a:rPr>
                <a:t>• Eclipse Zenoh Middleware: Zero-overhead pub/sub protocol enabling ultra-low-latency IPC communication.</a:t>
              </a:r>
            </a:p>
            <a:p>
              <a:pPr algn="l">
                <a:lnSpc>
                  <a:spcPts val="2160"/>
                </a:lnSpc>
              </a:pPr>
              <a:r>
                <a:rPr lang="en-US" sz="1800">
                  <a:solidFill>
                    <a:srgbClr val="334155"/>
                  </a:solidFill>
                  <a:latin typeface="Calibri (MS)"/>
                  <a:ea typeface="Calibri (MS)"/>
                  <a:cs typeface="Calibri (MS)"/>
                  <a:sym typeface="Calibri (MS)"/>
                </a:rPr>
                <a:t>• Cloud &amp; Dashboard Sync: Syncs vehicle operational state to local Dashboard UI and remote cloud services.</a:t>
              </a:r>
            </a:p>
            <a:p>
              <a:pPr algn="l">
                <a:lnSpc>
                  <a:spcPts val="2160"/>
                </a:lnSpc>
              </a:pPr>
              <a:r>
                <a:rPr lang="en-US" sz="1800">
                  <a:solidFill>
                    <a:srgbClr val="334155"/>
                  </a:solidFill>
                  <a:latin typeface="Calibri (MS)"/>
                  <a:ea typeface="Calibri (MS)"/>
                  <a:cs typeface="Calibri (MS)"/>
                  <a:sym typeface="Calibri (MS)"/>
                </a:rPr>
                <a:t>• Companion Command Receiver: Listens for remote lock/unlock commands via MQTT/Zenoh messaging.</a:t>
              </a:r>
            </a:p>
          </p:txBody>
        </p:sp>
      </p:grpSp>
      <p:sp>
        <p:nvSpPr>
          <p:cNvPr name="TextBox 13" id="13"/>
          <p:cNvSpPr txBox="true"/>
          <p:nvPr/>
        </p:nvSpPr>
        <p:spPr>
          <a:xfrm rot="0">
            <a:off x="1051560" y="8437474"/>
            <a:ext cx="16002000" cy="495300"/>
          </a:xfrm>
          <a:prstGeom prst="rect">
            <a:avLst/>
          </a:prstGeom>
        </p:spPr>
        <p:txBody>
          <a:bodyPr anchor="t" rtlCol="false" tIns="0" lIns="0" bIns="0" rIns="0">
            <a:spAutoFit/>
          </a:bodyPr>
          <a:lstStyle/>
          <a:p>
            <a:pPr algn="l">
              <a:lnSpc>
                <a:spcPts val="2070"/>
              </a:lnSpc>
            </a:pPr>
            <a:r>
              <a:rPr lang="en-US" sz="1725" b="true">
                <a:solidFill>
                  <a:srgbClr val="E11D48"/>
                </a:solidFill>
                <a:latin typeface="Calibri (MS) Bold"/>
                <a:ea typeface="Calibri (MS) Bold"/>
                <a:cs typeface="Calibri (MS) Bold"/>
                <a:sym typeface="Calibri (MS) Bold"/>
              </a:rPr>
              <a:t>SYSTEM SETUP HIGHLIGHT: Demonstrates interaction across Vehicle Applications, Vehicle Data, and Communication layers.</a:t>
            </a:r>
          </a:p>
        </p:txBody>
      </p:sp>
      <p:grpSp>
        <p:nvGrpSpPr>
          <p:cNvPr name="Group 14" id="14"/>
          <p:cNvGrpSpPr/>
          <p:nvPr/>
        </p:nvGrpSpPr>
        <p:grpSpPr>
          <a:xfrm rot="0">
            <a:off x="10318623" y="1599362"/>
            <a:ext cx="7384542" cy="865327"/>
            <a:chOff x="0" y="0"/>
            <a:chExt cx="9846056" cy="1153770"/>
          </a:xfrm>
        </p:grpSpPr>
        <p:sp>
          <p:nvSpPr>
            <p:cNvPr name="Freeform 15" id="15"/>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16" id="16"/>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OTA / CLOUD   </a:t>
              </a:r>
              <a:r>
                <a:rPr lang="en-US" sz="1950">
                  <a:solidFill>
                    <a:srgbClr val="94A3B8"/>
                  </a:solidFill>
                  <a:latin typeface="Arial"/>
                  <a:ea typeface="Arial"/>
                  <a:cs typeface="Arial"/>
                  <a:sym typeface="Arial"/>
                </a:rPr>
                <a:t>➜   SDV Blueprints  |  OTA Control Plane  |  Fleet Telemetry Services  |  Container Registry</a:t>
              </a:r>
            </a:p>
          </p:txBody>
        </p:sp>
      </p:grpSp>
      <p:grpSp>
        <p:nvGrpSpPr>
          <p:cNvPr name="Group 17" id="17"/>
          <p:cNvGrpSpPr/>
          <p:nvPr/>
        </p:nvGrpSpPr>
        <p:grpSpPr>
          <a:xfrm rot="0">
            <a:off x="10318623" y="2541651"/>
            <a:ext cx="7384542" cy="865327"/>
            <a:chOff x="0" y="0"/>
            <a:chExt cx="9846056" cy="1153770"/>
          </a:xfrm>
        </p:grpSpPr>
        <p:sp>
          <p:nvSpPr>
            <p:cNvPr name="Freeform 18" id="18"/>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19" id="19"/>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VEHICLE RUNTIME   </a:t>
              </a:r>
              <a:r>
                <a:rPr lang="en-US" sz="1950">
                  <a:solidFill>
                    <a:srgbClr val="94A3B8"/>
                  </a:solidFill>
                  <a:latin typeface="Arial"/>
                  <a:ea typeface="Arial"/>
                  <a:cs typeface="Arial"/>
                  <a:sym typeface="Arial"/>
                </a:rPr>
                <a:t>➜   Eclipse Leda Platform  |  Eclipse Kanto (Container Engine)  |  Eclipse Ankaios (Orchestrator)</a:t>
              </a:r>
            </a:p>
          </p:txBody>
        </p:sp>
      </p:grpSp>
      <p:grpSp>
        <p:nvGrpSpPr>
          <p:cNvPr name="Group 20" id="20"/>
          <p:cNvGrpSpPr/>
          <p:nvPr/>
        </p:nvGrpSpPr>
        <p:grpSpPr>
          <a:xfrm rot="0">
            <a:off x="10309098" y="3474415"/>
            <a:ext cx="7403592" cy="884377"/>
            <a:chOff x="0" y="0"/>
            <a:chExt cx="9871456" cy="1179170"/>
          </a:xfrm>
        </p:grpSpPr>
        <p:sp>
          <p:nvSpPr>
            <p:cNvPr name="Freeform 21" id="21"/>
            <p:cNvSpPr/>
            <p:nvPr/>
          </p:nvSpPr>
          <p:spPr>
            <a:xfrm flipH="false" flipV="false" rot="0">
              <a:off x="0" y="0"/>
              <a:ext cx="9871456" cy="1179068"/>
            </a:xfrm>
            <a:custGeom>
              <a:avLst/>
              <a:gdLst/>
              <a:ahLst/>
              <a:cxnLst/>
              <a:rect r="r" b="b" t="t" l="l"/>
              <a:pathLst>
                <a:path h="1179068" w="9871456">
                  <a:moveTo>
                    <a:pt x="0" y="196469"/>
                  </a:moveTo>
                  <a:cubicBezTo>
                    <a:pt x="0" y="88011"/>
                    <a:pt x="88011" y="0"/>
                    <a:pt x="196469" y="0"/>
                  </a:cubicBezTo>
                  <a:lnTo>
                    <a:pt x="9674987" y="0"/>
                  </a:lnTo>
                  <a:cubicBezTo>
                    <a:pt x="9783572" y="0"/>
                    <a:pt x="9871456" y="88011"/>
                    <a:pt x="9871456" y="196469"/>
                  </a:cubicBezTo>
                  <a:lnTo>
                    <a:pt x="9871456" y="982599"/>
                  </a:lnTo>
                  <a:cubicBezTo>
                    <a:pt x="9871456" y="1091184"/>
                    <a:pt x="9783445" y="1179068"/>
                    <a:pt x="9674987" y="1179068"/>
                  </a:cubicBezTo>
                  <a:lnTo>
                    <a:pt x="196469" y="1179068"/>
                  </a:lnTo>
                  <a:cubicBezTo>
                    <a:pt x="88011" y="1179195"/>
                    <a:pt x="0" y="1091184"/>
                    <a:pt x="0" y="982599"/>
                  </a:cubicBezTo>
                  <a:close/>
                </a:path>
              </a:pathLst>
            </a:custGeom>
            <a:solidFill>
              <a:srgbClr val="F8FAFC"/>
            </a:solidFill>
            <a:ln w="38100" cap="sq">
              <a:solidFill>
                <a:srgbClr val="7C3AED"/>
              </a:solidFill>
              <a:prstDash val="solid"/>
              <a:miter/>
            </a:ln>
          </p:spPr>
        </p:sp>
        <p:sp>
          <p:nvSpPr>
            <p:cNvPr name="TextBox 22" id="22"/>
            <p:cNvSpPr txBox="true"/>
            <p:nvPr/>
          </p:nvSpPr>
          <p:spPr>
            <a:xfrm>
              <a:off x="0" y="-19050"/>
              <a:ext cx="9871456" cy="1198220"/>
            </a:xfrm>
            <a:prstGeom prst="rect">
              <a:avLst/>
            </a:prstGeom>
          </p:spPr>
          <p:txBody>
            <a:bodyPr anchor="ctr" rtlCol="false" tIns="50800" lIns="50800" bIns="50800" rIns="50800"/>
            <a:lstStyle/>
            <a:p>
              <a:pPr algn="ctr">
                <a:lnSpc>
                  <a:spcPts val="2340"/>
                </a:lnSpc>
              </a:pPr>
              <a:r>
                <a:rPr lang="en-US" sz="1950" b="true">
                  <a:solidFill>
                    <a:srgbClr val="7C3AED"/>
                  </a:solidFill>
                  <a:latin typeface="Arial Bold"/>
                  <a:ea typeface="Arial Bold"/>
                  <a:cs typeface="Arial Bold"/>
                  <a:sym typeface="Arial Bold"/>
                </a:rPr>
                <a:t>VEHICLE APPLICATIONS   </a:t>
              </a:r>
              <a:r>
                <a:rPr lang="en-US" sz="1950" b="true">
                  <a:solidFill>
                    <a:srgbClr val="334155"/>
                  </a:solidFill>
                  <a:latin typeface="Arial Bold"/>
                  <a:ea typeface="Arial Bold"/>
                  <a:cs typeface="Arial Bold"/>
                  <a:sym typeface="Arial Bold"/>
                </a:rPr>
                <a:t>➜   Eclipse Velocitas (App SDK)  |  Vehicle Telemetry App  |  ADAS Service App</a:t>
              </a:r>
            </a:p>
          </p:txBody>
        </p:sp>
      </p:grpSp>
      <p:grpSp>
        <p:nvGrpSpPr>
          <p:cNvPr name="Group 23" id="23"/>
          <p:cNvGrpSpPr/>
          <p:nvPr/>
        </p:nvGrpSpPr>
        <p:grpSpPr>
          <a:xfrm rot="0">
            <a:off x="10309098" y="4416704"/>
            <a:ext cx="7403592" cy="884377"/>
            <a:chOff x="0" y="0"/>
            <a:chExt cx="9871456" cy="1179170"/>
          </a:xfrm>
        </p:grpSpPr>
        <p:sp>
          <p:nvSpPr>
            <p:cNvPr name="Freeform 24" id="24"/>
            <p:cNvSpPr/>
            <p:nvPr/>
          </p:nvSpPr>
          <p:spPr>
            <a:xfrm flipH="false" flipV="false" rot="0">
              <a:off x="0" y="0"/>
              <a:ext cx="9871456" cy="1179068"/>
            </a:xfrm>
            <a:custGeom>
              <a:avLst/>
              <a:gdLst/>
              <a:ahLst/>
              <a:cxnLst/>
              <a:rect r="r" b="b" t="t" l="l"/>
              <a:pathLst>
                <a:path h="1179068" w="9871456">
                  <a:moveTo>
                    <a:pt x="0" y="196469"/>
                  </a:moveTo>
                  <a:cubicBezTo>
                    <a:pt x="0" y="88011"/>
                    <a:pt x="88011" y="0"/>
                    <a:pt x="196469" y="0"/>
                  </a:cubicBezTo>
                  <a:lnTo>
                    <a:pt x="9674987" y="0"/>
                  </a:lnTo>
                  <a:cubicBezTo>
                    <a:pt x="9783572" y="0"/>
                    <a:pt x="9871456" y="88011"/>
                    <a:pt x="9871456" y="196469"/>
                  </a:cubicBezTo>
                  <a:lnTo>
                    <a:pt x="9871456" y="982599"/>
                  </a:lnTo>
                  <a:cubicBezTo>
                    <a:pt x="9871456" y="1091184"/>
                    <a:pt x="9783445" y="1179068"/>
                    <a:pt x="9674987" y="1179068"/>
                  </a:cubicBezTo>
                  <a:lnTo>
                    <a:pt x="196469" y="1179068"/>
                  </a:lnTo>
                  <a:cubicBezTo>
                    <a:pt x="88011" y="1179195"/>
                    <a:pt x="0" y="1091184"/>
                    <a:pt x="0" y="982599"/>
                  </a:cubicBezTo>
                  <a:close/>
                </a:path>
              </a:pathLst>
            </a:custGeom>
            <a:solidFill>
              <a:srgbClr val="F8FAFC"/>
            </a:solidFill>
            <a:ln w="38100" cap="sq">
              <a:solidFill>
                <a:srgbClr val="0284C7"/>
              </a:solidFill>
              <a:prstDash val="solid"/>
              <a:miter/>
            </a:ln>
          </p:spPr>
        </p:sp>
        <p:sp>
          <p:nvSpPr>
            <p:cNvPr name="TextBox 25" id="25"/>
            <p:cNvSpPr txBox="true"/>
            <p:nvPr/>
          </p:nvSpPr>
          <p:spPr>
            <a:xfrm>
              <a:off x="0" y="-19050"/>
              <a:ext cx="9871456" cy="1198220"/>
            </a:xfrm>
            <a:prstGeom prst="rect">
              <a:avLst/>
            </a:prstGeom>
          </p:spPr>
          <p:txBody>
            <a:bodyPr anchor="ctr" rtlCol="false" tIns="50800" lIns="50800" bIns="50800" rIns="50800"/>
            <a:lstStyle/>
            <a:p>
              <a:pPr algn="ctr">
                <a:lnSpc>
                  <a:spcPts val="2340"/>
                </a:lnSpc>
              </a:pPr>
              <a:r>
                <a:rPr lang="en-US" sz="1950" b="true">
                  <a:solidFill>
                    <a:srgbClr val="0284C7"/>
                  </a:solidFill>
                  <a:latin typeface="Arial Bold"/>
                  <a:ea typeface="Arial Bold"/>
                  <a:cs typeface="Arial Bold"/>
                  <a:sym typeface="Arial Bold"/>
                </a:rPr>
                <a:t>VEHICLE DATA   </a:t>
              </a:r>
              <a:r>
                <a:rPr lang="en-US" sz="1950" b="true">
                  <a:solidFill>
                    <a:srgbClr val="334155"/>
                  </a:solidFill>
                  <a:latin typeface="Arial Bold"/>
                  <a:ea typeface="Arial Bold"/>
                  <a:cs typeface="Arial Bold"/>
                  <a:sym typeface="Arial Bold"/>
                </a:rPr>
                <a:t>➜   Eclipse Kuksa (Signal Broker)  |  COVESA VSS v4.0 Standard Taxonomy</a:t>
              </a:r>
            </a:p>
          </p:txBody>
        </p:sp>
      </p:grpSp>
      <p:grpSp>
        <p:nvGrpSpPr>
          <p:cNvPr name="Group 26" id="26"/>
          <p:cNvGrpSpPr/>
          <p:nvPr/>
        </p:nvGrpSpPr>
        <p:grpSpPr>
          <a:xfrm rot="0">
            <a:off x="10309098" y="5358994"/>
            <a:ext cx="7403592" cy="884377"/>
            <a:chOff x="0" y="0"/>
            <a:chExt cx="9871456" cy="1179170"/>
          </a:xfrm>
        </p:grpSpPr>
        <p:sp>
          <p:nvSpPr>
            <p:cNvPr name="Freeform 27" id="27"/>
            <p:cNvSpPr/>
            <p:nvPr/>
          </p:nvSpPr>
          <p:spPr>
            <a:xfrm flipH="false" flipV="false" rot="0">
              <a:off x="0" y="0"/>
              <a:ext cx="9871456" cy="1179068"/>
            </a:xfrm>
            <a:custGeom>
              <a:avLst/>
              <a:gdLst/>
              <a:ahLst/>
              <a:cxnLst/>
              <a:rect r="r" b="b" t="t" l="l"/>
              <a:pathLst>
                <a:path h="1179068" w="9871456">
                  <a:moveTo>
                    <a:pt x="0" y="196469"/>
                  </a:moveTo>
                  <a:cubicBezTo>
                    <a:pt x="0" y="88011"/>
                    <a:pt x="88011" y="0"/>
                    <a:pt x="196469" y="0"/>
                  </a:cubicBezTo>
                  <a:lnTo>
                    <a:pt x="9674987" y="0"/>
                  </a:lnTo>
                  <a:cubicBezTo>
                    <a:pt x="9783572" y="0"/>
                    <a:pt x="9871456" y="88011"/>
                    <a:pt x="9871456" y="196469"/>
                  </a:cubicBezTo>
                  <a:lnTo>
                    <a:pt x="9871456" y="982599"/>
                  </a:lnTo>
                  <a:cubicBezTo>
                    <a:pt x="9871456" y="1091184"/>
                    <a:pt x="9783445" y="1179068"/>
                    <a:pt x="9674987" y="1179068"/>
                  </a:cubicBezTo>
                  <a:lnTo>
                    <a:pt x="196469" y="1179068"/>
                  </a:lnTo>
                  <a:cubicBezTo>
                    <a:pt x="88011" y="1179195"/>
                    <a:pt x="0" y="1091184"/>
                    <a:pt x="0" y="982599"/>
                  </a:cubicBezTo>
                  <a:close/>
                </a:path>
              </a:pathLst>
            </a:custGeom>
            <a:solidFill>
              <a:srgbClr val="F8FAFC"/>
            </a:solidFill>
            <a:ln w="38100" cap="sq">
              <a:solidFill>
                <a:srgbClr val="EA580C"/>
              </a:solidFill>
              <a:prstDash val="solid"/>
              <a:miter/>
            </a:ln>
          </p:spPr>
        </p:sp>
        <p:sp>
          <p:nvSpPr>
            <p:cNvPr name="TextBox 28" id="28"/>
            <p:cNvSpPr txBox="true"/>
            <p:nvPr/>
          </p:nvSpPr>
          <p:spPr>
            <a:xfrm>
              <a:off x="0" y="-19050"/>
              <a:ext cx="9871456" cy="1198220"/>
            </a:xfrm>
            <a:prstGeom prst="rect">
              <a:avLst/>
            </a:prstGeom>
          </p:spPr>
          <p:txBody>
            <a:bodyPr anchor="ctr" rtlCol="false" tIns="50800" lIns="50800" bIns="50800" rIns="50800"/>
            <a:lstStyle/>
            <a:p>
              <a:pPr algn="ctr">
                <a:lnSpc>
                  <a:spcPts val="2340"/>
                </a:lnSpc>
              </a:pPr>
              <a:r>
                <a:rPr lang="en-US" sz="1950" b="true">
                  <a:solidFill>
                    <a:srgbClr val="EA580C"/>
                  </a:solidFill>
                  <a:latin typeface="Arial Bold"/>
                  <a:ea typeface="Arial Bold"/>
                  <a:cs typeface="Arial Bold"/>
                  <a:sym typeface="Arial Bold"/>
                </a:rPr>
                <a:t>COMMUNICATION   </a:t>
              </a:r>
              <a:r>
                <a:rPr lang="en-US" sz="1950" b="true">
                  <a:solidFill>
                    <a:srgbClr val="334155"/>
                  </a:solidFill>
                  <a:latin typeface="Arial Bold"/>
                  <a:ea typeface="Arial Bold"/>
                  <a:cs typeface="Arial Bold"/>
                  <a:sym typeface="Arial Bold"/>
                </a:rPr>
                <a:t>➜   Eclipse Zenoh (Low-Latency Pub/Sub)  |  uProtocol Transport Layer</a:t>
              </a:r>
            </a:p>
          </p:txBody>
        </p:sp>
      </p:grpSp>
      <p:grpSp>
        <p:nvGrpSpPr>
          <p:cNvPr name="Group 29" id="29"/>
          <p:cNvGrpSpPr/>
          <p:nvPr/>
        </p:nvGrpSpPr>
        <p:grpSpPr>
          <a:xfrm rot="0">
            <a:off x="10318623" y="6310808"/>
            <a:ext cx="7384542" cy="865327"/>
            <a:chOff x="0" y="0"/>
            <a:chExt cx="9846056" cy="1153770"/>
          </a:xfrm>
        </p:grpSpPr>
        <p:sp>
          <p:nvSpPr>
            <p:cNvPr name="Freeform 30" id="30"/>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31" id="31"/>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VEHICLE ABSTRACTION   </a:t>
              </a:r>
              <a:r>
                <a:rPr lang="en-US" sz="1950">
                  <a:solidFill>
                    <a:srgbClr val="94A3B8"/>
                  </a:solidFill>
                  <a:latin typeface="Arial"/>
                  <a:ea typeface="Arial"/>
                  <a:cs typeface="Arial"/>
                  <a:sym typeface="Arial"/>
                </a:rPr>
                <a:t>➜   Lab Skateboard Vehicle Profile  |  VSS Overlay  |  Lab Skateboard Vehicle Adapter (DBC / CAN)</a:t>
              </a:r>
            </a:p>
          </p:txBody>
        </p:sp>
      </p:grpSp>
      <p:grpSp>
        <p:nvGrpSpPr>
          <p:cNvPr name="Group 32" id="32"/>
          <p:cNvGrpSpPr/>
          <p:nvPr/>
        </p:nvGrpSpPr>
        <p:grpSpPr>
          <a:xfrm rot="0">
            <a:off x="10318623" y="7253097"/>
            <a:ext cx="7384542" cy="865327"/>
            <a:chOff x="0" y="0"/>
            <a:chExt cx="9846056" cy="1153770"/>
          </a:xfrm>
        </p:grpSpPr>
        <p:sp>
          <p:nvSpPr>
            <p:cNvPr name="Freeform 33" id="33"/>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34" id="34"/>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Lab Skateboard DBW ACTUATION   </a:t>
              </a:r>
              <a:r>
                <a:rPr lang="en-US" sz="1950">
                  <a:solidFill>
                    <a:srgbClr val="94A3B8"/>
                  </a:solidFill>
                  <a:latin typeface="Arial"/>
                  <a:ea typeface="Arial"/>
                  <a:cs typeface="Arial"/>
                  <a:sym typeface="Arial"/>
                </a:rPr>
                <a:t>➜   CAN 2.0B Bus (0x1228 Request / 0x1291 Status) ➔ Actuators &amp; ECUs</a:t>
              </a:r>
            </a:p>
          </p:txBody>
        </p:sp>
      </p:grpSp>
      <p:grpSp>
        <p:nvGrpSpPr>
          <p:cNvPr name="Group 35" id="35"/>
          <p:cNvGrpSpPr/>
          <p:nvPr/>
        </p:nvGrpSpPr>
        <p:grpSpPr>
          <a:xfrm rot="0">
            <a:off x="754380" y="9669780"/>
            <a:ext cx="16733520" cy="13716"/>
            <a:chOff x="0" y="0"/>
            <a:chExt cx="22311360" cy="18288"/>
          </a:xfrm>
        </p:grpSpPr>
        <p:sp>
          <p:nvSpPr>
            <p:cNvPr name="Freeform 36" id="36"/>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1292047"/>
            <a:chOff x="0" y="0"/>
            <a:chExt cx="24383390" cy="1722730"/>
          </a:xfrm>
        </p:grpSpPr>
        <p:sp>
          <p:nvSpPr>
            <p:cNvPr name="Freeform 3" id="3"/>
            <p:cNvSpPr/>
            <p:nvPr/>
          </p:nvSpPr>
          <p:spPr>
            <a:xfrm flipH="false" flipV="false" rot="0">
              <a:off x="0" y="0"/>
              <a:ext cx="24383364" cy="1722755"/>
            </a:xfrm>
            <a:custGeom>
              <a:avLst/>
              <a:gdLst/>
              <a:ahLst/>
              <a:cxnLst/>
              <a:rect r="r" b="b" t="t" l="l"/>
              <a:pathLst>
                <a:path h="1722755" w="24383364">
                  <a:moveTo>
                    <a:pt x="0" y="0"/>
                  </a:moveTo>
                  <a:lnTo>
                    <a:pt x="24383364" y="0"/>
                  </a:lnTo>
                  <a:lnTo>
                    <a:pt x="24383364" y="1722755"/>
                  </a:lnTo>
                  <a:lnTo>
                    <a:pt x="0" y="1722755"/>
                  </a:lnTo>
                  <a:close/>
                </a:path>
              </a:pathLst>
            </a:custGeom>
            <a:solidFill>
              <a:srgbClr val="17365D"/>
            </a:solidFill>
          </p:spPr>
        </p:sp>
      </p:grpSp>
      <p:sp>
        <p:nvSpPr>
          <p:cNvPr name="TextBox 4" id="4"/>
          <p:cNvSpPr txBox="true"/>
          <p:nvPr/>
        </p:nvSpPr>
        <p:spPr>
          <a:xfrm rot="0">
            <a:off x="312268" y="-1905"/>
            <a:ext cx="9934042" cy="517169"/>
          </a:xfrm>
          <a:prstGeom prst="rect">
            <a:avLst/>
          </a:prstGeom>
        </p:spPr>
        <p:txBody>
          <a:bodyPr anchor="t" rtlCol="false" tIns="0" lIns="0" bIns="0" rIns="0">
            <a:spAutoFit/>
          </a:bodyPr>
          <a:lstStyle/>
          <a:p>
            <a:pPr algn="l">
              <a:lnSpc>
                <a:spcPts val="2340"/>
              </a:lnSpc>
            </a:pPr>
            <a:r>
              <a:rPr lang="en-US" sz="1950" b="true">
                <a:solidFill>
                  <a:srgbClr val="FFFFFF"/>
                </a:solidFill>
                <a:latin typeface="Calibri (MS) Bold"/>
                <a:ea typeface="Calibri (MS) Bold"/>
                <a:cs typeface="Calibri (MS) Bold"/>
                <a:sym typeface="Calibri (MS) Bold"/>
              </a:rPr>
              <a:t>| SYSTEM SETUP</a:t>
            </a:r>
          </a:p>
        </p:txBody>
      </p:sp>
      <p:sp>
        <p:nvSpPr>
          <p:cNvPr name="TextBox 5" id="5"/>
          <p:cNvSpPr txBox="true"/>
          <p:nvPr/>
        </p:nvSpPr>
        <p:spPr>
          <a:xfrm rot="0">
            <a:off x="845820" y="637413"/>
            <a:ext cx="13807440" cy="455295"/>
          </a:xfrm>
          <a:prstGeom prst="rect">
            <a:avLst/>
          </a:prstGeom>
        </p:spPr>
        <p:txBody>
          <a:bodyPr anchor="t" rtlCol="false" tIns="0" lIns="0" bIns="0" rIns="0">
            <a:spAutoFit/>
          </a:bodyPr>
          <a:lstStyle/>
          <a:p>
            <a:pPr algn="l">
              <a:lnSpc>
                <a:spcPts val="3960"/>
              </a:lnSpc>
            </a:pPr>
            <a:r>
              <a:rPr lang="en-US" sz="3300" b="true">
                <a:solidFill>
                  <a:srgbClr val="FFFFFF"/>
                </a:solidFill>
                <a:latin typeface="Calibri (MS) Bold"/>
                <a:ea typeface="Calibri (MS) Bold"/>
                <a:cs typeface="Calibri (MS) Bold"/>
                <a:sym typeface="Calibri (MS) Bold"/>
              </a:rPr>
              <a:t>Workload Orchestration &amp; Edge Runtime Subsystem</a:t>
            </a:r>
          </a:p>
        </p:txBody>
      </p:sp>
      <p:sp>
        <p:nvSpPr>
          <p:cNvPr name="TextBox 6" id="6"/>
          <p:cNvSpPr txBox="true"/>
          <p:nvPr/>
        </p:nvSpPr>
        <p:spPr>
          <a:xfrm rot="0">
            <a:off x="15076170" y="656463"/>
            <a:ext cx="2532888" cy="299085"/>
          </a:xfrm>
          <a:prstGeom prst="rect">
            <a:avLst/>
          </a:prstGeom>
        </p:spPr>
        <p:txBody>
          <a:bodyPr anchor="t" rtlCol="false" tIns="0" lIns="0" bIns="0" rIns="0">
            <a:spAutoFit/>
          </a:bodyPr>
          <a:lstStyle/>
          <a:p>
            <a:pPr algn="l">
              <a:lnSpc>
                <a:spcPts val="2340"/>
              </a:lnSpc>
            </a:pPr>
            <a:r>
              <a:rPr lang="en-US" sz="1950" b="true">
                <a:solidFill>
                  <a:srgbClr val="FFFFFF"/>
                </a:solidFill>
                <a:latin typeface="Calibri (MS) Bold"/>
                <a:ea typeface="Calibri (MS) Bold"/>
                <a:cs typeface="Calibri (MS) Bold"/>
                <a:sym typeface="Calibri (MS) Bold"/>
              </a:rPr>
              <a:t>ORCHESTRATION</a:t>
            </a:r>
          </a:p>
        </p:txBody>
      </p:sp>
      <p:grpSp>
        <p:nvGrpSpPr>
          <p:cNvPr name="Group 7" id="7"/>
          <p:cNvGrpSpPr/>
          <p:nvPr/>
        </p:nvGrpSpPr>
        <p:grpSpPr>
          <a:xfrm rot="0">
            <a:off x="1579797" y="1626432"/>
            <a:ext cx="7900988" cy="3179940"/>
            <a:chOff x="0" y="0"/>
            <a:chExt cx="10534650" cy="4239920"/>
          </a:xfrm>
        </p:grpSpPr>
        <p:sp>
          <p:nvSpPr>
            <p:cNvPr name="Freeform 8" id="8"/>
            <p:cNvSpPr/>
            <p:nvPr/>
          </p:nvSpPr>
          <p:spPr>
            <a:xfrm flipH="false" flipV="false" rot="0">
              <a:off x="0" y="0"/>
              <a:ext cx="10534650" cy="4239895"/>
            </a:xfrm>
            <a:custGeom>
              <a:avLst/>
              <a:gdLst/>
              <a:ahLst/>
              <a:cxnLst/>
              <a:rect r="r" b="b" t="t" l="l"/>
              <a:pathLst>
                <a:path h="4239895" w="10534650">
                  <a:moveTo>
                    <a:pt x="0" y="706628"/>
                  </a:moveTo>
                  <a:cubicBezTo>
                    <a:pt x="0" y="316357"/>
                    <a:pt x="316357" y="0"/>
                    <a:pt x="706628" y="0"/>
                  </a:cubicBezTo>
                  <a:lnTo>
                    <a:pt x="9828022" y="0"/>
                  </a:lnTo>
                  <a:cubicBezTo>
                    <a:pt x="10218293" y="0"/>
                    <a:pt x="10534650" y="316357"/>
                    <a:pt x="10534650" y="706628"/>
                  </a:cubicBezTo>
                  <a:lnTo>
                    <a:pt x="10534650" y="3533267"/>
                  </a:lnTo>
                  <a:cubicBezTo>
                    <a:pt x="10534650" y="3923538"/>
                    <a:pt x="10218293" y="4239895"/>
                    <a:pt x="9828022" y="4239895"/>
                  </a:cubicBezTo>
                  <a:lnTo>
                    <a:pt x="706628" y="4239895"/>
                  </a:lnTo>
                  <a:cubicBezTo>
                    <a:pt x="316357" y="4239895"/>
                    <a:pt x="0" y="3923538"/>
                    <a:pt x="0" y="3533267"/>
                  </a:cubicBezTo>
                  <a:close/>
                </a:path>
              </a:pathLst>
            </a:custGeom>
            <a:solidFill>
              <a:srgbClr val="F8FAFC"/>
            </a:solidFill>
            <a:ln w="14288" cap="sq">
              <a:solidFill>
                <a:srgbClr val="94A3B8"/>
              </a:solidFill>
              <a:prstDash val="solid"/>
              <a:miter/>
            </a:ln>
          </p:spPr>
        </p:sp>
        <p:sp>
          <p:nvSpPr>
            <p:cNvPr name="TextBox 9" id="9"/>
            <p:cNvSpPr txBox="true"/>
            <p:nvPr/>
          </p:nvSpPr>
          <p:spPr>
            <a:xfrm>
              <a:off x="0" y="-57150"/>
              <a:ext cx="10534650" cy="4297070"/>
            </a:xfrm>
            <a:prstGeom prst="rect">
              <a:avLst/>
            </a:prstGeom>
          </p:spPr>
          <p:txBody>
            <a:bodyPr anchor="ctr" rtlCol="false" tIns="50800" lIns="50800" bIns="50800" rIns="50800"/>
            <a:lstStyle/>
            <a:p>
              <a:pPr algn="ctr">
                <a:lnSpc>
                  <a:spcPts val="2700"/>
                </a:lnSpc>
              </a:pPr>
              <a:r>
                <a:rPr lang="en-US" sz="2250" b="true">
                  <a:solidFill>
                    <a:srgbClr val="17365D"/>
                  </a:solidFill>
                  <a:latin typeface="Calibri (MS) Bold"/>
                  <a:ea typeface="Calibri (MS) Bold"/>
                  <a:cs typeface="Calibri (MS) Bold"/>
                  <a:sym typeface="Calibri (MS) Bold"/>
                </a:rPr>
                <a:t>Pre-Integrated Vehicle Linux Distribution</a:t>
              </a:r>
            </a:p>
            <a:p>
              <a:pPr algn="l">
                <a:lnSpc>
                  <a:spcPts val="2160"/>
                </a:lnSpc>
              </a:pPr>
              <a:r>
                <a:rPr lang="en-US" sz="1800">
                  <a:solidFill>
                    <a:srgbClr val="334155"/>
                  </a:solidFill>
                  <a:latin typeface="Calibri (MS)"/>
                  <a:ea typeface="Calibri (MS)"/>
                  <a:cs typeface="Calibri (MS)"/>
                  <a:sym typeface="Calibri (MS)"/>
                </a:rPr>
                <a:t>• Eclipse Leda Distro: Pre-integrated Linux operating system bundling core Eclipse SDV execution components.</a:t>
              </a:r>
            </a:p>
            <a:p>
              <a:pPr algn="l">
                <a:lnSpc>
                  <a:spcPts val="2160"/>
                </a:lnSpc>
              </a:pPr>
              <a:r>
                <a:rPr lang="en-US" sz="1800">
                  <a:solidFill>
                    <a:srgbClr val="334155"/>
                  </a:solidFill>
                  <a:latin typeface="Calibri (MS)"/>
                  <a:ea typeface="Calibri (MS)"/>
                  <a:cs typeface="Calibri (MS)"/>
                  <a:sym typeface="Calibri (MS)"/>
                </a:rPr>
                <a:t>• Container Engine: Eclipse Kanto light-weight container engine running microservices on compute nodes.</a:t>
              </a:r>
            </a:p>
            <a:p>
              <a:pPr algn="l">
                <a:lnSpc>
                  <a:spcPts val="2160"/>
                </a:lnSpc>
              </a:pPr>
              <a:r>
                <a:rPr lang="en-US" sz="1800">
                  <a:solidFill>
                    <a:srgbClr val="334155"/>
                  </a:solidFill>
                  <a:latin typeface="Calibri (MS)"/>
                  <a:ea typeface="Calibri (MS)"/>
                  <a:cs typeface="Calibri (MS)"/>
                  <a:sym typeface="Calibri (MS)"/>
                </a:rPr>
                <a:t>• System Automation: Automated Linux systemd startup services for zero-terminal boot execution.</a:t>
              </a:r>
            </a:p>
          </p:txBody>
        </p:sp>
      </p:grpSp>
      <p:grpSp>
        <p:nvGrpSpPr>
          <p:cNvPr name="Group 10" id="10"/>
          <p:cNvGrpSpPr/>
          <p:nvPr/>
        </p:nvGrpSpPr>
        <p:grpSpPr>
          <a:xfrm rot="0">
            <a:off x="1579797" y="5133613"/>
            <a:ext cx="7900988" cy="3179940"/>
            <a:chOff x="0" y="0"/>
            <a:chExt cx="10534650" cy="4239920"/>
          </a:xfrm>
        </p:grpSpPr>
        <p:sp>
          <p:nvSpPr>
            <p:cNvPr name="Freeform 11" id="11"/>
            <p:cNvSpPr/>
            <p:nvPr/>
          </p:nvSpPr>
          <p:spPr>
            <a:xfrm flipH="false" flipV="false" rot="0">
              <a:off x="0" y="0"/>
              <a:ext cx="10534650" cy="4239895"/>
            </a:xfrm>
            <a:custGeom>
              <a:avLst/>
              <a:gdLst/>
              <a:ahLst/>
              <a:cxnLst/>
              <a:rect r="r" b="b" t="t" l="l"/>
              <a:pathLst>
                <a:path h="4239895" w="10534650">
                  <a:moveTo>
                    <a:pt x="0" y="706628"/>
                  </a:moveTo>
                  <a:cubicBezTo>
                    <a:pt x="0" y="316357"/>
                    <a:pt x="316357" y="0"/>
                    <a:pt x="706628" y="0"/>
                  </a:cubicBezTo>
                  <a:lnTo>
                    <a:pt x="9828022" y="0"/>
                  </a:lnTo>
                  <a:cubicBezTo>
                    <a:pt x="10218293" y="0"/>
                    <a:pt x="10534650" y="316357"/>
                    <a:pt x="10534650" y="706628"/>
                  </a:cubicBezTo>
                  <a:lnTo>
                    <a:pt x="10534650" y="3533267"/>
                  </a:lnTo>
                  <a:cubicBezTo>
                    <a:pt x="10534650" y="3923538"/>
                    <a:pt x="10218293" y="4239895"/>
                    <a:pt x="9828022" y="4239895"/>
                  </a:cubicBezTo>
                  <a:lnTo>
                    <a:pt x="706628" y="4239895"/>
                  </a:lnTo>
                  <a:cubicBezTo>
                    <a:pt x="316357" y="4239895"/>
                    <a:pt x="0" y="3923538"/>
                    <a:pt x="0" y="3533267"/>
                  </a:cubicBezTo>
                  <a:close/>
                </a:path>
              </a:pathLst>
            </a:custGeom>
            <a:solidFill>
              <a:srgbClr val="F8FAFC"/>
            </a:solidFill>
            <a:ln w="14288" cap="sq">
              <a:solidFill>
                <a:srgbClr val="94A3B8"/>
              </a:solidFill>
              <a:prstDash val="solid"/>
              <a:miter/>
            </a:ln>
          </p:spPr>
        </p:sp>
        <p:sp>
          <p:nvSpPr>
            <p:cNvPr name="TextBox 12" id="12"/>
            <p:cNvSpPr txBox="true"/>
            <p:nvPr/>
          </p:nvSpPr>
          <p:spPr>
            <a:xfrm>
              <a:off x="0" y="-57150"/>
              <a:ext cx="10534650" cy="4297070"/>
            </a:xfrm>
            <a:prstGeom prst="rect">
              <a:avLst/>
            </a:prstGeom>
          </p:spPr>
          <p:txBody>
            <a:bodyPr anchor="ctr" rtlCol="false" tIns="50800" lIns="50800" bIns="50800" rIns="50800"/>
            <a:lstStyle/>
            <a:p>
              <a:pPr algn="ctr">
                <a:lnSpc>
                  <a:spcPts val="2700"/>
                </a:lnSpc>
              </a:pPr>
              <a:r>
                <a:rPr lang="en-US" sz="2250" b="true">
                  <a:solidFill>
                    <a:srgbClr val="17365D"/>
                  </a:solidFill>
                  <a:latin typeface="Calibri (MS) Bold"/>
                  <a:ea typeface="Calibri (MS) Bold"/>
                  <a:cs typeface="Calibri (MS) Bold"/>
                  <a:sym typeface="Calibri (MS) Bold"/>
                </a:rPr>
                <a:t>Microservice Workload Orchestrator</a:t>
              </a:r>
            </a:p>
            <a:p>
              <a:pPr algn="l">
                <a:lnSpc>
                  <a:spcPts val="2160"/>
                </a:lnSpc>
              </a:pPr>
              <a:r>
                <a:rPr lang="en-US" sz="1800">
                  <a:solidFill>
                    <a:srgbClr val="334155"/>
                  </a:solidFill>
                  <a:latin typeface="Calibri (MS)"/>
                  <a:ea typeface="Calibri (MS)"/>
                  <a:cs typeface="Calibri (MS)"/>
                  <a:sym typeface="Calibri (MS)"/>
                </a:rPr>
                <a:t>• Eclipse Ankaios: Dynamically manages container lifecycles across heterogeneous vehicle edge nodes.</a:t>
              </a:r>
            </a:p>
            <a:p>
              <a:pPr algn="l">
                <a:lnSpc>
                  <a:spcPts val="2160"/>
                </a:lnSpc>
              </a:pPr>
              <a:r>
                <a:rPr lang="en-US" sz="1800">
                  <a:solidFill>
                    <a:srgbClr val="334155"/>
                  </a:solidFill>
                  <a:latin typeface="Calibri (MS)"/>
                  <a:ea typeface="Calibri (MS)"/>
                  <a:cs typeface="Calibri (MS)"/>
                  <a:sym typeface="Calibri (MS)"/>
                </a:rPr>
                <a:t>• Workload Deployment: Deploy, stop, restart, and update containerized applications remotely.</a:t>
              </a:r>
            </a:p>
            <a:p>
              <a:pPr algn="l">
                <a:lnSpc>
                  <a:spcPts val="2160"/>
                </a:lnSpc>
              </a:pPr>
              <a:r>
                <a:rPr lang="en-US" sz="1800">
                  <a:solidFill>
                    <a:srgbClr val="334155"/>
                  </a:solidFill>
                  <a:latin typeface="Calibri (MS)"/>
                  <a:ea typeface="Calibri (MS)"/>
                  <a:cs typeface="Calibri (MS)"/>
                  <a:sym typeface="Calibri (MS)"/>
                </a:rPr>
                <a:t>• Isolation &amp; Resource Controls: Enforces cgroups v2 memory, CPU, and process isolation per container.</a:t>
              </a:r>
            </a:p>
          </p:txBody>
        </p:sp>
      </p:grpSp>
      <p:sp>
        <p:nvSpPr>
          <p:cNvPr name="TextBox 13" id="13"/>
          <p:cNvSpPr txBox="true"/>
          <p:nvPr/>
        </p:nvSpPr>
        <p:spPr>
          <a:xfrm rot="0">
            <a:off x="1051560" y="8437474"/>
            <a:ext cx="16002000" cy="495300"/>
          </a:xfrm>
          <a:prstGeom prst="rect">
            <a:avLst/>
          </a:prstGeom>
        </p:spPr>
        <p:txBody>
          <a:bodyPr anchor="t" rtlCol="false" tIns="0" lIns="0" bIns="0" rIns="0">
            <a:spAutoFit/>
          </a:bodyPr>
          <a:lstStyle/>
          <a:p>
            <a:pPr algn="l">
              <a:lnSpc>
                <a:spcPts val="2070"/>
              </a:lnSpc>
            </a:pPr>
            <a:r>
              <a:rPr lang="en-US" sz="1725" b="true">
                <a:solidFill>
                  <a:srgbClr val="E11D48"/>
                </a:solidFill>
                <a:latin typeface="Calibri (MS) Bold"/>
                <a:ea typeface="Calibri (MS) Bold"/>
                <a:cs typeface="Calibri (MS) Bold"/>
                <a:sym typeface="Calibri (MS) Bold"/>
              </a:rPr>
              <a:t>SYSTEM SETUP HIGHLIGHT: Demonstrates interaction across OTA/Cloud Control, Vehicle Runtime, and Application layers.</a:t>
            </a:r>
          </a:p>
        </p:txBody>
      </p:sp>
      <p:grpSp>
        <p:nvGrpSpPr>
          <p:cNvPr name="Group 14" id="14"/>
          <p:cNvGrpSpPr/>
          <p:nvPr/>
        </p:nvGrpSpPr>
        <p:grpSpPr>
          <a:xfrm rot="0">
            <a:off x="10309098" y="1589837"/>
            <a:ext cx="7403592" cy="884377"/>
            <a:chOff x="0" y="0"/>
            <a:chExt cx="9871456" cy="1179170"/>
          </a:xfrm>
        </p:grpSpPr>
        <p:sp>
          <p:nvSpPr>
            <p:cNvPr name="Freeform 15" id="15"/>
            <p:cNvSpPr/>
            <p:nvPr/>
          </p:nvSpPr>
          <p:spPr>
            <a:xfrm flipH="false" flipV="false" rot="0">
              <a:off x="0" y="0"/>
              <a:ext cx="9871456" cy="1179068"/>
            </a:xfrm>
            <a:custGeom>
              <a:avLst/>
              <a:gdLst/>
              <a:ahLst/>
              <a:cxnLst/>
              <a:rect r="r" b="b" t="t" l="l"/>
              <a:pathLst>
                <a:path h="1179068" w="9871456">
                  <a:moveTo>
                    <a:pt x="0" y="196469"/>
                  </a:moveTo>
                  <a:cubicBezTo>
                    <a:pt x="0" y="88011"/>
                    <a:pt x="88011" y="0"/>
                    <a:pt x="196469" y="0"/>
                  </a:cubicBezTo>
                  <a:lnTo>
                    <a:pt x="9674987" y="0"/>
                  </a:lnTo>
                  <a:cubicBezTo>
                    <a:pt x="9783572" y="0"/>
                    <a:pt x="9871456" y="88011"/>
                    <a:pt x="9871456" y="196469"/>
                  </a:cubicBezTo>
                  <a:lnTo>
                    <a:pt x="9871456" y="982599"/>
                  </a:lnTo>
                  <a:cubicBezTo>
                    <a:pt x="9871456" y="1091184"/>
                    <a:pt x="9783445" y="1179068"/>
                    <a:pt x="9674987" y="1179068"/>
                  </a:cubicBezTo>
                  <a:lnTo>
                    <a:pt x="196469" y="1179068"/>
                  </a:lnTo>
                  <a:cubicBezTo>
                    <a:pt x="88011" y="1179195"/>
                    <a:pt x="0" y="1091184"/>
                    <a:pt x="0" y="982599"/>
                  </a:cubicBezTo>
                  <a:close/>
                </a:path>
              </a:pathLst>
            </a:custGeom>
            <a:solidFill>
              <a:srgbClr val="F8FAFC"/>
            </a:solidFill>
            <a:ln w="38100" cap="sq">
              <a:solidFill>
                <a:srgbClr val="2563EB"/>
              </a:solidFill>
              <a:prstDash val="solid"/>
              <a:miter/>
            </a:ln>
          </p:spPr>
        </p:sp>
        <p:sp>
          <p:nvSpPr>
            <p:cNvPr name="TextBox 16" id="16"/>
            <p:cNvSpPr txBox="true"/>
            <p:nvPr/>
          </p:nvSpPr>
          <p:spPr>
            <a:xfrm>
              <a:off x="0" y="-19050"/>
              <a:ext cx="9871456" cy="1198220"/>
            </a:xfrm>
            <a:prstGeom prst="rect">
              <a:avLst/>
            </a:prstGeom>
          </p:spPr>
          <p:txBody>
            <a:bodyPr anchor="ctr" rtlCol="false" tIns="50800" lIns="50800" bIns="50800" rIns="50800"/>
            <a:lstStyle/>
            <a:p>
              <a:pPr algn="ctr">
                <a:lnSpc>
                  <a:spcPts val="2340"/>
                </a:lnSpc>
              </a:pPr>
              <a:r>
                <a:rPr lang="en-US" sz="1950" b="true">
                  <a:solidFill>
                    <a:srgbClr val="2563EB"/>
                  </a:solidFill>
                  <a:latin typeface="Arial Bold"/>
                  <a:ea typeface="Arial Bold"/>
                  <a:cs typeface="Arial Bold"/>
                  <a:sym typeface="Arial Bold"/>
                </a:rPr>
                <a:t>OTA / CLOUD   </a:t>
              </a:r>
              <a:r>
                <a:rPr lang="en-US" sz="1950" b="true">
                  <a:solidFill>
                    <a:srgbClr val="334155"/>
                  </a:solidFill>
                  <a:latin typeface="Arial Bold"/>
                  <a:ea typeface="Arial Bold"/>
                  <a:cs typeface="Arial Bold"/>
                  <a:sym typeface="Arial Bold"/>
                </a:rPr>
                <a:t>➜   SDV Blueprints  |  OTA Control Plane  |  Fleet Telemetry Services  |  Container Registry</a:t>
              </a:r>
            </a:p>
          </p:txBody>
        </p:sp>
      </p:grpSp>
      <p:grpSp>
        <p:nvGrpSpPr>
          <p:cNvPr name="Group 17" id="17"/>
          <p:cNvGrpSpPr/>
          <p:nvPr/>
        </p:nvGrpSpPr>
        <p:grpSpPr>
          <a:xfrm rot="0">
            <a:off x="10309098" y="2532126"/>
            <a:ext cx="7403592" cy="884377"/>
            <a:chOff x="0" y="0"/>
            <a:chExt cx="9871456" cy="1179170"/>
          </a:xfrm>
        </p:grpSpPr>
        <p:sp>
          <p:nvSpPr>
            <p:cNvPr name="Freeform 18" id="18"/>
            <p:cNvSpPr/>
            <p:nvPr/>
          </p:nvSpPr>
          <p:spPr>
            <a:xfrm flipH="false" flipV="false" rot="0">
              <a:off x="0" y="0"/>
              <a:ext cx="9871456" cy="1179068"/>
            </a:xfrm>
            <a:custGeom>
              <a:avLst/>
              <a:gdLst/>
              <a:ahLst/>
              <a:cxnLst/>
              <a:rect r="r" b="b" t="t" l="l"/>
              <a:pathLst>
                <a:path h="1179068" w="9871456">
                  <a:moveTo>
                    <a:pt x="0" y="196469"/>
                  </a:moveTo>
                  <a:cubicBezTo>
                    <a:pt x="0" y="88011"/>
                    <a:pt x="88011" y="0"/>
                    <a:pt x="196469" y="0"/>
                  </a:cubicBezTo>
                  <a:lnTo>
                    <a:pt x="9674987" y="0"/>
                  </a:lnTo>
                  <a:cubicBezTo>
                    <a:pt x="9783572" y="0"/>
                    <a:pt x="9871456" y="88011"/>
                    <a:pt x="9871456" y="196469"/>
                  </a:cubicBezTo>
                  <a:lnTo>
                    <a:pt x="9871456" y="982599"/>
                  </a:lnTo>
                  <a:cubicBezTo>
                    <a:pt x="9871456" y="1091184"/>
                    <a:pt x="9783445" y="1179068"/>
                    <a:pt x="9674987" y="1179068"/>
                  </a:cubicBezTo>
                  <a:lnTo>
                    <a:pt x="196469" y="1179068"/>
                  </a:lnTo>
                  <a:cubicBezTo>
                    <a:pt x="88011" y="1179195"/>
                    <a:pt x="0" y="1091184"/>
                    <a:pt x="0" y="982599"/>
                  </a:cubicBezTo>
                  <a:close/>
                </a:path>
              </a:pathLst>
            </a:custGeom>
            <a:solidFill>
              <a:srgbClr val="F8FAFC"/>
            </a:solidFill>
            <a:ln w="38100" cap="sq">
              <a:solidFill>
                <a:srgbClr val="059669"/>
              </a:solidFill>
              <a:prstDash val="solid"/>
              <a:miter/>
            </a:ln>
          </p:spPr>
        </p:sp>
        <p:sp>
          <p:nvSpPr>
            <p:cNvPr name="TextBox 19" id="19"/>
            <p:cNvSpPr txBox="true"/>
            <p:nvPr/>
          </p:nvSpPr>
          <p:spPr>
            <a:xfrm>
              <a:off x="0" y="-19050"/>
              <a:ext cx="9871456" cy="1198220"/>
            </a:xfrm>
            <a:prstGeom prst="rect">
              <a:avLst/>
            </a:prstGeom>
          </p:spPr>
          <p:txBody>
            <a:bodyPr anchor="ctr" rtlCol="false" tIns="50800" lIns="50800" bIns="50800" rIns="50800"/>
            <a:lstStyle/>
            <a:p>
              <a:pPr algn="ctr">
                <a:lnSpc>
                  <a:spcPts val="2340"/>
                </a:lnSpc>
              </a:pPr>
              <a:r>
                <a:rPr lang="en-US" sz="1950" b="true">
                  <a:solidFill>
                    <a:srgbClr val="059669"/>
                  </a:solidFill>
                  <a:latin typeface="Arial Bold"/>
                  <a:ea typeface="Arial Bold"/>
                  <a:cs typeface="Arial Bold"/>
                  <a:sym typeface="Arial Bold"/>
                </a:rPr>
                <a:t>VEHICLE RUNTIME   </a:t>
              </a:r>
              <a:r>
                <a:rPr lang="en-US" sz="1950" b="true">
                  <a:solidFill>
                    <a:srgbClr val="334155"/>
                  </a:solidFill>
                  <a:latin typeface="Arial Bold"/>
                  <a:ea typeface="Arial Bold"/>
                  <a:cs typeface="Arial Bold"/>
                  <a:sym typeface="Arial Bold"/>
                </a:rPr>
                <a:t>➜   Eclipse Leda Platform  |  Eclipse Kanto (Container Engine)  |  Eclipse Ankaios (Orchestrator)</a:t>
              </a:r>
            </a:p>
          </p:txBody>
        </p:sp>
      </p:grpSp>
      <p:grpSp>
        <p:nvGrpSpPr>
          <p:cNvPr name="Group 20" id="20"/>
          <p:cNvGrpSpPr/>
          <p:nvPr/>
        </p:nvGrpSpPr>
        <p:grpSpPr>
          <a:xfrm rot="0">
            <a:off x="10309098" y="3474415"/>
            <a:ext cx="7403592" cy="884377"/>
            <a:chOff x="0" y="0"/>
            <a:chExt cx="9871456" cy="1179170"/>
          </a:xfrm>
        </p:grpSpPr>
        <p:sp>
          <p:nvSpPr>
            <p:cNvPr name="Freeform 21" id="21"/>
            <p:cNvSpPr/>
            <p:nvPr/>
          </p:nvSpPr>
          <p:spPr>
            <a:xfrm flipH="false" flipV="false" rot="0">
              <a:off x="0" y="0"/>
              <a:ext cx="9871456" cy="1179068"/>
            </a:xfrm>
            <a:custGeom>
              <a:avLst/>
              <a:gdLst/>
              <a:ahLst/>
              <a:cxnLst/>
              <a:rect r="r" b="b" t="t" l="l"/>
              <a:pathLst>
                <a:path h="1179068" w="9871456">
                  <a:moveTo>
                    <a:pt x="0" y="196469"/>
                  </a:moveTo>
                  <a:cubicBezTo>
                    <a:pt x="0" y="88011"/>
                    <a:pt x="88011" y="0"/>
                    <a:pt x="196469" y="0"/>
                  </a:cubicBezTo>
                  <a:lnTo>
                    <a:pt x="9674987" y="0"/>
                  </a:lnTo>
                  <a:cubicBezTo>
                    <a:pt x="9783572" y="0"/>
                    <a:pt x="9871456" y="88011"/>
                    <a:pt x="9871456" y="196469"/>
                  </a:cubicBezTo>
                  <a:lnTo>
                    <a:pt x="9871456" y="982599"/>
                  </a:lnTo>
                  <a:cubicBezTo>
                    <a:pt x="9871456" y="1091184"/>
                    <a:pt x="9783445" y="1179068"/>
                    <a:pt x="9674987" y="1179068"/>
                  </a:cubicBezTo>
                  <a:lnTo>
                    <a:pt x="196469" y="1179068"/>
                  </a:lnTo>
                  <a:cubicBezTo>
                    <a:pt x="88011" y="1179195"/>
                    <a:pt x="0" y="1091184"/>
                    <a:pt x="0" y="982599"/>
                  </a:cubicBezTo>
                  <a:close/>
                </a:path>
              </a:pathLst>
            </a:custGeom>
            <a:solidFill>
              <a:srgbClr val="F8FAFC"/>
            </a:solidFill>
            <a:ln w="38100" cap="sq">
              <a:solidFill>
                <a:srgbClr val="7C3AED"/>
              </a:solidFill>
              <a:prstDash val="solid"/>
              <a:miter/>
            </a:ln>
          </p:spPr>
        </p:sp>
        <p:sp>
          <p:nvSpPr>
            <p:cNvPr name="TextBox 22" id="22"/>
            <p:cNvSpPr txBox="true"/>
            <p:nvPr/>
          </p:nvSpPr>
          <p:spPr>
            <a:xfrm>
              <a:off x="0" y="-19050"/>
              <a:ext cx="9871456" cy="1198220"/>
            </a:xfrm>
            <a:prstGeom prst="rect">
              <a:avLst/>
            </a:prstGeom>
          </p:spPr>
          <p:txBody>
            <a:bodyPr anchor="ctr" rtlCol="false" tIns="50800" lIns="50800" bIns="50800" rIns="50800"/>
            <a:lstStyle/>
            <a:p>
              <a:pPr algn="ctr">
                <a:lnSpc>
                  <a:spcPts val="2340"/>
                </a:lnSpc>
              </a:pPr>
              <a:r>
                <a:rPr lang="en-US" sz="1950" b="true">
                  <a:solidFill>
                    <a:srgbClr val="7C3AED"/>
                  </a:solidFill>
                  <a:latin typeface="Arial Bold"/>
                  <a:ea typeface="Arial Bold"/>
                  <a:cs typeface="Arial Bold"/>
                  <a:sym typeface="Arial Bold"/>
                </a:rPr>
                <a:t>VEHICLE APPLICATIONS   </a:t>
              </a:r>
              <a:r>
                <a:rPr lang="en-US" sz="1950" b="true">
                  <a:solidFill>
                    <a:srgbClr val="334155"/>
                  </a:solidFill>
                  <a:latin typeface="Arial Bold"/>
                  <a:ea typeface="Arial Bold"/>
                  <a:cs typeface="Arial Bold"/>
                  <a:sym typeface="Arial Bold"/>
                </a:rPr>
                <a:t>➜   Eclipse Velocitas (App SDK)  |  Vehicle Telemetry App  |  ADAS Service App</a:t>
              </a:r>
            </a:p>
          </p:txBody>
        </p:sp>
      </p:grpSp>
      <p:grpSp>
        <p:nvGrpSpPr>
          <p:cNvPr name="Group 23" id="23"/>
          <p:cNvGrpSpPr/>
          <p:nvPr/>
        </p:nvGrpSpPr>
        <p:grpSpPr>
          <a:xfrm rot="0">
            <a:off x="10318623" y="4426229"/>
            <a:ext cx="7384542" cy="865327"/>
            <a:chOff x="0" y="0"/>
            <a:chExt cx="9846056" cy="1153770"/>
          </a:xfrm>
        </p:grpSpPr>
        <p:sp>
          <p:nvSpPr>
            <p:cNvPr name="Freeform 24" id="24"/>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25" id="25"/>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VEHICLE DATA   </a:t>
              </a:r>
              <a:r>
                <a:rPr lang="en-US" sz="1950">
                  <a:solidFill>
                    <a:srgbClr val="94A3B8"/>
                  </a:solidFill>
                  <a:latin typeface="Arial"/>
                  <a:ea typeface="Arial"/>
                  <a:cs typeface="Arial"/>
                  <a:sym typeface="Arial"/>
                </a:rPr>
                <a:t>➜   Eclipse Kuksa (Signal Broker)  |  COVESA VSS v4.0 Standard Taxonomy</a:t>
              </a:r>
            </a:p>
          </p:txBody>
        </p:sp>
      </p:grpSp>
      <p:grpSp>
        <p:nvGrpSpPr>
          <p:cNvPr name="Group 26" id="26"/>
          <p:cNvGrpSpPr/>
          <p:nvPr/>
        </p:nvGrpSpPr>
        <p:grpSpPr>
          <a:xfrm rot="0">
            <a:off x="10318623" y="5368519"/>
            <a:ext cx="7384542" cy="865327"/>
            <a:chOff x="0" y="0"/>
            <a:chExt cx="9846056" cy="1153770"/>
          </a:xfrm>
        </p:grpSpPr>
        <p:sp>
          <p:nvSpPr>
            <p:cNvPr name="Freeform 27" id="27"/>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28" id="28"/>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COMMUNICATION   </a:t>
              </a:r>
              <a:r>
                <a:rPr lang="en-US" sz="1950">
                  <a:solidFill>
                    <a:srgbClr val="94A3B8"/>
                  </a:solidFill>
                  <a:latin typeface="Arial"/>
                  <a:ea typeface="Arial"/>
                  <a:cs typeface="Arial"/>
                  <a:sym typeface="Arial"/>
                </a:rPr>
                <a:t>➜   Eclipse Zenoh (Low-Latency Pub/Sub)  |  uProtocol Transport Layer</a:t>
              </a:r>
            </a:p>
          </p:txBody>
        </p:sp>
      </p:grpSp>
      <p:grpSp>
        <p:nvGrpSpPr>
          <p:cNvPr name="Group 29" id="29"/>
          <p:cNvGrpSpPr/>
          <p:nvPr/>
        </p:nvGrpSpPr>
        <p:grpSpPr>
          <a:xfrm rot="0">
            <a:off x="10318623" y="6310808"/>
            <a:ext cx="7384542" cy="865327"/>
            <a:chOff x="0" y="0"/>
            <a:chExt cx="9846056" cy="1153770"/>
          </a:xfrm>
        </p:grpSpPr>
        <p:sp>
          <p:nvSpPr>
            <p:cNvPr name="Freeform 30" id="30"/>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31" id="31"/>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VEHICLE ABSTRACTION   </a:t>
              </a:r>
              <a:r>
                <a:rPr lang="en-US" sz="1950">
                  <a:solidFill>
                    <a:srgbClr val="94A3B8"/>
                  </a:solidFill>
                  <a:latin typeface="Arial"/>
                  <a:ea typeface="Arial"/>
                  <a:cs typeface="Arial"/>
                  <a:sym typeface="Arial"/>
                </a:rPr>
                <a:t>➜   Lab Skateboard Vehicle Profile  |  VSS Overlay  |  Lab Skateboard Vehicle Adapter (DBC / CAN)</a:t>
              </a:r>
            </a:p>
          </p:txBody>
        </p:sp>
      </p:grpSp>
      <p:grpSp>
        <p:nvGrpSpPr>
          <p:cNvPr name="Group 32" id="32"/>
          <p:cNvGrpSpPr/>
          <p:nvPr/>
        </p:nvGrpSpPr>
        <p:grpSpPr>
          <a:xfrm rot="0">
            <a:off x="10318623" y="7253097"/>
            <a:ext cx="7384542" cy="865327"/>
            <a:chOff x="0" y="0"/>
            <a:chExt cx="9846056" cy="1153770"/>
          </a:xfrm>
        </p:grpSpPr>
        <p:sp>
          <p:nvSpPr>
            <p:cNvPr name="Freeform 33" id="33"/>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34" id="34"/>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Lab Skateboard DBW ACTUATION   </a:t>
              </a:r>
              <a:r>
                <a:rPr lang="en-US" sz="1950">
                  <a:solidFill>
                    <a:srgbClr val="94A3B8"/>
                  </a:solidFill>
                  <a:latin typeface="Arial"/>
                  <a:ea typeface="Arial"/>
                  <a:cs typeface="Arial"/>
                  <a:sym typeface="Arial"/>
                </a:rPr>
                <a:t>➜   CAN 2.0B Bus (0x1228 Request / 0x1291 Status) ➔ Actuators &amp; ECUs</a:t>
              </a:r>
            </a:p>
          </p:txBody>
        </p:sp>
      </p:grpSp>
      <p:grpSp>
        <p:nvGrpSpPr>
          <p:cNvPr name="Group 35" id="35"/>
          <p:cNvGrpSpPr/>
          <p:nvPr/>
        </p:nvGrpSpPr>
        <p:grpSpPr>
          <a:xfrm rot="0">
            <a:off x="754380" y="9669780"/>
            <a:ext cx="16733520" cy="13716"/>
            <a:chOff x="0" y="0"/>
            <a:chExt cx="22311360" cy="18288"/>
          </a:xfrm>
        </p:grpSpPr>
        <p:sp>
          <p:nvSpPr>
            <p:cNvPr name="Freeform 36" id="36"/>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1292047"/>
            <a:chOff x="0" y="0"/>
            <a:chExt cx="24383390" cy="1722730"/>
          </a:xfrm>
        </p:grpSpPr>
        <p:sp>
          <p:nvSpPr>
            <p:cNvPr name="Freeform 3" id="3"/>
            <p:cNvSpPr/>
            <p:nvPr/>
          </p:nvSpPr>
          <p:spPr>
            <a:xfrm flipH="false" flipV="false" rot="0">
              <a:off x="0" y="0"/>
              <a:ext cx="24383364" cy="1722755"/>
            </a:xfrm>
            <a:custGeom>
              <a:avLst/>
              <a:gdLst/>
              <a:ahLst/>
              <a:cxnLst/>
              <a:rect r="r" b="b" t="t" l="l"/>
              <a:pathLst>
                <a:path h="1722755" w="24383364">
                  <a:moveTo>
                    <a:pt x="0" y="0"/>
                  </a:moveTo>
                  <a:lnTo>
                    <a:pt x="24383364" y="0"/>
                  </a:lnTo>
                  <a:lnTo>
                    <a:pt x="24383364" y="1722755"/>
                  </a:lnTo>
                  <a:lnTo>
                    <a:pt x="0" y="1722755"/>
                  </a:lnTo>
                  <a:close/>
                </a:path>
              </a:pathLst>
            </a:custGeom>
            <a:solidFill>
              <a:srgbClr val="17365D"/>
            </a:solidFill>
          </p:spPr>
        </p:sp>
      </p:grpSp>
      <p:sp>
        <p:nvSpPr>
          <p:cNvPr name="TextBox 4" id="4"/>
          <p:cNvSpPr txBox="true"/>
          <p:nvPr/>
        </p:nvSpPr>
        <p:spPr>
          <a:xfrm rot="0">
            <a:off x="312268" y="-1905"/>
            <a:ext cx="9934042" cy="517169"/>
          </a:xfrm>
          <a:prstGeom prst="rect">
            <a:avLst/>
          </a:prstGeom>
        </p:spPr>
        <p:txBody>
          <a:bodyPr anchor="t" rtlCol="false" tIns="0" lIns="0" bIns="0" rIns="0">
            <a:spAutoFit/>
          </a:bodyPr>
          <a:lstStyle/>
          <a:p>
            <a:pPr algn="l">
              <a:lnSpc>
                <a:spcPts val="2340"/>
              </a:lnSpc>
            </a:pPr>
            <a:r>
              <a:rPr lang="en-US" sz="1950" b="true">
                <a:solidFill>
                  <a:srgbClr val="FFFFFF"/>
                </a:solidFill>
                <a:latin typeface="Calibri (MS) Bold"/>
                <a:ea typeface="Calibri (MS) Bold"/>
                <a:cs typeface="Calibri (MS) Bold"/>
                <a:sym typeface="Calibri (MS) Bold"/>
              </a:rPr>
              <a:t>| SYSTEM SETUP</a:t>
            </a:r>
          </a:p>
        </p:txBody>
      </p:sp>
      <p:sp>
        <p:nvSpPr>
          <p:cNvPr name="TextBox 5" id="5"/>
          <p:cNvSpPr txBox="true"/>
          <p:nvPr/>
        </p:nvSpPr>
        <p:spPr>
          <a:xfrm rot="0">
            <a:off x="845820" y="637413"/>
            <a:ext cx="13807440" cy="455295"/>
          </a:xfrm>
          <a:prstGeom prst="rect">
            <a:avLst/>
          </a:prstGeom>
        </p:spPr>
        <p:txBody>
          <a:bodyPr anchor="t" rtlCol="false" tIns="0" lIns="0" bIns="0" rIns="0">
            <a:spAutoFit/>
          </a:bodyPr>
          <a:lstStyle/>
          <a:p>
            <a:pPr algn="l">
              <a:lnSpc>
                <a:spcPts val="3960"/>
              </a:lnSpc>
            </a:pPr>
            <a:r>
              <a:rPr lang="en-US" sz="3300" b="true">
                <a:solidFill>
                  <a:srgbClr val="FFFFFF"/>
                </a:solidFill>
                <a:latin typeface="Calibri (MS) Bold"/>
                <a:ea typeface="Calibri (MS) Bold"/>
                <a:cs typeface="Calibri (MS) Bold"/>
                <a:sym typeface="Calibri (MS) Bold"/>
              </a:rPr>
              <a:t>Service-Oriented Diagnostics &amp; HIL/SIL Test Subsystem</a:t>
            </a:r>
          </a:p>
        </p:txBody>
      </p:sp>
      <p:sp>
        <p:nvSpPr>
          <p:cNvPr name="TextBox 6" id="6"/>
          <p:cNvSpPr txBox="true"/>
          <p:nvPr/>
        </p:nvSpPr>
        <p:spPr>
          <a:xfrm rot="0">
            <a:off x="15076170" y="656463"/>
            <a:ext cx="2532888" cy="299085"/>
          </a:xfrm>
          <a:prstGeom prst="rect">
            <a:avLst/>
          </a:prstGeom>
        </p:spPr>
        <p:txBody>
          <a:bodyPr anchor="t" rtlCol="false" tIns="0" lIns="0" bIns="0" rIns="0">
            <a:spAutoFit/>
          </a:bodyPr>
          <a:lstStyle/>
          <a:p>
            <a:pPr algn="l">
              <a:lnSpc>
                <a:spcPts val="2340"/>
              </a:lnSpc>
            </a:pPr>
            <a:r>
              <a:rPr lang="en-US" sz="1950" b="true">
                <a:solidFill>
                  <a:srgbClr val="FFFFFF"/>
                </a:solidFill>
                <a:latin typeface="Calibri (MS) Bold"/>
                <a:ea typeface="Calibri (MS) Bold"/>
                <a:cs typeface="Calibri (MS) Bold"/>
                <a:sym typeface="Calibri (MS) Bold"/>
              </a:rPr>
              <a:t>DIAGNOSTICS</a:t>
            </a:r>
          </a:p>
        </p:txBody>
      </p:sp>
      <p:grpSp>
        <p:nvGrpSpPr>
          <p:cNvPr name="Group 7" id="7"/>
          <p:cNvGrpSpPr/>
          <p:nvPr/>
        </p:nvGrpSpPr>
        <p:grpSpPr>
          <a:xfrm rot="0">
            <a:off x="1579797" y="1626432"/>
            <a:ext cx="7900988" cy="3179940"/>
            <a:chOff x="0" y="0"/>
            <a:chExt cx="10534650" cy="4239920"/>
          </a:xfrm>
        </p:grpSpPr>
        <p:sp>
          <p:nvSpPr>
            <p:cNvPr name="Freeform 8" id="8"/>
            <p:cNvSpPr/>
            <p:nvPr/>
          </p:nvSpPr>
          <p:spPr>
            <a:xfrm flipH="false" flipV="false" rot="0">
              <a:off x="0" y="0"/>
              <a:ext cx="10534650" cy="4239895"/>
            </a:xfrm>
            <a:custGeom>
              <a:avLst/>
              <a:gdLst/>
              <a:ahLst/>
              <a:cxnLst/>
              <a:rect r="r" b="b" t="t" l="l"/>
              <a:pathLst>
                <a:path h="4239895" w="10534650">
                  <a:moveTo>
                    <a:pt x="0" y="706628"/>
                  </a:moveTo>
                  <a:cubicBezTo>
                    <a:pt x="0" y="316357"/>
                    <a:pt x="316357" y="0"/>
                    <a:pt x="706628" y="0"/>
                  </a:cubicBezTo>
                  <a:lnTo>
                    <a:pt x="9828022" y="0"/>
                  </a:lnTo>
                  <a:cubicBezTo>
                    <a:pt x="10218293" y="0"/>
                    <a:pt x="10534650" y="316357"/>
                    <a:pt x="10534650" y="706628"/>
                  </a:cubicBezTo>
                  <a:lnTo>
                    <a:pt x="10534650" y="3533267"/>
                  </a:lnTo>
                  <a:cubicBezTo>
                    <a:pt x="10534650" y="3923538"/>
                    <a:pt x="10218293" y="4239895"/>
                    <a:pt x="9828022" y="4239895"/>
                  </a:cubicBezTo>
                  <a:lnTo>
                    <a:pt x="706628" y="4239895"/>
                  </a:lnTo>
                  <a:cubicBezTo>
                    <a:pt x="316357" y="4239895"/>
                    <a:pt x="0" y="3923538"/>
                    <a:pt x="0" y="3533267"/>
                  </a:cubicBezTo>
                  <a:close/>
                </a:path>
              </a:pathLst>
            </a:custGeom>
            <a:solidFill>
              <a:srgbClr val="F8FAFC"/>
            </a:solidFill>
            <a:ln w="14288" cap="sq">
              <a:solidFill>
                <a:srgbClr val="94A3B8"/>
              </a:solidFill>
              <a:prstDash val="solid"/>
              <a:miter/>
            </a:ln>
          </p:spPr>
        </p:sp>
        <p:sp>
          <p:nvSpPr>
            <p:cNvPr name="TextBox 9" id="9"/>
            <p:cNvSpPr txBox="true"/>
            <p:nvPr/>
          </p:nvSpPr>
          <p:spPr>
            <a:xfrm>
              <a:off x="0" y="-57150"/>
              <a:ext cx="10534650" cy="4297070"/>
            </a:xfrm>
            <a:prstGeom prst="rect">
              <a:avLst/>
            </a:prstGeom>
          </p:spPr>
          <p:txBody>
            <a:bodyPr anchor="ctr" rtlCol="false" tIns="50800" lIns="50800" bIns="50800" rIns="50800"/>
            <a:lstStyle/>
            <a:p>
              <a:pPr algn="ctr">
                <a:lnSpc>
                  <a:spcPts val="2700"/>
                </a:lnSpc>
              </a:pPr>
              <a:r>
                <a:rPr lang="en-US" sz="2250" b="true">
                  <a:solidFill>
                    <a:srgbClr val="17365D"/>
                  </a:solidFill>
                  <a:latin typeface="Calibri (MS) Bold"/>
                  <a:ea typeface="Calibri (MS) Bold"/>
                  <a:cs typeface="Calibri (MS) Bold"/>
                  <a:sym typeface="Calibri (MS) Bold"/>
                </a:rPr>
                <a:t>ISO 17978 Service-Oriented Vehicle Diagnostics</a:t>
              </a:r>
            </a:p>
            <a:p>
              <a:pPr algn="l">
                <a:lnSpc>
                  <a:spcPts val="2160"/>
                </a:lnSpc>
              </a:pPr>
              <a:r>
                <a:rPr lang="en-US" sz="1800">
                  <a:solidFill>
                    <a:srgbClr val="334155"/>
                  </a:solidFill>
                  <a:latin typeface="Calibri (MS)"/>
                  <a:ea typeface="Calibri (MS)"/>
                  <a:cs typeface="Calibri (MS)"/>
                  <a:sym typeface="Calibri (MS)"/>
                </a:rPr>
                <a:t>• Eclipse OpenSOVD Agent: Implements ISO 17978 RESTful Service-Oriented Vehicle Diagnostics.</a:t>
              </a:r>
            </a:p>
            <a:p>
              <a:pPr algn="l">
                <a:lnSpc>
                  <a:spcPts val="2160"/>
                </a:lnSpc>
              </a:pPr>
              <a:r>
                <a:rPr lang="en-US" sz="1800">
                  <a:solidFill>
                    <a:srgbClr val="334155"/>
                  </a:solidFill>
                  <a:latin typeface="Calibri (MS)"/>
                  <a:ea typeface="Calibri (MS)"/>
                  <a:cs typeface="Calibri (MS)"/>
                  <a:sym typeface="Calibri (MS)"/>
                </a:rPr>
                <a:t>• Diagnostic API Endpoints: Exposes HTTP REST endpoints for software inventory, fault codes, and logs.</a:t>
              </a:r>
            </a:p>
            <a:p>
              <a:pPr algn="l">
                <a:lnSpc>
                  <a:spcPts val="2160"/>
                </a:lnSpc>
              </a:pPr>
              <a:r>
                <a:rPr lang="en-US" sz="1800">
                  <a:solidFill>
                    <a:srgbClr val="334155"/>
                  </a:solidFill>
                  <a:latin typeface="Calibri (MS)"/>
                  <a:ea typeface="Calibri (MS)"/>
                  <a:cs typeface="Calibri (MS)"/>
                  <a:sym typeface="Calibri (MS)"/>
                </a:rPr>
                <a:t>• VSS Signal Inspection: Provides live inspection of VSS data broker tree and ECU health metrics.</a:t>
              </a:r>
            </a:p>
          </p:txBody>
        </p:sp>
      </p:grpSp>
      <p:grpSp>
        <p:nvGrpSpPr>
          <p:cNvPr name="Group 10" id="10"/>
          <p:cNvGrpSpPr/>
          <p:nvPr/>
        </p:nvGrpSpPr>
        <p:grpSpPr>
          <a:xfrm rot="0">
            <a:off x="1579797" y="5133613"/>
            <a:ext cx="7900988" cy="3179940"/>
            <a:chOff x="0" y="0"/>
            <a:chExt cx="10534650" cy="4239920"/>
          </a:xfrm>
        </p:grpSpPr>
        <p:sp>
          <p:nvSpPr>
            <p:cNvPr name="Freeform 11" id="11"/>
            <p:cNvSpPr/>
            <p:nvPr/>
          </p:nvSpPr>
          <p:spPr>
            <a:xfrm flipH="false" flipV="false" rot="0">
              <a:off x="0" y="0"/>
              <a:ext cx="10534650" cy="4239895"/>
            </a:xfrm>
            <a:custGeom>
              <a:avLst/>
              <a:gdLst/>
              <a:ahLst/>
              <a:cxnLst/>
              <a:rect r="r" b="b" t="t" l="l"/>
              <a:pathLst>
                <a:path h="4239895" w="10534650">
                  <a:moveTo>
                    <a:pt x="0" y="706628"/>
                  </a:moveTo>
                  <a:cubicBezTo>
                    <a:pt x="0" y="316357"/>
                    <a:pt x="316357" y="0"/>
                    <a:pt x="706628" y="0"/>
                  </a:cubicBezTo>
                  <a:lnTo>
                    <a:pt x="9828022" y="0"/>
                  </a:lnTo>
                  <a:cubicBezTo>
                    <a:pt x="10218293" y="0"/>
                    <a:pt x="10534650" y="316357"/>
                    <a:pt x="10534650" y="706628"/>
                  </a:cubicBezTo>
                  <a:lnTo>
                    <a:pt x="10534650" y="3533267"/>
                  </a:lnTo>
                  <a:cubicBezTo>
                    <a:pt x="10534650" y="3923538"/>
                    <a:pt x="10218293" y="4239895"/>
                    <a:pt x="9828022" y="4239895"/>
                  </a:cubicBezTo>
                  <a:lnTo>
                    <a:pt x="706628" y="4239895"/>
                  </a:lnTo>
                  <a:cubicBezTo>
                    <a:pt x="316357" y="4239895"/>
                    <a:pt x="0" y="3923538"/>
                    <a:pt x="0" y="3533267"/>
                  </a:cubicBezTo>
                  <a:close/>
                </a:path>
              </a:pathLst>
            </a:custGeom>
            <a:solidFill>
              <a:srgbClr val="F8FAFC"/>
            </a:solidFill>
            <a:ln w="14288" cap="sq">
              <a:solidFill>
                <a:srgbClr val="94A3B8"/>
              </a:solidFill>
              <a:prstDash val="solid"/>
              <a:miter/>
            </a:ln>
          </p:spPr>
        </p:sp>
        <p:sp>
          <p:nvSpPr>
            <p:cNvPr name="TextBox 12" id="12"/>
            <p:cNvSpPr txBox="true"/>
            <p:nvPr/>
          </p:nvSpPr>
          <p:spPr>
            <a:xfrm>
              <a:off x="0" y="-57150"/>
              <a:ext cx="10534650" cy="4297070"/>
            </a:xfrm>
            <a:prstGeom prst="rect">
              <a:avLst/>
            </a:prstGeom>
          </p:spPr>
          <p:txBody>
            <a:bodyPr anchor="ctr" rtlCol="false" tIns="50800" lIns="50800" bIns="50800" rIns="50800"/>
            <a:lstStyle/>
            <a:p>
              <a:pPr algn="ctr">
                <a:lnSpc>
                  <a:spcPts val="2700"/>
                </a:lnSpc>
              </a:pPr>
              <a:r>
                <a:rPr lang="en-US" sz="2250" b="true">
                  <a:solidFill>
                    <a:srgbClr val="17365D"/>
                  </a:solidFill>
                  <a:latin typeface="Calibri (MS) Bold"/>
                  <a:ea typeface="Calibri (MS) Bold"/>
                  <a:cs typeface="Calibri (MS) Bold"/>
                  <a:sym typeface="Calibri (MS) Bold"/>
                </a:rPr>
                <a:t>Distributed HIL &amp; SIL Test Automation</a:t>
              </a:r>
            </a:p>
            <a:p>
              <a:pPr algn="l">
                <a:lnSpc>
                  <a:spcPts val="2160"/>
                </a:lnSpc>
              </a:pPr>
              <a:r>
                <a:rPr lang="en-US" sz="1800">
                  <a:solidFill>
                    <a:srgbClr val="334155"/>
                  </a:solidFill>
                  <a:latin typeface="Calibri (MS)"/>
                  <a:ea typeface="Calibri (MS)"/>
                  <a:cs typeface="Calibri (MS)"/>
                  <a:sym typeface="Calibri (MS)"/>
                </a:rPr>
                <a:t>• Eclipse openDuT: Test automation framework connecting distributed Hardware-in-the-Loop (HIL) test benches.</a:t>
              </a:r>
            </a:p>
            <a:p>
              <a:pPr algn="l">
                <a:lnSpc>
                  <a:spcPts val="2160"/>
                </a:lnSpc>
              </a:pPr>
              <a:r>
                <a:rPr lang="en-US" sz="1800">
                  <a:solidFill>
                    <a:srgbClr val="334155"/>
                  </a:solidFill>
                  <a:latin typeface="Calibri (MS)"/>
                  <a:ea typeface="Calibri (MS)"/>
                  <a:cs typeface="Calibri (MS)"/>
                  <a:sym typeface="Calibri (MS)"/>
                </a:rPr>
                <a:t>• Eclipse OpenXilEnv: PC simulation environment for Software-in-the-Loop (SIL) ECU application testing.</a:t>
              </a:r>
            </a:p>
            <a:p>
              <a:pPr algn="l">
                <a:lnSpc>
                  <a:spcPts val="2160"/>
                </a:lnSpc>
              </a:pPr>
              <a:r>
                <a:rPr lang="en-US" sz="1800">
                  <a:solidFill>
                    <a:srgbClr val="334155"/>
                  </a:solidFill>
                  <a:latin typeface="Calibri (MS)"/>
                  <a:ea typeface="Calibri (MS)"/>
                  <a:cs typeface="Calibri (MS)"/>
                  <a:sym typeface="Calibri (MS)"/>
                </a:rPr>
                <a:t>• Digital Vehicle Prototyping: Validates vehicle applications before deployment to physical hardware.</a:t>
              </a:r>
            </a:p>
          </p:txBody>
        </p:sp>
      </p:grpSp>
      <p:sp>
        <p:nvSpPr>
          <p:cNvPr name="TextBox 13" id="13"/>
          <p:cNvSpPr txBox="true"/>
          <p:nvPr/>
        </p:nvSpPr>
        <p:spPr>
          <a:xfrm rot="0">
            <a:off x="1051560" y="8437474"/>
            <a:ext cx="16002000" cy="495300"/>
          </a:xfrm>
          <a:prstGeom prst="rect">
            <a:avLst/>
          </a:prstGeom>
        </p:spPr>
        <p:txBody>
          <a:bodyPr anchor="t" rtlCol="false" tIns="0" lIns="0" bIns="0" rIns="0">
            <a:spAutoFit/>
          </a:bodyPr>
          <a:lstStyle/>
          <a:p>
            <a:pPr algn="l">
              <a:lnSpc>
                <a:spcPts val="2070"/>
              </a:lnSpc>
            </a:pPr>
            <a:r>
              <a:rPr lang="en-US" sz="1725" b="true">
                <a:solidFill>
                  <a:srgbClr val="E11D48"/>
                </a:solidFill>
                <a:latin typeface="Calibri (MS) Bold"/>
                <a:ea typeface="Calibri (MS) Bold"/>
                <a:cs typeface="Calibri (MS) Bold"/>
                <a:sym typeface="Calibri (MS) Bold"/>
              </a:rPr>
              <a:t>SYSTEM SETUP HIGHLIGHT: Demonstrates interaction across Vehicle Data, Vehicle Abstraction, and Physical Vehicle layers.</a:t>
            </a:r>
          </a:p>
        </p:txBody>
      </p:sp>
      <p:grpSp>
        <p:nvGrpSpPr>
          <p:cNvPr name="Group 14" id="14"/>
          <p:cNvGrpSpPr/>
          <p:nvPr/>
        </p:nvGrpSpPr>
        <p:grpSpPr>
          <a:xfrm rot="0">
            <a:off x="10318623" y="1599362"/>
            <a:ext cx="7384542" cy="865327"/>
            <a:chOff x="0" y="0"/>
            <a:chExt cx="9846056" cy="1153770"/>
          </a:xfrm>
        </p:grpSpPr>
        <p:sp>
          <p:nvSpPr>
            <p:cNvPr name="Freeform 15" id="15"/>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16" id="16"/>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OTA / CLOUD   </a:t>
              </a:r>
              <a:r>
                <a:rPr lang="en-US" sz="1950">
                  <a:solidFill>
                    <a:srgbClr val="94A3B8"/>
                  </a:solidFill>
                  <a:latin typeface="Arial"/>
                  <a:ea typeface="Arial"/>
                  <a:cs typeface="Arial"/>
                  <a:sym typeface="Arial"/>
                </a:rPr>
                <a:t>➜   SDV Blueprints  |  OTA Control Plane  |  Fleet Telemetry Services  |  Container Registry</a:t>
              </a:r>
            </a:p>
          </p:txBody>
        </p:sp>
      </p:grpSp>
      <p:grpSp>
        <p:nvGrpSpPr>
          <p:cNvPr name="Group 17" id="17"/>
          <p:cNvGrpSpPr/>
          <p:nvPr/>
        </p:nvGrpSpPr>
        <p:grpSpPr>
          <a:xfrm rot="0">
            <a:off x="10318623" y="2541651"/>
            <a:ext cx="7384542" cy="865327"/>
            <a:chOff x="0" y="0"/>
            <a:chExt cx="9846056" cy="1153770"/>
          </a:xfrm>
        </p:grpSpPr>
        <p:sp>
          <p:nvSpPr>
            <p:cNvPr name="Freeform 18" id="18"/>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19" id="19"/>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VEHICLE RUNTIME   </a:t>
              </a:r>
              <a:r>
                <a:rPr lang="en-US" sz="1950">
                  <a:solidFill>
                    <a:srgbClr val="94A3B8"/>
                  </a:solidFill>
                  <a:latin typeface="Arial"/>
                  <a:ea typeface="Arial"/>
                  <a:cs typeface="Arial"/>
                  <a:sym typeface="Arial"/>
                </a:rPr>
                <a:t>➜   Eclipse Leda Platform  |  Eclipse Kanto (Container Engine)  |  Eclipse Ankaios (Orchestrator)</a:t>
              </a:r>
            </a:p>
          </p:txBody>
        </p:sp>
      </p:grpSp>
      <p:grpSp>
        <p:nvGrpSpPr>
          <p:cNvPr name="Group 20" id="20"/>
          <p:cNvGrpSpPr/>
          <p:nvPr/>
        </p:nvGrpSpPr>
        <p:grpSpPr>
          <a:xfrm rot="0">
            <a:off x="10318623" y="3483940"/>
            <a:ext cx="7384542" cy="865327"/>
            <a:chOff x="0" y="0"/>
            <a:chExt cx="9846056" cy="1153770"/>
          </a:xfrm>
        </p:grpSpPr>
        <p:sp>
          <p:nvSpPr>
            <p:cNvPr name="Freeform 21" id="21"/>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22" id="22"/>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VEHICLE APPLICATIONS   </a:t>
              </a:r>
              <a:r>
                <a:rPr lang="en-US" sz="1950">
                  <a:solidFill>
                    <a:srgbClr val="94A3B8"/>
                  </a:solidFill>
                  <a:latin typeface="Arial"/>
                  <a:ea typeface="Arial"/>
                  <a:cs typeface="Arial"/>
                  <a:sym typeface="Arial"/>
                </a:rPr>
                <a:t>➜   Eclipse Velocitas (App SDK)  |  Vehicle Telemetry App  |  ADAS Service App</a:t>
              </a:r>
            </a:p>
          </p:txBody>
        </p:sp>
      </p:grpSp>
      <p:grpSp>
        <p:nvGrpSpPr>
          <p:cNvPr name="Group 23" id="23"/>
          <p:cNvGrpSpPr/>
          <p:nvPr/>
        </p:nvGrpSpPr>
        <p:grpSpPr>
          <a:xfrm rot="0">
            <a:off x="10309098" y="4416704"/>
            <a:ext cx="7403592" cy="884377"/>
            <a:chOff x="0" y="0"/>
            <a:chExt cx="9871456" cy="1179170"/>
          </a:xfrm>
        </p:grpSpPr>
        <p:sp>
          <p:nvSpPr>
            <p:cNvPr name="Freeform 24" id="24"/>
            <p:cNvSpPr/>
            <p:nvPr/>
          </p:nvSpPr>
          <p:spPr>
            <a:xfrm flipH="false" flipV="false" rot="0">
              <a:off x="0" y="0"/>
              <a:ext cx="9871456" cy="1179068"/>
            </a:xfrm>
            <a:custGeom>
              <a:avLst/>
              <a:gdLst/>
              <a:ahLst/>
              <a:cxnLst/>
              <a:rect r="r" b="b" t="t" l="l"/>
              <a:pathLst>
                <a:path h="1179068" w="9871456">
                  <a:moveTo>
                    <a:pt x="0" y="196469"/>
                  </a:moveTo>
                  <a:cubicBezTo>
                    <a:pt x="0" y="88011"/>
                    <a:pt x="88011" y="0"/>
                    <a:pt x="196469" y="0"/>
                  </a:cubicBezTo>
                  <a:lnTo>
                    <a:pt x="9674987" y="0"/>
                  </a:lnTo>
                  <a:cubicBezTo>
                    <a:pt x="9783572" y="0"/>
                    <a:pt x="9871456" y="88011"/>
                    <a:pt x="9871456" y="196469"/>
                  </a:cubicBezTo>
                  <a:lnTo>
                    <a:pt x="9871456" y="982599"/>
                  </a:lnTo>
                  <a:cubicBezTo>
                    <a:pt x="9871456" y="1091184"/>
                    <a:pt x="9783445" y="1179068"/>
                    <a:pt x="9674987" y="1179068"/>
                  </a:cubicBezTo>
                  <a:lnTo>
                    <a:pt x="196469" y="1179068"/>
                  </a:lnTo>
                  <a:cubicBezTo>
                    <a:pt x="88011" y="1179195"/>
                    <a:pt x="0" y="1091184"/>
                    <a:pt x="0" y="982599"/>
                  </a:cubicBezTo>
                  <a:close/>
                </a:path>
              </a:pathLst>
            </a:custGeom>
            <a:solidFill>
              <a:srgbClr val="F8FAFC"/>
            </a:solidFill>
            <a:ln w="38100" cap="sq">
              <a:solidFill>
                <a:srgbClr val="0284C7"/>
              </a:solidFill>
              <a:prstDash val="solid"/>
              <a:miter/>
            </a:ln>
          </p:spPr>
        </p:sp>
        <p:sp>
          <p:nvSpPr>
            <p:cNvPr name="TextBox 25" id="25"/>
            <p:cNvSpPr txBox="true"/>
            <p:nvPr/>
          </p:nvSpPr>
          <p:spPr>
            <a:xfrm>
              <a:off x="0" y="-19050"/>
              <a:ext cx="9871456" cy="1198220"/>
            </a:xfrm>
            <a:prstGeom prst="rect">
              <a:avLst/>
            </a:prstGeom>
          </p:spPr>
          <p:txBody>
            <a:bodyPr anchor="ctr" rtlCol="false" tIns="50800" lIns="50800" bIns="50800" rIns="50800"/>
            <a:lstStyle/>
            <a:p>
              <a:pPr algn="ctr">
                <a:lnSpc>
                  <a:spcPts val="2340"/>
                </a:lnSpc>
              </a:pPr>
              <a:r>
                <a:rPr lang="en-US" sz="1950" b="true">
                  <a:solidFill>
                    <a:srgbClr val="0284C7"/>
                  </a:solidFill>
                  <a:latin typeface="Arial Bold"/>
                  <a:ea typeface="Arial Bold"/>
                  <a:cs typeface="Arial Bold"/>
                  <a:sym typeface="Arial Bold"/>
                </a:rPr>
                <a:t>VEHICLE DATA   </a:t>
              </a:r>
              <a:r>
                <a:rPr lang="en-US" sz="1950" b="true">
                  <a:solidFill>
                    <a:srgbClr val="334155"/>
                  </a:solidFill>
                  <a:latin typeface="Arial Bold"/>
                  <a:ea typeface="Arial Bold"/>
                  <a:cs typeface="Arial Bold"/>
                  <a:sym typeface="Arial Bold"/>
                </a:rPr>
                <a:t>➜   Eclipse Kuksa (Signal Broker)  |  COVESA VSS v4.0 Standard Taxonomy</a:t>
              </a:r>
            </a:p>
          </p:txBody>
        </p:sp>
      </p:grpSp>
      <p:grpSp>
        <p:nvGrpSpPr>
          <p:cNvPr name="Group 26" id="26"/>
          <p:cNvGrpSpPr/>
          <p:nvPr/>
        </p:nvGrpSpPr>
        <p:grpSpPr>
          <a:xfrm rot="0">
            <a:off x="10318623" y="5368519"/>
            <a:ext cx="7384542" cy="865327"/>
            <a:chOff x="0" y="0"/>
            <a:chExt cx="9846056" cy="1153770"/>
          </a:xfrm>
        </p:grpSpPr>
        <p:sp>
          <p:nvSpPr>
            <p:cNvPr name="Freeform 27" id="27"/>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28" id="28"/>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COMMUNICATION   </a:t>
              </a:r>
              <a:r>
                <a:rPr lang="en-US" sz="1950">
                  <a:solidFill>
                    <a:srgbClr val="94A3B8"/>
                  </a:solidFill>
                  <a:latin typeface="Arial"/>
                  <a:ea typeface="Arial"/>
                  <a:cs typeface="Arial"/>
                  <a:sym typeface="Arial"/>
                </a:rPr>
                <a:t>➜   Eclipse Zenoh (Low-Latency Pub/Sub)  |  uProtocol Transport Layer</a:t>
              </a:r>
            </a:p>
          </p:txBody>
        </p:sp>
      </p:grpSp>
      <p:grpSp>
        <p:nvGrpSpPr>
          <p:cNvPr name="Group 29" id="29"/>
          <p:cNvGrpSpPr/>
          <p:nvPr/>
        </p:nvGrpSpPr>
        <p:grpSpPr>
          <a:xfrm rot="0">
            <a:off x="10309098" y="6301283"/>
            <a:ext cx="7403592" cy="884377"/>
            <a:chOff x="0" y="0"/>
            <a:chExt cx="9871456" cy="1179170"/>
          </a:xfrm>
        </p:grpSpPr>
        <p:sp>
          <p:nvSpPr>
            <p:cNvPr name="Freeform 30" id="30"/>
            <p:cNvSpPr/>
            <p:nvPr/>
          </p:nvSpPr>
          <p:spPr>
            <a:xfrm flipH="false" flipV="false" rot="0">
              <a:off x="0" y="0"/>
              <a:ext cx="9871456" cy="1179068"/>
            </a:xfrm>
            <a:custGeom>
              <a:avLst/>
              <a:gdLst/>
              <a:ahLst/>
              <a:cxnLst/>
              <a:rect r="r" b="b" t="t" l="l"/>
              <a:pathLst>
                <a:path h="1179068" w="9871456">
                  <a:moveTo>
                    <a:pt x="0" y="196469"/>
                  </a:moveTo>
                  <a:cubicBezTo>
                    <a:pt x="0" y="88011"/>
                    <a:pt x="88011" y="0"/>
                    <a:pt x="196469" y="0"/>
                  </a:cubicBezTo>
                  <a:lnTo>
                    <a:pt x="9674987" y="0"/>
                  </a:lnTo>
                  <a:cubicBezTo>
                    <a:pt x="9783572" y="0"/>
                    <a:pt x="9871456" y="88011"/>
                    <a:pt x="9871456" y="196469"/>
                  </a:cubicBezTo>
                  <a:lnTo>
                    <a:pt x="9871456" y="982599"/>
                  </a:lnTo>
                  <a:cubicBezTo>
                    <a:pt x="9871456" y="1091184"/>
                    <a:pt x="9783445" y="1179068"/>
                    <a:pt x="9674987" y="1179068"/>
                  </a:cubicBezTo>
                  <a:lnTo>
                    <a:pt x="196469" y="1179068"/>
                  </a:lnTo>
                  <a:cubicBezTo>
                    <a:pt x="88011" y="1179195"/>
                    <a:pt x="0" y="1091184"/>
                    <a:pt x="0" y="982599"/>
                  </a:cubicBezTo>
                  <a:close/>
                </a:path>
              </a:pathLst>
            </a:custGeom>
            <a:solidFill>
              <a:srgbClr val="F8FAFC"/>
            </a:solidFill>
            <a:ln w="38100" cap="sq">
              <a:solidFill>
                <a:srgbClr val="17365D"/>
              </a:solidFill>
              <a:prstDash val="solid"/>
              <a:miter/>
            </a:ln>
          </p:spPr>
        </p:sp>
        <p:sp>
          <p:nvSpPr>
            <p:cNvPr name="TextBox 31" id="31"/>
            <p:cNvSpPr txBox="true"/>
            <p:nvPr/>
          </p:nvSpPr>
          <p:spPr>
            <a:xfrm>
              <a:off x="0" y="-19050"/>
              <a:ext cx="9871456" cy="1198220"/>
            </a:xfrm>
            <a:prstGeom prst="rect">
              <a:avLst/>
            </a:prstGeom>
          </p:spPr>
          <p:txBody>
            <a:bodyPr anchor="ctr" rtlCol="false" tIns="50800" lIns="50800" bIns="50800" rIns="50800"/>
            <a:lstStyle/>
            <a:p>
              <a:pPr algn="ctr">
                <a:lnSpc>
                  <a:spcPts val="2340"/>
                </a:lnSpc>
              </a:pPr>
              <a:r>
                <a:rPr lang="en-US" sz="1950" b="true">
                  <a:solidFill>
                    <a:srgbClr val="17365D"/>
                  </a:solidFill>
                  <a:latin typeface="Arial Bold"/>
                  <a:ea typeface="Arial Bold"/>
                  <a:cs typeface="Arial Bold"/>
                  <a:sym typeface="Arial Bold"/>
                </a:rPr>
                <a:t>VEHICLE ABSTRACTION   </a:t>
              </a:r>
              <a:r>
                <a:rPr lang="en-US" sz="1950" b="true">
                  <a:solidFill>
                    <a:srgbClr val="334155"/>
                  </a:solidFill>
                  <a:latin typeface="Arial Bold"/>
                  <a:ea typeface="Arial Bold"/>
                  <a:cs typeface="Arial Bold"/>
                  <a:sym typeface="Arial Bold"/>
                </a:rPr>
                <a:t>➜   Lab Skateboard Vehicle Profile  |  VSS Overlay  |  Lab Skateboard Vehicle Adapter (DBC / CAN)</a:t>
              </a:r>
            </a:p>
          </p:txBody>
        </p:sp>
      </p:grpSp>
      <p:grpSp>
        <p:nvGrpSpPr>
          <p:cNvPr name="Group 32" id="32"/>
          <p:cNvGrpSpPr/>
          <p:nvPr/>
        </p:nvGrpSpPr>
        <p:grpSpPr>
          <a:xfrm rot="0">
            <a:off x="10309098" y="7243572"/>
            <a:ext cx="7403592" cy="884377"/>
            <a:chOff x="0" y="0"/>
            <a:chExt cx="9871456" cy="1179170"/>
          </a:xfrm>
        </p:grpSpPr>
        <p:sp>
          <p:nvSpPr>
            <p:cNvPr name="Freeform 33" id="33"/>
            <p:cNvSpPr/>
            <p:nvPr/>
          </p:nvSpPr>
          <p:spPr>
            <a:xfrm flipH="false" flipV="false" rot="0">
              <a:off x="0" y="0"/>
              <a:ext cx="9871456" cy="1179068"/>
            </a:xfrm>
            <a:custGeom>
              <a:avLst/>
              <a:gdLst/>
              <a:ahLst/>
              <a:cxnLst/>
              <a:rect r="r" b="b" t="t" l="l"/>
              <a:pathLst>
                <a:path h="1179068" w="9871456">
                  <a:moveTo>
                    <a:pt x="0" y="196469"/>
                  </a:moveTo>
                  <a:cubicBezTo>
                    <a:pt x="0" y="88011"/>
                    <a:pt x="88011" y="0"/>
                    <a:pt x="196469" y="0"/>
                  </a:cubicBezTo>
                  <a:lnTo>
                    <a:pt x="9674987" y="0"/>
                  </a:lnTo>
                  <a:cubicBezTo>
                    <a:pt x="9783572" y="0"/>
                    <a:pt x="9871456" y="88011"/>
                    <a:pt x="9871456" y="196469"/>
                  </a:cubicBezTo>
                  <a:lnTo>
                    <a:pt x="9871456" y="982599"/>
                  </a:lnTo>
                  <a:cubicBezTo>
                    <a:pt x="9871456" y="1091184"/>
                    <a:pt x="9783445" y="1179068"/>
                    <a:pt x="9674987" y="1179068"/>
                  </a:cubicBezTo>
                  <a:lnTo>
                    <a:pt x="196469" y="1179068"/>
                  </a:lnTo>
                  <a:cubicBezTo>
                    <a:pt x="88011" y="1179195"/>
                    <a:pt x="0" y="1091184"/>
                    <a:pt x="0" y="982599"/>
                  </a:cubicBezTo>
                  <a:close/>
                </a:path>
              </a:pathLst>
            </a:custGeom>
            <a:solidFill>
              <a:srgbClr val="FFF1F2"/>
            </a:solidFill>
            <a:ln w="38100" cap="sq">
              <a:solidFill>
                <a:srgbClr val="E11D48"/>
              </a:solidFill>
              <a:prstDash val="solid"/>
              <a:miter/>
            </a:ln>
          </p:spPr>
        </p:sp>
        <p:sp>
          <p:nvSpPr>
            <p:cNvPr name="TextBox 34" id="34"/>
            <p:cNvSpPr txBox="true"/>
            <p:nvPr/>
          </p:nvSpPr>
          <p:spPr>
            <a:xfrm>
              <a:off x="0" y="-19050"/>
              <a:ext cx="9871456" cy="1198220"/>
            </a:xfrm>
            <a:prstGeom prst="rect">
              <a:avLst/>
            </a:prstGeom>
          </p:spPr>
          <p:txBody>
            <a:bodyPr anchor="ctr" rtlCol="false" tIns="50800" lIns="50800" bIns="50800" rIns="50800"/>
            <a:lstStyle/>
            <a:p>
              <a:pPr algn="ctr">
                <a:lnSpc>
                  <a:spcPts val="2340"/>
                </a:lnSpc>
              </a:pPr>
              <a:r>
                <a:rPr lang="en-US" sz="1950" b="true">
                  <a:solidFill>
                    <a:srgbClr val="E11D48"/>
                  </a:solidFill>
                  <a:latin typeface="Arial Bold"/>
                  <a:ea typeface="Arial Bold"/>
                  <a:cs typeface="Arial Bold"/>
                  <a:sym typeface="Arial Bold"/>
                </a:rPr>
                <a:t>Lab Skateboard DBW ACTUATION   </a:t>
              </a:r>
              <a:r>
                <a:rPr lang="en-US" sz="1950" b="true">
                  <a:solidFill>
                    <a:srgbClr val="334155"/>
                  </a:solidFill>
                  <a:latin typeface="Arial Bold"/>
                  <a:ea typeface="Arial Bold"/>
                  <a:cs typeface="Arial Bold"/>
                  <a:sym typeface="Arial Bold"/>
                </a:rPr>
                <a:t>➜   CAN 2.0B Bus (0x1228 Request / 0x1291 Status) ➔ Actuators &amp; ECUs</a:t>
              </a:r>
            </a:p>
          </p:txBody>
        </p:sp>
      </p:grpSp>
      <p:grpSp>
        <p:nvGrpSpPr>
          <p:cNvPr name="Group 35" id="35"/>
          <p:cNvGrpSpPr/>
          <p:nvPr/>
        </p:nvGrpSpPr>
        <p:grpSpPr>
          <a:xfrm rot="0">
            <a:off x="754380" y="9669780"/>
            <a:ext cx="16733520" cy="13716"/>
            <a:chOff x="0" y="0"/>
            <a:chExt cx="22311360" cy="18288"/>
          </a:xfrm>
        </p:grpSpPr>
        <p:sp>
          <p:nvSpPr>
            <p:cNvPr name="Freeform 36" id="36"/>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1292047"/>
            <a:chOff x="0" y="0"/>
            <a:chExt cx="24383390" cy="1722730"/>
          </a:xfrm>
        </p:grpSpPr>
        <p:sp>
          <p:nvSpPr>
            <p:cNvPr name="Freeform 3" id="3"/>
            <p:cNvSpPr/>
            <p:nvPr/>
          </p:nvSpPr>
          <p:spPr>
            <a:xfrm flipH="false" flipV="false" rot="0">
              <a:off x="0" y="0"/>
              <a:ext cx="24383364" cy="1722755"/>
            </a:xfrm>
            <a:custGeom>
              <a:avLst/>
              <a:gdLst/>
              <a:ahLst/>
              <a:cxnLst/>
              <a:rect r="r" b="b" t="t" l="l"/>
              <a:pathLst>
                <a:path h="1722755" w="24383364">
                  <a:moveTo>
                    <a:pt x="0" y="0"/>
                  </a:moveTo>
                  <a:lnTo>
                    <a:pt x="24383364" y="0"/>
                  </a:lnTo>
                  <a:lnTo>
                    <a:pt x="24383364" y="1722755"/>
                  </a:lnTo>
                  <a:lnTo>
                    <a:pt x="0" y="1722755"/>
                  </a:lnTo>
                  <a:close/>
                </a:path>
              </a:pathLst>
            </a:custGeom>
            <a:solidFill>
              <a:srgbClr val="17365D"/>
            </a:solidFill>
          </p:spPr>
        </p:sp>
      </p:grpSp>
      <p:sp>
        <p:nvSpPr>
          <p:cNvPr name="TextBox 4" id="4"/>
          <p:cNvSpPr txBox="true"/>
          <p:nvPr/>
        </p:nvSpPr>
        <p:spPr>
          <a:xfrm rot="0">
            <a:off x="312268" y="-1905"/>
            <a:ext cx="9934042" cy="517169"/>
          </a:xfrm>
          <a:prstGeom prst="rect">
            <a:avLst/>
          </a:prstGeom>
        </p:spPr>
        <p:txBody>
          <a:bodyPr anchor="t" rtlCol="false" tIns="0" lIns="0" bIns="0" rIns="0">
            <a:spAutoFit/>
          </a:bodyPr>
          <a:lstStyle/>
          <a:p>
            <a:pPr algn="l">
              <a:lnSpc>
                <a:spcPts val="2340"/>
              </a:lnSpc>
            </a:pPr>
            <a:r>
              <a:rPr lang="en-US" sz="1950" b="true">
                <a:solidFill>
                  <a:srgbClr val="FFFFFF"/>
                </a:solidFill>
                <a:latin typeface="Calibri (MS) Bold"/>
                <a:ea typeface="Calibri (MS) Bold"/>
                <a:cs typeface="Calibri (MS) Bold"/>
                <a:sym typeface="Calibri (MS) Bold"/>
              </a:rPr>
              <a:t>| SYSTEM SETUP</a:t>
            </a:r>
          </a:p>
        </p:txBody>
      </p:sp>
      <p:sp>
        <p:nvSpPr>
          <p:cNvPr name="TextBox 5" id="5"/>
          <p:cNvSpPr txBox="true"/>
          <p:nvPr/>
        </p:nvSpPr>
        <p:spPr>
          <a:xfrm rot="0">
            <a:off x="845820" y="637413"/>
            <a:ext cx="13807440" cy="455295"/>
          </a:xfrm>
          <a:prstGeom prst="rect">
            <a:avLst/>
          </a:prstGeom>
        </p:spPr>
        <p:txBody>
          <a:bodyPr anchor="t" rtlCol="false" tIns="0" lIns="0" bIns="0" rIns="0">
            <a:spAutoFit/>
          </a:bodyPr>
          <a:lstStyle/>
          <a:p>
            <a:pPr algn="l">
              <a:lnSpc>
                <a:spcPts val="3960"/>
              </a:lnSpc>
            </a:pPr>
            <a:r>
              <a:rPr lang="en-US" sz="3300" b="true">
                <a:solidFill>
                  <a:srgbClr val="FFFFFF"/>
                </a:solidFill>
                <a:latin typeface="Calibri (MS) Bold"/>
                <a:ea typeface="Calibri (MS) Bold"/>
                <a:cs typeface="Calibri (MS) Bold"/>
                <a:sym typeface="Calibri (MS) Bold"/>
              </a:rPr>
              <a:t>Vehicle Profile &amp; Drive-by-Wire Actuation Boundary</a:t>
            </a:r>
          </a:p>
        </p:txBody>
      </p:sp>
      <p:sp>
        <p:nvSpPr>
          <p:cNvPr name="TextBox 6" id="6"/>
          <p:cNvSpPr txBox="true"/>
          <p:nvPr/>
        </p:nvSpPr>
        <p:spPr>
          <a:xfrm rot="0">
            <a:off x="15076170" y="656463"/>
            <a:ext cx="2532888" cy="299085"/>
          </a:xfrm>
          <a:prstGeom prst="rect">
            <a:avLst/>
          </a:prstGeom>
        </p:spPr>
        <p:txBody>
          <a:bodyPr anchor="t" rtlCol="false" tIns="0" lIns="0" bIns="0" rIns="0">
            <a:spAutoFit/>
          </a:bodyPr>
          <a:lstStyle/>
          <a:p>
            <a:pPr algn="l">
              <a:lnSpc>
                <a:spcPts val="2340"/>
              </a:lnSpc>
            </a:pPr>
            <a:r>
              <a:rPr lang="en-US" sz="1950" b="true">
                <a:solidFill>
                  <a:srgbClr val="FFFFFF"/>
                </a:solidFill>
                <a:latin typeface="Calibri (MS) Bold"/>
                <a:ea typeface="Calibri (MS) Bold"/>
                <a:cs typeface="Calibri (MS) Bold"/>
                <a:sym typeface="Calibri (MS) Bold"/>
              </a:rPr>
              <a:t>ACTUATION</a:t>
            </a:r>
          </a:p>
        </p:txBody>
      </p:sp>
      <p:grpSp>
        <p:nvGrpSpPr>
          <p:cNvPr name="Group 7" id="7"/>
          <p:cNvGrpSpPr/>
          <p:nvPr/>
        </p:nvGrpSpPr>
        <p:grpSpPr>
          <a:xfrm rot="0">
            <a:off x="1579797" y="1626432"/>
            <a:ext cx="7900988" cy="3179940"/>
            <a:chOff x="0" y="0"/>
            <a:chExt cx="10534650" cy="4239920"/>
          </a:xfrm>
        </p:grpSpPr>
        <p:sp>
          <p:nvSpPr>
            <p:cNvPr name="Freeform 8" id="8"/>
            <p:cNvSpPr/>
            <p:nvPr/>
          </p:nvSpPr>
          <p:spPr>
            <a:xfrm flipH="false" flipV="false" rot="0">
              <a:off x="0" y="0"/>
              <a:ext cx="10534650" cy="4239895"/>
            </a:xfrm>
            <a:custGeom>
              <a:avLst/>
              <a:gdLst/>
              <a:ahLst/>
              <a:cxnLst/>
              <a:rect r="r" b="b" t="t" l="l"/>
              <a:pathLst>
                <a:path h="4239895" w="10534650">
                  <a:moveTo>
                    <a:pt x="0" y="706628"/>
                  </a:moveTo>
                  <a:cubicBezTo>
                    <a:pt x="0" y="316357"/>
                    <a:pt x="316357" y="0"/>
                    <a:pt x="706628" y="0"/>
                  </a:cubicBezTo>
                  <a:lnTo>
                    <a:pt x="9828022" y="0"/>
                  </a:lnTo>
                  <a:cubicBezTo>
                    <a:pt x="10218293" y="0"/>
                    <a:pt x="10534650" y="316357"/>
                    <a:pt x="10534650" y="706628"/>
                  </a:cubicBezTo>
                  <a:lnTo>
                    <a:pt x="10534650" y="3533267"/>
                  </a:lnTo>
                  <a:cubicBezTo>
                    <a:pt x="10534650" y="3923538"/>
                    <a:pt x="10218293" y="4239895"/>
                    <a:pt x="9828022" y="4239895"/>
                  </a:cubicBezTo>
                  <a:lnTo>
                    <a:pt x="706628" y="4239895"/>
                  </a:lnTo>
                  <a:cubicBezTo>
                    <a:pt x="316357" y="4239895"/>
                    <a:pt x="0" y="3923538"/>
                    <a:pt x="0" y="3533267"/>
                  </a:cubicBezTo>
                  <a:close/>
                </a:path>
              </a:pathLst>
            </a:custGeom>
            <a:solidFill>
              <a:srgbClr val="F8FAFC"/>
            </a:solidFill>
            <a:ln w="14288" cap="sq">
              <a:solidFill>
                <a:srgbClr val="94A3B8"/>
              </a:solidFill>
              <a:prstDash val="solid"/>
              <a:miter/>
            </a:ln>
          </p:spPr>
        </p:sp>
        <p:sp>
          <p:nvSpPr>
            <p:cNvPr name="TextBox 9" id="9"/>
            <p:cNvSpPr txBox="true"/>
            <p:nvPr/>
          </p:nvSpPr>
          <p:spPr>
            <a:xfrm>
              <a:off x="0" y="-57150"/>
              <a:ext cx="10534650" cy="4297070"/>
            </a:xfrm>
            <a:prstGeom prst="rect">
              <a:avLst/>
            </a:prstGeom>
          </p:spPr>
          <p:txBody>
            <a:bodyPr anchor="ctr" rtlCol="false" tIns="50800" lIns="50800" bIns="50800" rIns="50800"/>
            <a:lstStyle/>
            <a:p>
              <a:pPr algn="ctr">
                <a:lnSpc>
                  <a:spcPts val="2700"/>
                </a:lnSpc>
              </a:pPr>
              <a:r>
                <a:rPr lang="en-US" sz="2250" b="true">
                  <a:solidFill>
                    <a:srgbClr val="17365D"/>
                  </a:solidFill>
                  <a:latin typeface="Calibri (MS) Bold"/>
                  <a:ea typeface="Calibri (MS) Bold"/>
                  <a:cs typeface="Calibri (MS) Bold"/>
                  <a:sym typeface="Calibri (MS) Bold"/>
                </a:rPr>
                <a:t>Versioned Vehicle Profile Specification</a:t>
              </a:r>
            </a:p>
            <a:p>
              <a:pPr algn="l">
                <a:lnSpc>
                  <a:spcPts val="2160"/>
                </a:lnSpc>
              </a:pPr>
              <a:r>
                <a:rPr lang="en-US" sz="1800">
                  <a:solidFill>
                    <a:srgbClr val="334155"/>
                  </a:solidFill>
                  <a:latin typeface="Calibri (MS)"/>
                  <a:ea typeface="Calibri (MS)"/>
                  <a:cs typeface="Calibri (MS)"/>
                  <a:sym typeface="Calibri (MS)"/>
                </a:rPr>
                <a:t>• Vehicle Schema Overlay: Machine-readable profile capturing CAN DBC signal definitions and VSS mappings.</a:t>
              </a:r>
            </a:p>
            <a:p>
              <a:pPr algn="l">
                <a:lnSpc>
                  <a:spcPts val="2160"/>
                </a:lnSpc>
              </a:pPr>
              <a:r>
                <a:rPr lang="en-US" sz="1800">
                  <a:solidFill>
                    <a:srgbClr val="334155"/>
                  </a:solidFill>
                  <a:latin typeface="Calibri (MS)"/>
                  <a:ea typeface="Calibri (MS)"/>
                  <a:cs typeface="Calibri (MS)"/>
                  <a:sym typeface="Calibri (MS)"/>
                </a:rPr>
                <a:t>• Hardware Capabilities: Encapsulates steering DBW (+-540 deg), throttle (0-100%), and brake actuation limits.</a:t>
              </a:r>
            </a:p>
            <a:p>
              <a:pPr algn="l">
                <a:lnSpc>
                  <a:spcPts val="2160"/>
                </a:lnSpc>
              </a:pPr>
              <a:r>
                <a:rPr lang="en-US" sz="1800">
                  <a:solidFill>
                    <a:srgbClr val="334155"/>
                  </a:solidFill>
                  <a:latin typeface="Calibri (MS)"/>
                  <a:ea typeface="Calibri (MS)"/>
                  <a:cs typeface="Calibri (MS)"/>
                  <a:sym typeface="Calibri (MS)"/>
                </a:rPr>
                <a:t>• Multi-Vehicle Portability: Enables clean substitution of physical vehicles without altering application code.</a:t>
              </a:r>
            </a:p>
          </p:txBody>
        </p:sp>
      </p:grpSp>
      <p:grpSp>
        <p:nvGrpSpPr>
          <p:cNvPr name="Group 10" id="10"/>
          <p:cNvGrpSpPr/>
          <p:nvPr/>
        </p:nvGrpSpPr>
        <p:grpSpPr>
          <a:xfrm rot="0">
            <a:off x="1579797" y="5133613"/>
            <a:ext cx="7900988" cy="3179940"/>
            <a:chOff x="0" y="0"/>
            <a:chExt cx="10534650" cy="4239920"/>
          </a:xfrm>
        </p:grpSpPr>
        <p:sp>
          <p:nvSpPr>
            <p:cNvPr name="Freeform 11" id="11"/>
            <p:cNvSpPr/>
            <p:nvPr/>
          </p:nvSpPr>
          <p:spPr>
            <a:xfrm flipH="false" flipV="false" rot="0">
              <a:off x="0" y="0"/>
              <a:ext cx="10534650" cy="4239895"/>
            </a:xfrm>
            <a:custGeom>
              <a:avLst/>
              <a:gdLst/>
              <a:ahLst/>
              <a:cxnLst/>
              <a:rect r="r" b="b" t="t" l="l"/>
              <a:pathLst>
                <a:path h="4239895" w="10534650">
                  <a:moveTo>
                    <a:pt x="0" y="706628"/>
                  </a:moveTo>
                  <a:cubicBezTo>
                    <a:pt x="0" y="316357"/>
                    <a:pt x="316357" y="0"/>
                    <a:pt x="706628" y="0"/>
                  </a:cubicBezTo>
                  <a:lnTo>
                    <a:pt x="9828022" y="0"/>
                  </a:lnTo>
                  <a:cubicBezTo>
                    <a:pt x="10218293" y="0"/>
                    <a:pt x="10534650" y="316357"/>
                    <a:pt x="10534650" y="706628"/>
                  </a:cubicBezTo>
                  <a:lnTo>
                    <a:pt x="10534650" y="3533267"/>
                  </a:lnTo>
                  <a:cubicBezTo>
                    <a:pt x="10534650" y="3923538"/>
                    <a:pt x="10218293" y="4239895"/>
                    <a:pt x="9828022" y="4239895"/>
                  </a:cubicBezTo>
                  <a:lnTo>
                    <a:pt x="706628" y="4239895"/>
                  </a:lnTo>
                  <a:cubicBezTo>
                    <a:pt x="316357" y="4239895"/>
                    <a:pt x="0" y="3923538"/>
                    <a:pt x="0" y="3533267"/>
                  </a:cubicBezTo>
                  <a:close/>
                </a:path>
              </a:pathLst>
            </a:custGeom>
            <a:solidFill>
              <a:srgbClr val="F8FAFC"/>
            </a:solidFill>
            <a:ln w="14288" cap="sq">
              <a:solidFill>
                <a:srgbClr val="94A3B8"/>
              </a:solidFill>
              <a:prstDash val="solid"/>
              <a:miter/>
            </a:ln>
          </p:spPr>
        </p:sp>
        <p:sp>
          <p:nvSpPr>
            <p:cNvPr name="TextBox 12" id="12"/>
            <p:cNvSpPr txBox="true"/>
            <p:nvPr/>
          </p:nvSpPr>
          <p:spPr>
            <a:xfrm>
              <a:off x="0" y="-57150"/>
              <a:ext cx="10534650" cy="4297070"/>
            </a:xfrm>
            <a:prstGeom prst="rect">
              <a:avLst/>
            </a:prstGeom>
          </p:spPr>
          <p:txBody>
            <a:bodyPr anchor="ctr" rtlCol="false" tIns="50800" lIns="50800" bIns="50800" rIns="50800"/>
            <a:lstStyle/>
            <a:p>
              <a:pPr algn="ctr">
                <a:lnSpc>
                  <a:spcPts val="2700"/>
                </a:lnSpc>
              </a:pPr>
              <a:r>
                <a:rPr lang="en-US" sz="2250" b="true">
                  <a:solidFill>
                    <a:srgbClr val="17365D"/>
                  </a:solidFill>
                  <a:latin typeface="Calibri (MS) Bold"/>
                  <a:ea typeface="Calibri (MS) Bold"/>
                  <a:cs typeface="Calibri (MS) Bold"/>
                  <a:sym typeface="Calibri (MS) Bold"/>
                </a:rPr>
                <a:t>Safety Watchdog &amp; Interlock Boundary</a:t>
              </a:r>
            </a:p>
            <a:p>
              <a:pPr algn="l">
                <a:lnSpc>
                  <a:spcPts val="2160"/>
                </a:lnSpc>
              </a:pPr>
              <a:r>
                <a:rPr lang="en-US" sz="1800">
                  <a:solidFill>
                    <a:srgbClr val="334155"/>
                  </a:solidFill>
                  <a:latin typeface="Calibri (MS)"/>
                  <a:ea typeface="Calibri (MS)"/>
                  <a:cs typeface="Calibri (MS)"/>
                  <a:sym typeface="Calibri (MS)"/>
                </a:rPr>
                <a:t>• Lab Skateboard Vehicle Adapter: Converts Kuksa VSS updates into Lab Skateboard CAN frames (0x1228 / 0x1291).</a:t>
              </a:r>
            </a:p>
            <a:p>
              <a:pPr algn="l">
                <a:lnSpc>
                  <a:spcPts val="2160"/>
                </a:lnSpc>
              </a:pPr>
              <a:r>
                <a:rPr lang="en-US" sz="1800">
                  <a:solidFill>
                    <a:srgbClr val="334155"/>
                  </a:solidFill>
                  <a:latin typeface="Calibri (MS)"/>
                  <a:ea typeface="Calibri (MS)"/>
                  <a:cs typeface="Calibri (MS)"/>
                  <a:sym typeface="Calibri (MS)"/>
                </a:rPr>
                <a:t>• Safety Watchdog Heartbeat: Transmits continuous safety heartbeat counter to DBW interlock controller.</a:t>
              </a:r>
            </a:p>
            <a:p>
              <a:pPr algn="l">
                <a:lnSpc>
                  <a:spcPts val="2160"/>
                </a:lnSpc>
              </a:pPr>
              <a:r>
                <a:rPr lang="en-US" sz="1800">
                  <a:solidFill>
                    <a:srgbClr val="334155"/>
                  </a:solidFill>
                  <a:latin typeface="Calibri (MS)"/>
                  <a:ea typeface="Calibri (MS)"/>
                  <a:cs typeface="Calibri (MS)"/>
                  <a:sym typeface="Calibri (MS)"/>
                </a:rPr>
                <a:t>• Low-Level Actuation: Commands physical steer, speed, and emergency brake actuators on CAN 2.0B bus.</a:t>
              </a:r>
            </a:p>
          </p:txBody>
        </p:sp>
      </p:grpSp>
      <p:sp>
        <p:nvSpPr>
          <p:cNvPr name="TextBox 13" id="13"/>
          <p:cNvSpPr txBox="true"/>
          <p:nvPr/>
        </p:nvSpPr>
        <p:spPr>
          <a:xfrm rot="0">
            <a:off x="1051560" y="8437474"/>
            <a:ext cx="16002000" cy="495300"/>
          </a:xfrm>
          <a:prstGeom prst="rect">
            <a:avLst/>
          </a:prstGeom>
        </p:spPr>
        <p:txBody>
          <a:bodyPr anchor="t" rtlCol="false" tIns="0" lIns="0" bIns="0" rIns="0">
            <a:spAutoFit/>
          </a:bodyPr>
          <a:lstStyle/>
          <a:p>
            <a:pPr algn="l">
              <a:lnSpc>
                <a:spcPts val="2070"/>
              </a:lnSpc>
            </a:pPr>
            <a:r>
              <a:rPr lang="en-US" sz="1725" b="true">
                <a:solidFill>
                  <a:srgbClr val="E11D48"/>
                </a:solidFill>
                <a:latin typeface="Calibri (MS) Bold"/>
                <a:ea typeface="Calibri (MS) Bold"/>
                <a:cs typeface="Calibri (MS) Bold"/>
                <a:sym typeface="Calibri (MS) Bold"/>
              </a:rPr>
              <a:t>SYSTEM SETUP HIGHLIGHT: Demonstrates interaction across Vehicle Abstraction and Physical DBW Actuation layers.</a:t>
            </a:r>
          </a:p>
        </p:txBody>
      </p:sp>
      <p:grpSp>
        <p:nvGrpSpPr>
          <p:cNvPr name="Group 14" id="14"/>
          <p:cNvGrpSpPr/>
          <p:nvPr/>
        </p:nvGrpSpPr>
        <p:grpSpPr>
          <a:xfrm rot="0">
            <a:off x="10318623" y="1599362"/>
            <a:ext cx="7384542" cy="865327"/>
            <a:chOff x="0" y="0"/>
            <a:chExt cx="9846056" cy="1153770"/>
          </a:xfrm>
        </p:grpSpPr>
        <p:sp>
          <p:nvSpPr>
            <p:cNvPr name="Freeform 15" id="15"/>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16" id="16"/>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OTA / CLOUD   </a:t>
              </a:r>
              <a:r>
                <a:rPr lang="en-US" sz="1950">
                  <a:solidFill>
                    <a:srgbClr val="94A3B8"/>
                  </a:solidFill>
                  <a:latin typeface="Arial"/>
                  <a:ea typeface="Arial"/>
                  <a:cs typeface="Arial"/>
                  <a:sym typeface="Arial"/>
                </a:rPr>
                <a:t>➜   SDV Blueprints  |  OTA Control Plane  |  Fleet Telemetry Services  |  Container Registry</a:t>
              </a:r>
            </a:p>
          </p:txBody>
        </p:sp>
      </p:grpSp>
      <p:grpSp>
        <p:nvGrpSpPr>
          <p:cNvPr name="Group 17" id="17"/>
          <p:cNvGrpSpPr/>
          <p:nvPr/>
        </p:nvGrpSpPr>
        <p:grpSpPr>
          <a:xfrm rot="0">
            <a:off x="10318623" y="2541651"/>
            <a:ext cx="7384542" cy="865327"/>
            <a:chOff x="0" y="0"/>
            <a:chExt cx="9846056" cy="1153770"/>
          </a:xfrm>
        </p:grpSpPr>
        <p:sp>
          <p:nvSpPr>
            <p:cNvPr name="Freeform 18" id="18"/>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19" id="19"/>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VEHICLE RUNTIME   </a:t>
              </a:r>
              <a:r>
                <a:rPr lang="en-US" sz="1950">
                  <a:solidFill>
                    <a:srgbClr val="94A3B8"/>
                  </a:solidFill>
                  <a:latin typeface="Arial"/>
                  <a:ea typeface="Arial"/>
                  <a:cs typeface="Arial"/>
                  <a:sym typeface="Arial"/>
                </a:rPr>
                <a:t>➜   Eclipse Leda Platform  |  Eclipse Kanto (Container Engine)  |  Eclipse Ankaios (Orchestrator)</a:t>
              </a:r>
            </a:p>
          </p:txBody>
        </p:sp>
      </p:grpSp>
      <p:grpSp>
        <p:nvGrpSpPr>
          <p:cNvPr name="Group 20" id="20"/>
          <p:cNvGrpSpPr/>
          <p:nvPr/>
        </p:nvGrpSpPr>
        <p:grpSpPr>
          <a:xfrm rot="0">
            <a:off x="10318623" y="3483940"/>
            <a:ext cx="7384542" cy="865327"/>
            <a:chOff x="0" y="0"/>
            <a:chExt cx="9846056" cy="1153770"/>
          </a:xfrm>
        </p:grpSpPr>
        <p:sp>
          <p:nvSpPr>
            <p:cNvPr name="Freeform 21" id="21"/>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22" id="22"/>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VEHICLE APPLICATIONS   </a:t>
              </a:r>
              <a:r>
                <a:rPr lang="en-US" sz="1950">
                  <a:solidFill>
                    <a:srgbClr val="94A3B8"/>
                  </a:solidFill>
                  <a:latin typeface="Arial"/>
                  <a:ea typeface="Arial"/>
                  <a:cs typeface="Arial"/>
                  <a:sym typeface="Arial"/>
                </a:rPr>
                <a:t>➜   Eclipse Velocitas (App SDK)  |  Vehicle Telemetry App  |  ADAS Service App</a:t>
              </a:r>
            </a:p>
          </p:txBody>
        </p:sp>
      </p:grpSp>
      <p:grpSp>
        <p:nvGrpSpPr>
          <p:cNvPr name="Group 23" id="23"/>
          <p:cNvGrpSpPr/>
          <p:nvPr/>
        </p:nvGrpSpPr>
        <p:grpSpPr>
          <a:xfrm rot="0">
            <a:off x="10318623" y="4426229"/>
            <a:ext cx="7384542" cy="865327"/>
            <a:chOff x="0" y="0"/>
            <a:chExt cx="9846056" cy="1153770"/>
          </a:xfrm>
        </p:grpSpPr>
        <p:sp>
          <p:nvSpPr>
            <p:cNvPr name="Freeform 24" id="24"/>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25" id="25"/>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VEHICLE DATA   </a:t>
              </a:r>
              <a:r>
                <a:rPr lang="en-US" sz="1950">
                  <a:solidFill>
                    <a:srgbClr val="94A3B8"/>
                  </a:solidFill>
                  <a:latin typeface="Arial"/>
                  <a:ea typeface="Arial"/>
                  <a:cs typeface="Arial"/>
                  <a:sym typeface="Arial"/>
                </a:rPr>
                <a:t>➜   Eclipse Kuksa (Signal Broker)  |  COVESA VSS v4.0 Standard Taxonomy</a:t>
              </a:r>
            </a:p>
          </p:txBody>
        </p:sp>
      </p:grpSp>
      <p:grpSp>
        <p:nvGrpSpPr>
          <p:cNvPr name="Group 26" id="26"/>
          <p:cNvGrpSpPr/>
          <p:nvPr/>
        </p:nvGrpSpPr>
        <p:grpSpPr>
          <a:xfrm rot="0">
            <a:off x="10318623" y="5368519"/>
            <a:ext cx="7384542" cy="865327"/>
            <a:chOff x="0" y="0"/>
            <a:chExt cx="9846056" cy="1153770"/>
          </a:xfrm>
        </p:grpSpPr>
        <p:sp>
          <p:nvSpPr>
            <p:cNvPr name="Freeform 27" id="27"/>
            <p:cNvSpPr/>
            <p:nvPr/>
          </p:nvSpPr>
          <p:spPr>
            <a:xfrm flipH="false" flipV="false" rot="0">
              <a:off x="0" y="0"/>
              <a:ext cx="9846056" cy="1153795"/>
            </a:xfrm>
            <a:custGeom>
              <a:avLst/>
              <a:gdLst/>
              <a:ahLst/>
              <a:cxnLst/>
              <a:rect r="r" b="b" t="t" l="l"/>
              <a:pathLst>
                <a:path h="1153795" w="9846056">
                  <a:moveTo>
                    <a:pt x="0" y="192278"/>
                  </a:moveTo>
                  <a:cubicBezTo>
                    <a:pt x="0" y="86106"/>
                    <a:pt x="86106" y="0"/>
                    <a:pt x="192278" y="0"/>
                  </a:cubicBezTo>
                  <a:lnTo>
                    <a:pt x="9653778" y="0"/>
                  </a:lnTo>
                  <a:cubicBezTo>
                    <a:pt x="9759950" y="0"/>
                    <a:pt x="9846056" y="86106"/>
                    <a:pt x="9846056" y="192278"/>
                  </a:cubicBezTo>
                  <a:lnTo>
                    <a:pt x="9846056" y="961517"/>
                  </a:lnTo>
                  <a:cubicBezTo>
                    <a:pt x="9846056" y="1067689"/>
                    <a:pt x="9759950" y="1153795"/>
                    <a:pt x="9653778" y="1153795"/>
                  </a:cubicBezTo>
                  <a:lnTo>
                    <a:pt x="192278" y="1153795"/>
                  </a:lnTo>
                  <a:cubicBezTo>
                    <a:pt x="86106" y="1153795"/>
                    <a:pt x="0" y="1067689"/>
                    <a:pt x="0" y="961517"/>
                  </a:cubicBezTo>
                  <a:close/>
                </a:path>
              </a:pathLst>
            </a:custGeom>
            <a:solidFill>
              <a:srgbClr val="FAFAFA"/>
            </a:solidFill>
            <a:ln w="19050" cap="sq">
              <a:solidFill>
                <a:srgbClr val="E2E8F0"/>
              </a:solidFill>
              <a:prstDash val="solid"/>
              <a:miter/>
            </a:ln>
          </p:spPr>
        </p:sp>
        <p:sp>
          <p:nvSpPr>
            <p:cNvPr name="TextBox 28" id="28"/>
            <p:cNvSpPr txBox="true"/>
            <p:nvPr/>
          </p:nvSpPr>
          <p:spPr>
            <a:xfrm>
              <a:off x="0" y="-19050"/>
              <a:ext cx="9846056" cy="1172820"/>
            </a:xfrm>
            <a:prstGeom prst="rect">
              <a:avLst/>
            </a:prstGeom>
          </p:spPr>
          <p:txBody>
            <a:bodyPr anchor="ctr" rtlCol="false" tIns="50800" lIns="50800" bIns="50800" rIns="50800"/>
            <a:lstStyle/>
            <a:p>
              <a:pPr algn="ctr">
                <a:lnSpc>
                  <a:spcPts val="2340"/>
                </a:lnSpc>
              </a:pPr>
              <a:r>
                <a:rPr lang="en-US" sz="1950" b="true">
                  <a:solidFill>
                    <a:srgbClr val="94A3B8"/>
                  </a:solidFill>
                  <a:latin typeface="Arial Bold"/>
                  <a:ea typeface="Arial Bold"/>
                  <a:cs typeface="Arial Bold"/>
                  <a:sym typeface="Arial Bold"/>
                </a:rPr>
                <a:t>COMMUNICATION   </a:t>
              </a:r>
              <a:r>
                <a:rPr lang="en-US" sz="1950">
                  <a:solidFill>
                    <a:srgbClr val="94A3B8"/>
                  </a:solidFill>
                  <a:latin typeface="Arial"/>
                  <a:ea typeface="Arial"/>
                  <a:cs typeface="Arial"/>
                  <a:sym typeface="Arial"/>
                </a:rPr>
                <a:t>➜   Eclipse Zenoh (Low-Latency Pub/Sub)  |  uProtocol Transport Layer</a:t>
              </a:r>
            </a:p>
          </p:txBody>
        </p:sp>
      </p:grpSp>
      <p:grpSp>
        <p:nvGrpSpPr>
          <p:cNvPr name="Group 29" id="29"/>
          <p:cNvGrpSpPr/>
          <p:nvPr/>
        </p:nvGrpSpPr>
        <p:grpSpPr>
          <a:xfrm rot="0">
            <a:off x="10309098" y="6301283"/>
            <a:ext cx="7403592" cy="884377"/>
            <a:chOff x="0" y="0"/>
            <a:chExt cx="9871456" cy="1179170"/>
          </a:xfrm>
        </p:grpSpPr>
        <p:sp>
          <p:nvSpPr>
            <p:cNvPr name="Freeform 30" id="30"/>
            <p:cNvSpPr/>
            <p:nvPr/>
          </p:nvSpPr>
          <p:spPr>
            <a:xfrm flipH="false" flipV="false" rot="0">
              <a:off x="0" y="0"/>
              <a:ext cx="9871456" cy="1179068"/>
            </a:xfrm>
            <a:custGeom>
              <a:avLst/>
              <a:gdLst/>
              <a:ahLst/>
              <a:cxnLst/>
              <a:rect r="r" b="b" t="t" l="l"/>
              <a:pathLst>
                <a:path h="1179068" w="9871456">
                  <a:moveTo>
                    <a:pt x="0" y="196469"/>
                  </a:moveTo>
                  <a:cubicBezTo>
                    <a:pt x="0" y="88011"/>
                    <a:pt x="88011" y="0"/>
                    <a:pt x="196469" y="0"/>
                  </a:cubicBezTo>
                  <a:lnTo>
                    <a:pt x="9674987" y="0"/>
                  </a:lnTo>
                  <a:cubicBezTo>
                    <a:pt x="9783572" y="0"/>
                    <a:pt x="9871456" y="88011"/>
                    <a:pt x="9871456" y="196469"/>
                  </a:cubicBezTo>
                  <a:lnTo>
                    <a:pt x="9871456" y="982599"/>
                  </a:lnTo>
                  <a:cubicBezTo>
                    <a:pt x="9871456" y="1091184"/>
                    <a:pt x="9783445" y="1179068"/>
                    <a:pt x="9674987" y="1179068"/>
                  </a:cubicBezTo>
                  <a:lnTo>
                    <a:pt x="196469" y="1179068"/>
                  </a:lnTo>
                  <a:cubicBezTo>
                    <a:pt x="88011" y="1179195"/>
                    <a:pt x="0" y="1091184"/>
                    <a:pt x="0" y="982599"/>
                  </a:cubicBezTo>
                  <a:close/>
                </a:path>
              </a:pathLst>
            </a:custGeom>
            <a:solidFill>
              <a:srgbClr val="F8FAFC"/>
            </a:solidFill>
            <a:ln w="38100" cap="sq">
              <a:solidFill>
                <a:srgbClr val="17365D"/>
              </a:solidFill>
              <a:prstDash val="solid"/>
              <a:miter/>
            </a:ln>
          </p:spPr>
        </p:sp>
        <p:sp>
          <p:nvSpPr>
            <p:cNvPr name="TextBox 31" id="31"/>
            <p:cNvSpPr txBox="true"/>
            <p:nvPr/>
          </p:nvSpPr>
          <p:spPr>
            <a:xfrm>
              <a:off x="0" y="-19050"/>
              <a:ext cx="9871456" cy="1198220"/>
            </a:xfrm>
            <a:prstGeom prst="rect">
              <a:avLst/>
            </a:prstGeom>
          </p:spPr>
          <p:txBody>
            <a:bodyPr anchor="ctr" rtlCol="false" tIns="50800" lIns="50800" bIns="50800" rIns="50800"/>
            <a:lstStyle/>
            <a:p>
              <a:pPr algn="ctr">
                <a:lnSpc>
                  <a:spcPts val="2340"/>
                </a:lnSpc>
              </a:pPr>
              <a:r>
                <a:rPr lang="en-US" sz="1950" b="true">
                  <a:solidFill>
                    <a:srgbClr val="17365D"/>
                  </a:solidFill>
                  <a:latin typeface="Arial Bold"/>
                  <a:ea typeface="Arial Bold"/>
                  <a:cs typeface="Arial Bold"/>
                  <a:sym typeface="Arial Bold"/>
                </a:rPr>
                <a:t>VEHICLE ABSTRACTION   </a:t>
              </a:r>
              <a:r>
                <a:rPr lang="en-US" sz="1950" b="true">
                  <a:solidFill>
                    <a:srgbClr val="334155"/>
                  </a:solidFill>
                  <a:latin typeface="Arial Bold"/>
                  <a:ea typeface="Arial Bold"/>
                  <a:cs typeface="Arial Bold"/>
                  <a:sym typeface="Arial Bold"/>
                </a:rPr>
                <a:t>➜   Lab Skateboard Vehicle Profile  |  VSS Overlay  |  Lab Skateboard Vehicle Adapter (DBC / CAN)</a:t>
              </a:r>
            </a:p>
          </p:txBody>
        </p:sp>
      </p:grpSp>
      <p:grpSp>
        <p:nvGrpSpPr>
          <p:cNvPr name="Group 32" id="32"/>
          <p:cNvGrpSpPr/>
          <p:nvPr/>
        </p:nvGrpSpPr>
        <p:grpSpPr>
          <a:xfrm rot="0">
            <a:off x="10309098" y="7243572"/>
            <a:ext cx="7403592" cy="884377"/>
            <a:chOff x="0" y="0"/>
            <a:chExt cx="9871456" cy="1179170"/>
          </a:xfrm>
        </p:grpSpPr>
        <p:sp>
          <p:nvSpPr>
            <p:cNvPr name="Freeform 33" id="33"/>
            <p:cNvSpPr/>
            <p:nvPr/>
          </p:nvSpPr>
          <p:spPr>
            <a:xfrm flipH="false" flipV="false" rot="0">
              <a:off x="0" y="0"/>
              <a:ext cx="9871456" cy="1179068"/>
            </a:xfrm>
            <a:custGeom>
              <a:avLst/>
              <a:gdLst/>
              <a:ahLst/>
              <a:cxnLst/>
              <a:rect r="r" b="b" t="t" l="l"/>
              <a:pathLst>
                <a:path h="1179068" w="9871456">
                  <a:moveTo>
                    <a:pt x="0" y="196469"/>
                  </a:moveTo>
                  <a:cubicBezTo>
                    <a:pt x="0" y="88011"/>
                    <a:pt x="88011" y="0"/>
                    <a:pt x="196469" y="0"/>
                  </a:cubicBezTo>
                  <a:lnTo>
                    <a:pt x="9674987" y="0"/>
                  </a:lnTo>
                  <a:cubicBezTo>
                    <a:pt x="9783572" y="0"/>
                    <a:pt x="9871456" y="88011"/>
                    <a:pt x="9871456" y="196469"/>
                  </a:cubicBezTo>
                  <a:lnTo>
                    <a:pt x="9871456" y="982599"/>
                  </a:lnTo>
                  <a:cubicBezTo>
                    <a:pt x="9871456" y="1091184"/>
                    <a:pt x="9783445" y="1179068"/>
                    <a:pt x="9674987" y="1179068"/>
                  </a:cubicBezTo>
                  <a:lnTo>
                    <a:pt x="196469" y="1179068"/>
                  </a:lnTo>
                  <a:cubicBezTo>
                    <a:pt x="88011" y="1179195"/>
                    <a:pt x="0" y="1091184"/>
                    <a:pt x="0" y="982599"/>
                  </a:cubicBezTo>
                  <a:close/>
                </a:path>
              </a:pathLst>
            </a:custGeom>
            <a:solidFill>
              <a:srgbClr val="FFF1F2"/>
            </a:solidFill>
            <a:ln w="38100" cap="sq">
              <a:solidFill>
                <a:srgbClr val="E11D48"/>
              </a:solidFill>
              <a:prstDash val="solid"/>
              <a:miter/>
            </a:ln>
          </p:spPr>
        </p:sp>
        <p:sp>
          <p:nvSpPr>
            <p:cNvPr name="TextBox 34" id="34"/>
            <p:cNvSpPr txBox="true"/>
            <p:nvPr/>
          </p:nvSpPr>
          <p:spPr>
            <a:xfrm>
              <a:off x="0" y="-19050"/>
              <a:ext cx="9871456" cy="1198220"/>
            </a:xfrm>
            <a:prstGeom prst="rect">
              <a:avLst/>
            </a:prstGeom>
          </p:spPr>
          <p:txBody>
            <a:bodyPr anchor="ctr" rtlCol="false" tIns="50800" lIns="50800" bIns="50800" rIns="50800"/>
            <a:lstStyle/>
            <a:p>
              <a:pPr algn="ctr">
                <a:lnSpc>
                  <a:spcPts val="2340"/>
                </a:lnSpc>
              </a:pPr>
              <a:r>
                <a:rPr lang="en-US" sz="1950" b="true">
                  <a:solidFill>
                    <a:srgbClr val="E11D48"/>
                  </a:solidFill>
                  <a:latin typeface="Arial Bold"/>
                  <a:ea typeface="Arial Bold"/>
                  <a:cs typeface="Arial Bold"/>
                  <a:sym typeface="Arial Bold"/>
                </a:rPr>
                <a:t>Lab Skateboard DBW ACTUATION   </a:t>
              </a:r>
              <a:r>
                <a:rPr lang="en-US" sz="1950" b="true">
                  <a:solidFill>
                    <a:srgbClr val="334155"/>
                  </a:solidFill>
                  <a:latin typeface="Arial Bold"/>
                  <a:ea typeface="Arial Bold"/>
                  <a:cs typeface="Arial Bold"/>
                  <a:sym typeface="Arial Bold"/>
                </a:rPr>
                <a:t>➜   CAN 2.0B Bus (0x1228 Request / 0x1291 Status) ➔ Actuators &amp; ECUs</a:t>
              </a:r>
            </a:p>
          </p:txBody>
        </p:sp>
      </p:grpSp>
      <p:grpSp>
        <p:nvGrpSpPr>
          <p:cNvPr name="Group 35" id="35"/>
          <p:cNvGrpSpPr/>
          <p:nvPr/>
        </p:nvGrpSpPr>
        <p:grpSpPr>
          <a:xfrm rot="0">
            <a:off x="754380" y="9669780"/>
            <a:ext cx="16733520" cy="13716"/>
            <a:chOff x="0" y="0"/>
            <a:chExt cx="22311360" cy="18288"/>
          </a:xfrm>
        </p:grpSpPr>
        <p:sp>
          <p:nvSpPr>
            <p:cNvPr name="Freeform 36" id="36"/>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17365D"/>
            </a:solidFill>
          </p:spPr>
        </p:sp>
      </p:grpSp>
      <p:grpSp>
        <p:nvGrpSpPr>
          <p:cNvPr name="Group 4" id="4"/>
          <p:cNvGrpSpPr/>
          <p:nvPr/>
        </p:nvGrpSpPr>
        <p:grpSpPr>
          <a:xfrm rot="0">
            <a:off x="0" y="0"/>
            <a:ext cx="18287543" cy="205740"/>
            <a:chOff x="0" y="0"/>
            <a:chExt cx="24383390" cy="274320"/>
          </a:xfrm>
        </p:grpSpPr>
        <p:sp>
          <p:nvSpPr>
            <p:cNvPr name="Freeform 5" id="5"/>
            <p:cNvSpPr/>
            <p:nvPr/>
          </p:nvSpPr>
          <p:spPr>
            <a:xfrm flipH="false" flipV="false" rot="0">
              <a:off x="0" y="0"/>
              <a:ext cx="24383364" cy="274320"/>
            </a:xfrm>
            <a:custGeom>
              <a:avLst/>
              <a:gdLst/>
              <a:ahLst/>
              <a:cxnLst/>
              <a:rect r="r" b="b" t="t" l="l"/>
              <a:pathLst>
                <a:path h="274320" w="24383364">
                  <a:moveTo>
                    <a:pt x="0" y="0"/>
                  </a:moveTo>
                  <a:lnTo>
                    <a:pt x="24383364" y="0"/>
                  </a:lnTo>
                  <a:lnTo>
                    <a:pt x="24383364" y="274320"/>
                  </a:lnTo>
                  <a:lnTo>
                    <a:pt x="0" y="274320"/>
                  </a:lnTo>
                  <a:close/>
                </a:path>
              </a:pathLst>
            </a:custGeom>
            <a:solidFill>
              <a:srgbClr val="2563EB"/>
            </a:solidFill>
          </p:spPr>
        </p:sp>
      </p:grpSp>
      <p:grpSp>
        <p:nvGrpSpPr>
          <p:cNvPr name="Group 6" id="6"/>
          <p:cNvGrpSpPr/>
          <p:nvPr/>
        </p:nvGrpSpPr>
        <p:grpSpPr>
          <a:xfrm rot="0">
            <a:off x="1638776" y="2050256"/>
            <a:ext cx="15009990" cy="6186488"/>
            <a:chOff x="0" y="0"/>
            <a:chExt cx="20013320" cy="8248650"/>
          </a:xfrm>
        </p:grpSpPr>
        <p:sp>
          <p:nvSpPr>
            <p:cNvPr name="Freeform 7" id="7"/>
            <p:cNvSpPr/>
            <p:nvPr/>
          </p:nvSpPr>
          <p:spPr>
            <a:xfrm flipH="false" flipV="false" rot="0">
              <a:off x="0" y="0"/>
              <a:ext cx="20013295" cy="8248650"/>
            </a:xfrm>
            <a:custGeom>
              <a:avLst/>
              <a:gdLst/>
              <a:ahLst/>
              <a:cxnLst/>
              <a:rect r="r" b="b" t="t" l="l"/>
              <a:pathLst>
                <a:path h="8248650" w="20013295">
                  <a:moveTo>
                    <a:pt x="0" y="1374775"/>
                  </a:moveTo>
                  <a:cubicBezTo>
                    <a:pt x="0" y="615569"/>
                    <a:pt x="615569" y="0"/>
                    <a:pt x="1374775" y="0"/>
                  </a:cubicBezTo>
                  <a:lnTo>
                    <a:pt x="18638520" y="0"/>
                  </a:lnTo>
                  <a:cubicBezTo>
                    <a:pt x="19397853" y="0"/>
                    <a:pt x="20013295" y="615569"/>
                    <a:pt x="20013295" y="1374775"/>
                  </a:cubicBezTo>
                  <a:lnTo>
                    <a:pt x="20013295" y="6873875"/>
                  </a:lnTo>
                  <a:cubicBezTo>
                    <a:pt x="20013295" y="7633208"/>
                    <a:pt x="19397726" y="8248650"/>
                    <a:pt x="18638520" y="8248650"/>
                  </a:cubicBezTo>
                  <a:lnTo>
                    <a:pt x="1374775" y="8248650"/>
                  </a:lnTo>
                  <a:cubicBezTo>
                    <a:pt x="615569" y="8248650"/>
                    <a:pt x="0" y="7633081"/>
                    <a:pt x="0" y="6873875"/>
                  </a:cubicBezTo>
                  <a:close/>
                </a:path>
              </a:pathLst>
            </a:custGeom>
            <a:solidFill>
              <a:srgbClr val="FFFFFF"/>
            </a:solidFill>
            <a:ln w="14288" cap="sq">
              <a:solidFill>
                <a:srgbClr val="2563EB"/>
              </a:solidFill>
              <a:prstDash val="solid"/>
              <a:miter/>
            </a:ln>
          </p:spPr>
        </p:sp>
        <p:sp>
          <p:nvSpPr>
            <p:cNvPr name="TextBox 8" id="8"/>
            <p:cNvSpPr txBox="true"/>
            <p:nvPr/>
          </p:nvSpPr>
          <p:spPr>
            <a:xfrm>
              <a:off x="0" y="-47625"/>
              <a:ext cx="20013320" cy="8296275"/>
            </a:xfrm>
            <a:prstGeom prst="rect">
              <a:avLst/>
            </a:prstGeom>
          </p:spPr>
          <p:txBody>
            <a:bodyPr anchor="ctr" rtlCol="false" tIns="50800" lIns="50800" bIns="50800" rIns="50800"/>
            <a:lstStyle/>
            <a:p>
              <a:pPr algn="ctr">
                <a:lnSpc>
                  <a:spcPts val="2520"/>
                </a:lnSpc>
              </a:pPr>
              <a:r>
                <a:rPr lang="en-US" sz="2100" b="true">
                  <a:solidFill>
                    <a:srgbClr val="2563EB"/>
                  </a:solidFill>
                  <a:latin typeface="Calibri (MS) Bold"/>
                  <a:ea typeface="Calibri (MS) Bold"/>
                  <a:cs typeface="Calibri (MS) Bold"/>
                  <a:sym typeface="Calibri (MS) Bold"/>
                </a:rPr>
                <a:t>SECTION 03</a:t>
              </a:r>
            </a:p>
            <a:p>
              <a:pPr algn="l">
                <a:lnSpc>
                  <a:spcPts val="5759"/>
                </a:lnSpc>
              </a:pPr>
              <a:r>
                <a:rPr lang="en-US" sz="4800" b="true">
                  <a:solidFill>
                    <a:srgbClr val="17365D"/>
                  </a:solidFill>
                  <a:latin typeface="Calibri (MS) Bold"/>
                  <a:ea typeface="Calibri (MS) Bold"/>
                  <a:cs typeface="Calibri (MS) Bold"/>
                  <a:sym typeface="Calibri (MS) Bold"/>
                </a:rPr>
                <a:t>Operational &amp; Execution Workflow</a:t>
              </a:r>
            </a:p>
            <a:p>
              <a:pPr algn="l">
                <a:lnSpc>
                  <a:spcPts val="2879"/>
                </a:lnSpc>
              </a:pPr>
              <a:r>
                <a:rPr lang="en-US" sz="2400">
                  <a:solidFill>
                    <a:srgbClr val="334155"/>
                  </a:solidFill>
                  <a:latin typeface="Calibri (MS)"/>
                  <a:ea typeface="Calibri (MS)"/>
                  <a:cs typeface="Calibri (MS)"/>
                  <a:sym typeface="Calibri (MS)"/>
                </a:rPr>
                <a:t>Vehicle Onboarding, Automated Runtime Startup, Operator UI &amp; OTA Lifecycle</a:t>
              </a:r>
            </a:p>
          </p:txBody>
        </p:sp>
      </p:grpSp>
      <p:grpSp>
        <p:nvGrpSpPr>
          <p:cNvPr name="Group 9" id="9"/>
          <p:cNvGrpSpPr/>
          <p:nvPr/>
        </p:nvGrpSpPr>
        <p:grpSpPr>
          <a:xfrm rot="0">
            <a:off x="1645920" y="8778240"/>
            <a:ext cx="14995703" cy="20574"/>
            <a:chOff x="0" y="0"/>
            <a:chExt cx="19994270" cy="27432"/>
          </a:xfrm>
        </p:grpSpPr>
        <p:sp>
          <p:nvSpPr>
            <p:cNvPr name="Freeform 10" id="10"/>
            <p:cNvSpPr/>
            <p:nvPr/>
          </p:nvSpPr>
          <p:spPr>
            <a:xfrm flipH="false" flipV="false" rot="0">
              <a:off x="0" y="0"/>
              <a:ext cx="19994245" cy="27432"/>
            </a:xfrm>
            <a:custGeom>
              <a:avLst/>
              <a:gdLst/>
              <a:ahLst/>
              <a:cxnLst/>
              <a:rect r="r" b="b" t="t" l="l"/>
              <a:pathLst>
                <a:path h="27432" w="19994245">
                  <a:moveTo>
                    <a:pt x="0" y="0"/>
                  </a:moveTo>
                  <a:lnTo>
                    <a:pt x="19994245" y="0"/>
                  </a:lnTo>
                  <a:lnTo>
                    <a:pt x="19994245" y="27432"/>
                  </a:lnTo>
                  <a:lnTo>
                    <a:pt x="0" y="27432"/>
                  </a:lnTo>
                  <a:close/>
                </a:path>
              </a:pathLst>
            </a:custGeom>
            <a:solidFill>
              <a:srgbClr val="BFBFBF"/>
            </a:solidFill>
          </p:spPr>
        </p:sp>
      </p:gr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52" cy="1438199"/>
            <a:chOff x="0" y="0"/>
            <a:chExt cx="24383403" cy="1917598"/>
          </a:xfrm>
        </p:grpSpPr>
        <p:sp>
          <p:nvSpPr>
            <p:cNvPr name="Freeform 3" id="3"/>
            <p:cNvSpPr/>
            <p:nvPr/>
          </p:nvSpPr>
          <p:spPr>
            <a:xfrm flipH="false" flipV="false" rot="0">
              <a:off x="0" y="0"/>
              <a:ext cx="24383364" cy="1917573"/>
            </a:xfrm>
            <a:custGeom>
              <a:avLst/>
              <a:gdLst/>
              <a:ahLst/>
              <a:cxnLst/>
              <a:rect r="r" b="b" t="t" l="l"/>
              <a:pathLst>
                <a:path h="1917573" w="24383364">
                  <a:moveTo>
                    <a:pt x="0" y="0"/>
                  </a:moveTo>
                  <a:lnTo>
                    <a:pt x="24383364" y="0"/>
                  </a:lnTo>
                  <a:lnTo>
                    <a:pt x="24383364" y="1917573"/>
                  </a:lnTo>
                  <a:lnTo>
                    <a:pt x="0" y="1917573"/>
                  </a:lnTo>
                  <a:close/>
                </a:path>
              </a:pathLst>
            </a:custGeom>
            <a:solidFill>
              <a:srgbClr val="17365D"/>
            </a:solidFill>
          </p:spPr>
        </p:sp>
      </p:grpSp>
      <p:sp>
        <p:nvSpPr>
          <p:cNvPr name="TextBox 4" id="4"/>
          <p:cNvSpPr txBox="true"/>
          <p:nvPr/>
        </p:nvSpPr>
        <p:spPr>
          <a:xfrm rot="0">
            <a:off x="754380" y="582139"/>
            <a:ext cx="13990501" cy="492004"/>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First-Time Vehicle Onboarding Concept</a:t>
            </a:r>
          </a:p>
        </p:txBody>
      </p:sp>
      <p:sp>
        <p:nvSpPr>
          <p:cNvPr name="TextBox 5" id="5"/>
          <p:cNvSpPr txBox="true"/>
          <p:nvPr/>
        </p:nvSpPr>
        <p:spPr>
          <a:xfrm rot="0">
            <a:off x="14744881" y="612886"/>
            <a:ext cx="2715749" cy="301428"/>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ONBOARDING</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23</a:t>
            </a:r>
          </a:p>
        </p:txBody>
      </p:sp>
      <p:grpSp>
        <p:nvGrpSpPr>
          <p:cNvPr name="Group 9" id="9"/>
          <p:cNvGrpSpPr/>
          <p:nvPr/>
        </p:nvGrpSpPr>
        <p:grpSpPr>
          <a:xfrm rot="0">
            <a:off x="952976" y="1707356"/>
            <a:ext cx="7900988" cy="6597968"/>
            <a:chOff x="0" y="0"/>
            <a:chExt cx="10534650" cy="8797290"/>
          </a:xfrm>
        </p:grpSpPr>
        <p:sp>
          <p:nvSpPr>
            <p:cNvPr name="Freeform 10" id="10"/>
            <p:cNvSpPr/>
            <p:nvPr/>
          </p:nvSpPr>
          <p:spPr>
            <a:xfrm flipH="false" flipV="false" rot="0">
              <a:off x="0" y="0"/>
              <a:ext cx="10534650" cy="8797290"/>
            </a:xfrm>
            <a:custGeom>
              <a:avLst/>
              <a:gdLst/>
              <a:ahLst/>
              <a:cxnLst/>
              <a:rect r="r" b="b" t="t" l="l"/>
              <a:pathLst>
                <a:path h="8797290" w="10534650">
                  <a:moveTo>
                    <a:pt x="0" y="1466215"/>
                  </a:moveTo>
                  <a:cubicBezTo>
                    <a:pt x="0" y="656463"/>
                    <a:pt x="656463" y="0"/>
                    <a:pt x="1466215" y="0"/>
                  </a:cubicBezTo>
                  <a:lnTo>
                    <a:pt x="9068435" y="0"/>
                  </a:lnTo>
                  <a:cubicBezTo>
                    <a:pt x="9878187" y="0"/>
                    <a:pt x="10534650" y="656463"/>
                    <a:pt x="10534650" y="1466215"/>
                  </a:cubicBezTo>
                  <a:lnTo>
                    <a:pt x="10534650" y="7331075"/>
                  </a:lnTo>
                  <a:cubicBezTo>
                    <a:pt x="10534650" y="8140827"/>
                    <a:pt x="9878187" y="8797290"/>
                    <a:pt x="9068435" y="8797290"/>
                  </a:cubicBezTo>
                  <a:lnTo>
                    <a:pt x="1466215" y="8797290"/>
                  </a:lnTo>
                  <a:cubicBezTo>
                    <a:pt x="656463" y="8797290"/>
                    <a:pt x="0" y="8140827"/>
                    <a:pt x="0" y="7331075"/>
                  </a:cubicBezTo>
                  <a:close/>
                </a:path>
              </a:pathLst>
            </a:custGeom>
            <a:solidFill>
              <a:srgbClr val="F8FAFC"/>
            </a:solidFill>
            <a:ln w="14288" cap="sq">
              <a:solidFill>
                <a:srgbClr val="CBD5E1"/>
              </a:solidFill>
              <a:prstDash val="solid"/>
              <a:miter/>
            </a:ln>
          </p:spPr>
        </p:sp>
        <p:sp>
          <p:nvSpPr>
            <p:cNvPr name="TextBox 11" id="11"/>
            <p:cNvSpPr txBox="true"/>
            <p:nvPr/>
          </p:nvSpPr>
          <p:spPr>
            <a:xfrm>
              <a:off x="0" y="-47625"/>
              <a:ext cx="10534650" cy="8844915"/>
            </a:xfrm>
            <a:prstGeom prst="rect">
              <a:avLst/>
            </a:prstGeom>
          </p:spPr>
          <p:txBody>
            <a:bodyPr anchor="t" rtlCol="false" tIns="50800" lIns="50800" bIns="50800" rIns="50800"/>
            <a:lstStyle/>
            <a:p>
              <a:pPr algn="ctr">
                <a:lnSpc>
                  <a:spcPts val="2610"/>
                </a:lnSpc>
              </a:pPr>
              <a:r>
                <a:rPr lang="en-US" b="true" sz="2175">
                  <a:solidFill>
                    <a:srgbClr val="17365D"/>
                  </a:solidFill>
                  <a:latin typeface="Calibri (MS) Bold"/>
                  <a:ea typeface="Calibri (MS) Bold"/>
                  <a:cs typeface="Calibri (MS) Bold"/>
                  <a:sym typeface="Calibri (MS) Bold"/>
                </a:rPr>
                <a:t>Phase 1: Discovery &amp; AI Mapping</a:t>
              </a:r>
            </a:p>
            <a:p>
              <a:pPr algn="l">
                <a:lnSpc>
                  <a:spcPts val="2340"/>
                </a:lnSpc>
              </a:pPr>
              <a:r>
                <a:rPr lang="en-US" b="true" sz="1950">
                  <a:solidFill>
                    <a:srgbClr val="0F172A"/>
                  </a:solidFill>
                  <a:latin typeface="Calibri (MS) Bold"/>
                  <a:ea typeface="Calibri (MS) Bold"/>
                  <a:cs typeface="Calibri (MS) Bold"/>
                  <a:sym typeface="Calibri (MS) Bold"/>
                </a:rPr>
                <a:t>• 1. Vehicle Discovery:</a:t>
              </a:r>
            </a:p>
            <a:p>
              <a:pPr algn="l">
                <a:lnSpc>
                  <a:spcPts val="2340"/>
                </a:lnSpc>
              </a:pPr>
              <a:r>
                <a:rPr lang="en-US" sz="1950">
                  <a:solidFill>
                    <a:srgbClr val="334155"/>
                  </a:solidFill>
                  <a:latin typeface="Calibri (MS)"/>
                  <a:ea typeface="Calibri (MS)"/>
                  <a:cs typeface="Calibri (MS)"/>
                  <a:sym typeface="Calibri (MS)"/>
                </a:rPr>
                <a:t>Connect onboarding tool to new compatible vehicle via Ethernet/USB/CAN.</a:t>
              </a:r>
            </a:p>
            <a:p>
              <a:pPr algn="l">
                <a:lnSpc>
                  <a:spcPts val="2340"/>
                </a:lnSpc>
              </a:pPr>
              <a:r>
                <a:rPr lang="en-US" b="true" sz="1950">
                  <a:solidFill>
                    <a:srgbClr val="0F172A"/>
                  </a:solidFill>
                  <a:latin typeface="Calibri (MS) Bold"/>
                  <a:ea typeface="Calibri (MS) Bold"/>
                  <a:cs typeface="Calibri (MS) Bold"/>
                  <a:sym typeface="Calibri (MS) Bold"/>
                </a:rPr>
                <a:t>• 2. Compatibility Check:</a:t>
              </a:r>
            </a:p>
            <a:p>
              <a:pPr algn="l">
                <a:lnSpc>
                  <a:spcPts val="2340"/>
                </a:lnSpc>
              </a:pPr>
              <a:r>
                <a:rPr lang="en-US" sz="1950">
                  <a:solidFill>
                    <a:srgbClr val="334155"/>
                  </a:solidFill>
                  <a:latin typeface="Calibri (MS)"/>
                  <a:ea typeface="Calibri (MS)"/>
                  <a:cs typeface="Calibri (MS)"/>
                  <a:sym typeface="Calibri (MS)"/>
                </a:rPr>
                <a:t>Verify compute platform (ARM64/x86), Linux OS, RAM, and CAN interfaces.</a:t>
              </a:r>
            </a:p>
            <a:p>
              <a:pPr algn="l">
                <a:lnSpc>
                  <a:spcPts val="2340"/>
                </a:lnSpc>
              </a:pPr>
              <a:r>
                <a:rPr lang="en-US" b="true" sz="1950">
                  <a:solidFill>
                    <a:srgbClr val="0F172A"/>
                  </a:solidFill>
                  <a:latin typeface="Calibri (MS) Bold"/>
                  <a:ea typeface="Calibri (MS) Bold"/>
                  <a:cs typeface="Calibri (MS) Bold"/>
                  <a:sym typeface="Calibri (MS) Bold"/>
                </a:rPr>
                <a:t>• 3. DBC Upload &amp; AI Mapping:</a:t>
              </a:r>
            </a:p>
            <a:p>
              <a:pPr algn="l">
                <a:lnSpc>
                  <a:spcPts val="2340"/>
                </a:lnSpc>
              </a:pPr>
              <a:r>
                <a:rPr lang="en-US" sz="1950">
                  <a:solidFill>
                    <a:srgbClr val="334155"/>
                  </a:solidFill>
                  <a:latin typeface="Calibri (MS)"/>
                  <a:ea typeface="Calibri (MS)"/>
                  <a:cs typeface="Calibri (MS)"/>
                  <a:sym typeface="Calibri (MS)"/>
                </a:rPr>
                <a:t>Upload vehicle CAN DBC file; AI DBC-&gt;VSS Mapper generates candidate VSS overlay.</a:t>
              </a:r>
            </a:p>
            <a:p>
              <a:pPr algn="l">
                <a:lnSpc>
                  <a:spcPts val="2340"/>
                </a:lnSpc>
              </a:pPr>
              <a:r>
                <a:rPr lang="en-US" b="true" sz="1950">
                  <a:solidFill>
                    <a:srgbClr val="0F172A"/>
                  </a:solidFill>
                  <a:latin typeface="Calibri (MS) Bold"/>
                  <a:ea typeface="Calibri (MS) Bold"/>
                  <a:cs typeface="Calibri (MS) Bold"/>
                  <a:sym typeface="Calibri (MS) Bold"/>
                </a:rPr>
                <a:t>• 4. Deterministic Validation:</a:t>
              </a:r>
            </a:p>
            <a:p>
              <a:pPr algn="l">
                <a:lnSpc>
                  <a:spcPts val="2340"/>
                </a:lnSpc>
              </a:pPr>
              <a:r>
                <a:rPr lang="en-US" sz="1950">
                  <a:solidFill>
                    <a:srgbClr val="334155"/>
                  </a:solidFill>
                  <a:latin typeface="Calibri (MS)"/>
                  <a:ea typeface="Calibri (MS)"/>
                  <a:cs typeface="Calibri (MS)"/>
                  <a:sym typeface="Calibri (MS)"/>
                </a:rPr>
                <a:t>Validator verifies mappings against safety rules; user reviews confidence scores.</a:t>
              </a:r>
            </a:p>
            <a:p>
              <a:pPr algn="l">
                <a:lnSpc>
                  <a:spcPts val="2340"/>
                </a:lnSpc>
              </a:pPr>
              <a:r>
                <a:rPr lang="en-US" b="true" sz="1950">
                  <a:solidFill>
                    <a:srgbClr val="0F172A"/>
                  </a:solidFill>
                  <a:latin typeface="Calibri (MS) Bold"/>
                  <a:ea typeface="Calibri (MS) Bold"/>
                  <a:cs typeface="Calibri (MS) Bold"/>
                  <a:sym typeface="Calibri (MS) Bold"/>
                </a:rPr>
                <a:t>• 5. Profile Generation:</a:t>
              </a:r>
            </a:p>
            <a:p>
              <a:pPr algn="l">
                <a:lnSpc>
                  <a:spcPts val="2340"/>
                </a:lnSpc>
              </a:pPr>
              <a:r>
                <a:rPr lang="en-US" sz="1950">
                  <a:solidFill>
                    <a:srgbClr val="334155"/>
                  </a:solidFill>
                  <a:latin typeface="Calibri (MS)"/>
                  <a:ea typeface="Calibri (MS)"/>
                  <a:cs typeface="Calibri (MS)"/>
                  <a:sym typeface="Calibri (MS)"/>
                </a:rPr>
                <a:t>Generates versioned Vehicle Profile and compiles vehicle-specific Vehicle Adapter.</a:t>
              </a:r>
            </a:p>
          </p:txBody>
        </p:sp>
      </p:grpSp>
      <p:grpSp>
        <p:nvGrpSpPr>
          <p:cNvPr name="Group 12" id="12"/>
          <p:cNvGrpSpPr/>
          <p:nvPr/>
        </p:nvGrpSpPr>
        <p:grpSpPr>
          <a:xfrm rot="0">
            <a:off x="9251156" y="1707356"/>
            <a:ext cx="7900988" cy="6597968"/>
            <a:chOff x="0" y="0"/>
            <a:chExt cx="10534650" cy="8797290"/>
          </a:xfrm>
        </p:grpSpPr>
        <p:sp>
          <p:nvSpPr>
            <p:cNvPr name="Freeform 13" id="13"/>
            <p:cNvSpPr/>
            <p:nvPr/>
          </p:nvSpPr>
          <p:spPr>
            <a:xfrm flipH="false" flipV="false" rot="0">
              <a:off x="0" y="0"/>
              <a:ext cx="10534650" cy="8797290"/>
            </a:xfrm>
            <a:custGeom>
              <a:avLst/>
              <a:gdLst/>
              <a:ahLst/>
              <a:cxnLst/>
              <a:rect r="r" b="b" t="t" l="l"/>
              <a:pathLst>
                <a:path h="8797290" w="10534650">
                  <a:moveTo>
                    <a:pt x="0" y="1466215"/>
                  </a:moveTo>
                  <a:cubicBezTo>
                    <a:pt x="0" y="656463"/>
                    <a:pt x="656463" y="0"/>
                    <a:pt x="1466215" y="0"/>
                  </a:cubicBezTo>
                  <a:lnTo>
                    <a:pt x="9068435" y="0"/>
                  </a:lnTo>
                  <a:cubicBezTo>
                    <a:pt x="9878187" y="0"/>
                    <a:pt x="10534650" y="656463"/>
                    <a:pt x="10534650" y="1466215"/>
                  </a:cubicBezTo>
                  <a:lnTo>
                    <a:pt x="10534650" y="7331075"/>
                  </a:lnTo>
                  <a:cubicBezTo>
                    <a:pt x="10534650" y="8140827"/>
                    <a:pt x="9878187" y="8797290"/>
                    <a:pt x="9068435" y="8797290"/>
                  </a:cubicBezTo>
                  <a:lnTo>
                    <a:pt x="1466215" y="8797290"/>
                  </a:lnTo>
                  <a:cubicBezTo>
                    <a:pt x="656463" y="8797290"/>
                    <a:pt x="0" y="8140827"/>
                    <a:pt x="0" y="7331075"/>
                  </a:cubicBezTo>
                  <a:close/>
                </a:path>
              </a:pathLst>
            </a:custGeom>
            <a:solidFill>
              <a:srgbClr val="F8FAFC"/>
            </a:solidFill>
            <a:ln w="14288" cap="sq">
              <a:solidFill>
                <a:srgbClr val="CBD5E1"/>
              </a:solidFill>
              <a:prstDash val="solid"/>
              <a:miter/>
            </a:ln>
          </p:spPr>
        </p:sp>
        <p:sp>
          <p:nvSpPr>
            <p:cNvPr name="TextBox 14" id="14"/>
            <p:cNvSpPr txBox="true"/>
            <p:nvPr/>
          </p:nvSpPr>
          <p:spPr>
            <a:xfrm>
              <a:off x="0" y="-47625"/>
              <a:ext cx="10534650" cy="8844915"/>
            </a:xfrm>
            <a:prstGeom prst="rect">
              <a:avLst/>
            </a:prstGeom>
          </p:spPr>
          <p:txBody>
            <a:bodyPr anchor="t" rtlCol="false" tIns="50800" lIns="50800" bIns="50800" rIns="50800"/>
            <a:lstStyle/>
            <a:p>
              <a:pPr algn="ctr">
                <a:lnSpc>
                  <a:spcPts val="2610"/>
                </a:lnSpc>
              </a:pPr>
              <a:r>
                <a:rPr lang="en-US" b="true" sz="2175">
                  <a:solidFill>
                    <a:srgbClr val="059669"/>
                  </a:solidFill>
                  <a:latin typeface="Calibri (MS) Bold"/>
                  <a:ea typeface="Calibri (MS) Bold"/>
                  <a:cs typeface="Calibri (MS) Bold"/>
                  <a:sym typeface="Calibri (MS) Bold"/>
                </a:rPr>
                <a:t>Phase 2: Installation &amp; Readiness</a:t>
              </a:r>
            </a:p>
            <a:p>
              <a:pPr algn="l">
                <a:lnSpc>
                  <a:spcPts val="2340"/>
                </a:lnSpc>
              </a:pPr>
              <a:r>
                <a:rPr lang="en-US" b="true" sz="1950">
                  <a:solidFill>
                    <a:srgbClr val="0F172A"/>
                  </a:solidFill>
                  <a:latin typeface="Calibri (MS) Bold"/>
                  <a:ea typeface="Calibri (MS) Bold"/>
                  <a:cs typeface="Calibri (MS) Bold"/>
                  <a:sym typeface="Calibri (MS) Bold"/>
                </a:rPr>
                <a:t>• 6. Install SDV Runtime:</a:t>
              </a:r>
            </a:p>
            <a:p>
              <a:pPr algn="l">
                <a:lnSpc>
                  <a:spcPts val="2340"/>
                </a:lnSpc>
              </a:pPr>
              <a:r>
                <a:rPr lang="en-US" sz="1950">
                  <a:solidFill>
                    <a:srgbClr val="334155"/>
                  </a:solidFill>
                  <a:latin typeface="Calibri (MS)"/>
                  <a:ea typeface="Calibri (MS)"/>
                  <a:cs typeface="Calibri (MS)"/>
                  <a:sym typeface="Calibri (MS)"/>
                </a:rPr>
                <a:t>Deploys Kanto container engine, Ankaios orchestrator, and Kuksa VSS data broker.</a:t>
              </a:r>
            </a:p>
            <a:p>
              <a:pPr algn="l">
                <a:lnSpc>
                  <a:spcPts val="2340"/>
                </a:lnSpc>
              </a:pPr>
              <a:r>
                <a:rPr lang="en-US" b="true" sz="1950">
                  <a:solidFill>
                    <a:srgbClr val="0F172A"/>
                  </a:solidFill>
                  <a:latin typeface="Calibri (MS) Bold"/>
                  <a:ea typeface="Calibri (MS) Bold"/>
                  <a:cs typeface="Calibri (MS) Bold"/>
                  <a:sym typeface="Calibri (MS) Bold"/>
                </a:rPr>
                <a:t>• 7. Install Applications:</a:t>
              </a:r>
            </a:p>
            <a:p>
              <a:pPr algn="l">
                <a:lnSpc>
                  <a:spcPts val="2340"/>
                </a:lnSpc>
              </a:pPr>
              <a:r>
                <a:rPr lang="en-US" sz="1950">
                  <a:solidFill>
                    <a:srgbClr val="334155"/>
                  </a:solidFill>
                  <a:latin typeface="Calibri (MS)"/>
                  <a:ea typeface="Calibri (MS)"/>
                  <a:cs typeface="Calibri (MS)"/>
                  <a:sym typeface="Calibri (MS)"/>
                </a:rPr>
                <a:t>Deploys Velocitas vehicle apps (Telemetry, Diagnostics, ADAS, Companion service).</a:t>
              </a:r>
            </a:p>
            <a:p>
              <a:pPr algn="l">
                <a:lnSpc>
                  <a:spcPts val="2340"/>
                </a:lnSpc>
              </a:pPr>
              <a:r>
                <a:rPr lang="en-US" b="true" sz="1950">
                  <a:solidFill>
                    <a:srgbClr val="0F172A"/>
                  </a:solidFill>
                  <a:latin typeface="Calibri (MS) Bold"/>
                  <a:ea typeface="Calibri (MS) Bold"/>
                  <a:cs typeface="Calibri (MS) Bold"/>
                  <a:sym typeface="Calibri (MS) Bold"/>
                </a:rPr>
                <a:t>• 8. System Self-Test:</a:t>
              </a:r>
            </a:p>
            <a:p>
              <a:pPr algn="l">
                <a:lnSpc>
                  <a:spcPts val="2340"/>
                </a:lnSpc>
              </a:pPr>
              <a:r>
                <a:rPr lang="en-US" sz="1950">
                  <a:solidFill>
                    <a:srgbClr val="334155"/>
                  </a:solidFill>
                  <a:latin typeface="Calibri (MS)"/>
                  <a:ea typeface="Calibri (MS)"/>
                  <a:cs typeface="Calibri (MS)"/>
                  <a:sym typeface="Calibri (MS)"/>
                </a:rPr>
                <a:t>Executes automated diagnostic self-test across CAN communication &amp; containers.</a:t>
              </a:r>
            </a:p>
            <a:p>
              <a:pPr algn="l">
                <a:lnSpc>
                  <a:spcPts val="2340"/>
                </a:lnSpc>
              </a:pPr>
              <a:r>
                <a:rPr lang="en-US" b="true" sz="1950">
                  <a:solidFill>
                    <a:srgbClr val="0F172A"/>
                  </a:solidFill>
                  <a:latin typeface="Calibri (MS) Bold"/>
                  <a:ea typeface="Calibri (MS) Bold"/>
                  <a:cs typeface="Calibri (MS) Bold"/>
                  <a:sym typeface="Calibri (MS) Bold"/>
                </a:rPr>
                <a:t>• 9. Automatic Startup Config:</a:t>
              </a:r>
            </a:p>
            <a:p>
              <a:pPr algn="l">
                <a:lnSpc>
                  <a:spcPts val="2340"/>
                </a:lnSpc>
              </a:pPr>
              <a:r>
                <a:rPr lang="en-US" sz="1950">
                  <a:solidFill>
                    <a:srgbClr val="334155"/>
                  </a:solidFill>
                  <a:latin typeface="Calibri (MS)"/>
                  <a:ea typeface="Calibri (MS)"/>
                  <a:cs typeface="Calibri (MS)"/>
                  <a:sym typeface="Calibri (MS)"/>
                </a:rPr>
                <a:t>Configures systemd automatic startup services for zero-terminal Runtime boot.</a:t>
              </a:r>
            </a:p>
            <a:p>
              <a:pPr algn="l">
                <a:lnSpc>
                  <a:spcPts val="2340"/>
                </a:lnSpc>
              </a:pPr>
              <a:r>
                <a:rPr lang="en-US" b="true" sz="1950">
                  <a:solidFill>
                    <a:srgbClr val="0F172A"/>
                  </a:solidFill>
                  <a:latin typeface="Calibri (MS) Bold"/>
                  <a:ea typeface="Calibri (MS) Bold"/>
                  <a:cs typeface="Calibri (MS) Bold"/>
                  <a:sym typeface="Calibri (MS) Bold"/>
                </a:rPr>
                <a:t>• 10. Registration &amp; Ready:</a:t>
              </a:r>
            </a:p>
            <a:p>
              <a:pPr algn="l">
                <a:lnSpc>
                  <a:spcPts val="2340"/>
                </a:lnSpc>
              </a:pPr>
              <a:r>
                <a:rPr lang="en-US" sz="1950">
                  <a:solidFill>
                    <a:srgbClr val="334155"/>
                  </a:solidFill>
                  <a:latin typeface="Calibri (MS)"/>
                  <a:ea typeface="Calibri (MS)"/>
                  <a:cs typeface="Calibri (MS)"/>
                  <a:sym typeface="Calibri (MS)"/>
                </a:rPr>
                <a:t>Registers onboarded vehicle into local Dashboard UI &amp; OTA Control Plane ➔ READY.</a:t>
              </a:r>
            </a:p>
          </p:txBody>
        </p:sp>
      </p:grpSp>
      <p:sp>
        <p:nvSpPr>
          <p:cNvPr name="TextBox 15" id="15"/>
          <p:cNvSpPr txBox="true"/>
          <p:nvPr/>
        </p:nvSpPr>
        <p:spPr>
          <a:xfrm rot="0">
            <a:off x="1221219" y="166335"/>
            <a:ext cx="13990501" cy="492004"/>
          </a:xfrm>
          <a:prstGeom prst="rect">
            <a:avLst/>
          </a:prstGeom>
        </p:spPr>
        <p:txBody>
          <a:bodyPr anchor="t" rtlCol="false" tIns="0" lIns="0" bIns="0" rIns="0">
            <a:spAutoFit/>
          </a:bodyPr>
          <a:lstStyle/>
          <a:p>
            <a:pPr algn="ctr">
              <a:lnSpc>
                <a:spcPts val="4500"/>
              </a:lnSpc>
            </a:pPr>
            <a:r>
              <a:rPr lang="en-US" b="true" sz="3750">
                <a:solidFill>
                  <a:srgbClr val="FFFFFF"/>
                </a:solidFill>
                <a:latin typeface="Calibri (MS) Bold"/>
                <a:ea typeface="Calibri (MS) Bold"/>
                <a:cs typeface="Calibri (MS) Bold"/>
                <a:sym typeface="Calibri (MS) Bold"/>
              </a:rPr>
              <a:t>SYSTEM FLOW</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First-Time Onboarding — User GUI Workflow</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ONBOARDING UI</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24</a:t>
            </a:r>
          </a:p>
        </p:txBody>
      </p:sp>
      <p:graphicFrame>
        <p:nvGraphicFramePr>
          <p:cNvPr name="Table 9" id="9"/>
          <p:cNvGraphicFramePr>
            <a:graphicFrameLocks noGrp="true"/>
          </p:cNvGraphicFramePr>
          <p:nvPr/>
        </p:nvGraphicFramePr>
        <p:xfrm>
          <a:off x="960120" y="1577340"/>
          <a:ext cx="16173450" cy="7467600"/>
        </p:xfrm>
        <a:graphic>
          <a:graphicData uri="http://schemas.openxmlformats.org/drawingml/2006/table">
            <a:tbl>
              <a:tblPr/>
              <a:tblGrid>
                <a:gridCol w="3426577"/>
                <a:gridCol w="6167838"/>
                <a:gridCol w="6579035"/>
              </a:tblGrid>
              <a:tr h="1066800">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GUI Onboarding Stage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User Interface Action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Underlying Automated System Process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1. Add New Vehicle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Select [Add Vehicle] ➔ Displays discovered vehicle 'Lab Skateboard'</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Auto-detects CAN 2.0B interface &amp; ARM64/x86 compute capability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2. Upload DBC File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Browse &amp; select 'lab_skateboard.dbc' ➔ Click [Begin Onboarding]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Invokes DBC Parser &amp; extracts CAN IDs 0x1228, 0x1291 and signal specs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3. AI VSS Mapping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Displays Mapping Table: 'Vehicle Speed ➔ Vehicle.Speed (96%)'</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AI LLM Embeddings match signals; Deterministic Validator checks rules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4. Review &amp; Confirm</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User reviews mappings &amp; clicks [Approve Mapping &amp; Install]</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Generates Lab Skateboard Vehicle Profile &amp; compiles Lab Skateboard Vehicle Adapter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5. Installation &amp; Test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Progress Bar: 'Installing SDV Stack...' ➔ 'Running Self-Test...'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Deploys Kanto, Kuksa, Velocitas; configures systemd auto-start service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6. Onboarding Complete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Displays 'Vehicle Successfully Onboarded' ➔ Click [Open Dashboard]</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Registers vehicle in Dashboard &amp; OTA Control Plane ➔ Platform Ready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Runtime / Always-On SDV Runtime</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AUTOMATION</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25</a:t>
            </a:r>
          </a:p>
        </p:txBody>
      </p:sp>
      <p:grpSp>
        <p:nvGrpSpPr>
          <p:cNvPr name="Group 9" id="9"/>
          <p:cNvGrpSpPr/>
          <p:nvPr/>
        </p:nvGrpSpPr>
        <p:grpSpPr>
          <a:xfrm rot="0">
            <a:off x="952976" y="1707356"/>
            <a:ext cx="7900988" cy="6597968"/>
            <a:chOff x="0" y="0"/>
            <a:chExt cx="10534650" cy="8797290"/>
          </a:xfrm>
        </p:grpSpPr>
        <p:sp>
          <p:nvSpPr>
            <p:cNvPr name="Freeform 10" id="10"/>
            <p:cNvSpPr/>
            <p:nvPr/>
          </p:nvSpPr>
          <p:spPr>
            <a:xfrm flipH="false" flipV="false" rot="0">
              <a:off x="0" y="0"/>
              <a:ext cx="10534650" cy="8797290"/>
            </a:xfrm>
            <a:custGeom>
              <a:avLst/>
              <a:gdLst/>
              <a:ahLst/>
              <a:cxnLst/>
              <a:rect r="r" b="b" t="t" l="l"/>
              <a:pathLst>
                <a:path h="8797290" w="10534650">
                  <a:moveTo>
                    <a:pt x="0" y="1466215"/>
                  </a:moveTo>
                  <a:cubicBezTo>
                    <a:pt x="0" y="656463"/>
                    <a:pt x="656463" y="0"/>
                    <a:pt x="1466215" y="0"/>
                  </a:cubicBezTo>
                  <a:lnTo>
                    <a:pt x="9068435" y="0"/>
                  </a:lnTo>
                  <a:cubicBezTo>
                    <a:pt x="9878187" y="0"/>
                    <a:pt x="10534650" y="656463"/>
                    <a:pt x="10534650" y="1466215"/>
                  </a:cubicBezTo>
                  <a:lnTo>
                    <a:pt x="10534650" y="7331075"/>
                  </a:lnTo>
                  <a:cubicBezTo>
                    <a:pt x="10534650" y="8140827"/>
                    <a:pt x="9878187" y="8797290"/>
                    <a:pt x="9068435" y="8797290"/>
                  </a:cubicBezTo>
                  <a:lnTo>
                    <a:pt x="1466215" y="8797290"/>
                  </a:lnTo>
                  <a:cubicBezTo>
                    <a:pt x="656463" y="8797290"/>
                    <a:pt x="0" y="8140827"/>
                    <a:pt x="0" y="7331075"/>
                  </a:cubicBezTo>
                  <a:close/>
                </a:path>
              </a:pathLst>
            </a:custGeom>
            <a:solidFill>
              <a:srgbClr val="F8FAFC"/>
            </a:solidFill>
            <a:ln w="14288" cap="sq">
              <a:solidFill>
                <a:srgbClr val="CBD5E1"/>
              </a:solidFill>
              <a:prstDash val="solid"/>
              <a:miter/>
            </a:ln>
          </p:spPr>
        </p:sp>
        <p:sp>
          <p:nvSpPr>
            <p:cNvPr name="TextBox 11" id="11"/>
            <p:cNvSpPr txBox="true"/>
            <p:nvPr/>
          </p:nvSpPr>
          <p:spPr>
            <a:xfrm>
              <a:off x="0" y="-47625"/>
              <a:ext cx="10534650" cy="8844915"/>
            </a:xfrm>
            <a:prstGeom prst="rect">
              <a:avLst/>
            </a:prstGeom>
          </p:spPr>
          <p:txBody>
            <a:bodyPr anchor="t" rtlCol="false" tIns="50800" lIns="50800" bIns="50800" rIns="50800"/>
            <a:lstStyle/>
            <a:p>
              <a:pPr algn="ctr">
                <a:lnSpc>
                  <a:spcPts val="2610"/>
                </a:lnSpc>
              </a:pPr>
              <a:r>
                <a:rPr lang="en-US" b="true" sz="2175">
                  <a:solidFill>
                    <a:srgbClr val="17365D"/>
                  </a:solidFill>
                  <a:latin typeface="Calibri (MS) Bold"/>
                  <a:ea typeface="Calibri (MS) Bold"/>
                  <a:cs typeface="Calibri (MS) Bold"/>
                  <a:sym typeface="Calibri (MS) Bold"/>
                </a:rPr>
                <a:t>Boot Sequence (Steps 1–4)</a:t>
              </a:r>
            </a:p>
            <a:p>
              <a:pPr algn="l">
                <a:lnSpc>
                  <a:spcPts val="2340"/>
                </a:lnSpc>
              </a:pPr>
              <a:r>
                <a:rPr lang="en-US" b="true" sz="1950">
                  <a:solidFill>
                    <a:srgbClr val="0F172A"/>
                  </a:solidFill>
                  <a:latin typeface="Calibri (MS) Bold"/>
                  <a:ea typeface="Calibri (MS) Bold"/>
                  <a:cs typeface="Calibri (MS) Bold"/>
                  <a:sym typeface="Calibri (MS) Bold"/>
                </a:rPr>
                <a:t>• 1. Vehicle Runtime:</a:t>
              </a:r>
            </a:p>
            <a:p>
              <a:pPr algn="l">
                <a:lnSpc>
                  <a:spcPts val="2340"/>
                </a:lnSpc>
              </a:pPr>
              <a:r>
                <a:rPr lang="en-US" sz="1950">
                  <a:solidFill>
                    <a:srgbClr val="334155"/>
                  </a:solidFill>
                  <a:latin typeface="Calibri (MS)"/>
                  <a:ea typeface="Calibri (MS)"/>
                  <a:cs typeface="Calibri (MS)"/>
                  <a:sym typeface="Calibri (MS)"/>
                </a:rPr>
                <a:t>Vehicle ignition / main power switch engaged by driver.</a:t>
              </a:r>
            </a:p>
            <a:p>
              <a:pPr algn="l">
                <a:lnSpc>
                  <a:spcPts val="2340"/>
                </a:lnSpc>
              </a:pPr>
              <a:r>
                <a:rPr lang="en-US" b="true" sz="1950">
                  <a:solidFill>
                    <a:srgbClr val="0F172A"/>
                  </a:solidFill>
                  <a:latin typeface="Calibri (MS) Bold"/>
                  <a:ea typeface="Calibri (MS) Bold"/>
                  <a:cs typeface="Calibri (MS) Bold"/>
                  <a:sym typeface="Calibri (MS) Bold"/>
                </a:rPr>
                <a:t>• 2. Compute Boot:</a:t>
              </a:r>
            </a:p>
            <a:p>
              <a:pPr algn="l">
                <a:lnSpc>
                  <a:spcPts val="2340"/>
                </a:lnSpc>
              </a:pPr>
              <a:r>
                <a:rPr lang="en-US" sz="1950">
                  <a:solidFill>
                    <a:srgbClr val="334155"/>
                  </a:solidFill>
                  <a:latin typeface="Calibri (MS)"/>
                  <a:ea typeface="Calibri (MS)"/>
                  <a:cs typeface="Calibri (MS)"/>
                  <a:sym typeface="Calibri (MS)"/>
                </a:rPr>
                <a:t>Vehicle compute (Jetson ARM64 / x86 ECU) powers up &amp; boots Linux OS.</a:t>
              </a:r>
            </a:p>
            <a:p>
              <a:pPr algn="l">
                <a:lnSpc>
                  <a:spcPts val="2340"/>
                </a:lnSpc>
              </a:pPr>
              <a:r>
                <a:rPr lang="en-US" b="true" sz="1950">
                  <a:solidFill>
                    <a:srgbClr val="0F172A"/>
                  </a:solidFill>
                  <a:latin typeface="Calibri (MS) Bold"/>
                  <a:ea typeface="Calibri (MS) Bold"/>
                  <a:cs typeface="Calibri (MS) Bold"/>
                  <a:sym typeface="Calibri (MS) Bold"/>
                </a:rPr>
                <a:t>• 3. Linux systemd Auto-Start:</a:t>
              </a:r>
            </a:p>
            <a:p>
              <a:pPr algn="l">
                <a:lnSpc>
                  <a:spcPts val="2340"/>
                </a:lnSpc>
              </a:pPr>
              <a:r>
                <a:rPr lang="en-US" sz="1950">
                  <a:solidFill>
                    <a:srgbClr val="334155"/>
                  </a:solidFill>
                  <a:latin typeface="Calibri (MS)"/>
                  <a:ea typeface="Calibri (MS)"/>
                  <a:cs typeface="Calibri (MS)"/>
                  <a:sym typeface="Calibri (MS)"/>
                </a:rPr>
                <a:t>Systemd automatically initializes SDV runtime service without human intervention.</a:t>
              </a:r>
            </a:p>
            <a:p>
              <a:pPr algn="l">
                <a:lnSpc>
                  <a:spcPts val="2340"/>
                </a:lnSpc>
              </a:pPr>
              <a:r>
                <a:rPr lang="en-US" b="true" sz="1950">
                  <a:solidFill>
                    <a:srgbClr val="0F172A"/>
                  </a:solidFill>
                  <a:latin typeface="Calibri (MS) Bold"/>
                  <a:ea typeface="Calibri (MS) Bold"/>
                  <a:cs typeface="Calibri (MS) Bold"/>
                  <a:sym typeface="Calibri (MS) Bold"/>
                </a:rPr>
                <a:t>• 4. Container Engine Init:</a:t>
              </a:r>
            </a:p>
            <a:p>
              <a:pPr algn="l">
                <a:lnSpc>
                  <a:spcPts val="2340"/>
                </a:lnSpc>
              </a:pPr>
              <a:r>
                <a:rPr lang="en-US" sz="1950">
                  <a:solidFill>
                    <a:srgbClr val="334155"/>
                  </a:solidFill>
                  <a:latin typeface="Calibri (MS)"/>
                  <a:ea typeface="Calibri (MS)"/>
                  <a:cs typeface="Calibri (MS)"/>
                  <a:sym typeface="Calibri (MS)"/>
                </a:rPr>
                <a:t>Kanto container engine and Ankaios workload orchestrator start up.</a:t>
              </a:r>
            </a:p>
          </p:txBody>
        </p:sp>
      </p:grpSp>
      <p:grpSp>
        <p:nvGrpSpPr>
          <p:cNvPr name="Group 12" id="12"/>
          <p:cNvGrpSpPr/>
          <p:nvPr/>
        </p:nvGrpSpPr>
        <p:grpSpPr>
          <a:xfrm rot="0">
            <a:off x="9251156" y="1707356"/>
            <a:ext cx="7900988" cy="6597968"/>
            <a:chOff x="0" y="0"/>
            <a:chExt cx="10534650" cy="8797290"/>
          </a:xfrm>
        </p:grpSpPr>
        <p:sp>
          <p:nvSpPr>
            <p:cNvPr name="Freeform 13" id="13"/>
            <p:cNvSpPr/>
            <p:nvPr/>
          </p:nvSpPr>
          <p:spPr>
            <a:xfrm flipH="false" flipV="false" rot="0">
              <a:off x="0" y="0"/>
              <a:ext cx="10534650" cy="8797290"/>
            </a:xfrm>
            <a:custGeom>
              <a:avLst/>
              <a:gdLst/>
              <a:ahLst/>
              <a:cxnLst/>
              <a:rect r="r" b="b" t="t" l="l"/>
              <a:pathLst>
                <a:path h="8797290" w="10534650">
                  <a:moveTo>
                    <a:pt x="0" y="1466215"/>
                  </a:moveTo>
                  <a:cubicBezTo>
                    <a:pt x="0" y="656463"/>
                    <a:pt x="656463" y="0"/>
                    <a:pt x="1466215" y="0"/>
                  </a:cubicBezTo>
                  <a:lnTo>
                    <a:pt x="9068435" y="0"/>
                  </a:lnTo>
                  <a:cubicBezTo>
                    <a:pt x="9878187" y="0"/>
                    <a:pt x="10534650" y="656463"/>
                    <a:pt x="10534650" y="1466215"/>
                  </a:cubicBezTo>
                  <a:lnTo>
                    <a:pt x="10534650" y="7331075"/>
                  </a:lnTo>
                  <a:cubicBezTo>
                    <a:pt x="10534650" y="8140827"/>
                    <a:pt x="9878187" y="8797290"/>
                    <a:pt x="9068435" y="8797290"/>
                  </a:cubicBezTo>
                  <a:lnTo>
                    <a:pt x="1466215" y="8797290"/>
                  </a:lnTo>
                  <a:cubicBezTo>
                    <a:pt x="656463" y="8797290"/>
                    <a:pt x="0" y="8140827"/>
                    <a:pt x="0" y="7331075"/>
                  </a:cubicBezTo>
                  <a:close/>
                </a:path>
              </a:pathLst>
            </a:custGeom>
            <a:solidFill>
              <a:srgbClr val="F8FAFC"/>
            </a:solidFill>
            <a:ln w="14288" cap="sq">
              <a:solidFill>
                <a:srgbClr val="CBD5E1"/>
              </a:solidFill>
              <a:prstDash val="solid"/>
              <a:miter/>
            </a:ln>
          </p:spPr>
        </p:sp>
        <p:sp>
          <p:nvSpPr>
            <p:cNvPr name="TextBox 14" id="14"/>
            <p:cNvSpPr txBox="true"/>
            <p:nvPr/>
          </p:nvSpPr>
          <p:spPr>
            <a:xfrm>
              <a:off x="0" y="-47625"/>
              <a:ext cx="10534650" cy="8844915"/>
            </a:xfrm>
            <a:prstGeom prst="rect">
              <a:avLst/>
            </a:prstGeom>
          </p:spPr>
          <p:txBody>
            <a:bodyPr anchor="t" rtlCol="false" tIns="50800" lIns="50800" bIns="50800" rIns="50800"/>
            <a:lstStyle/>
            <a:p>
              <a:pPr algn="ctr">
                <a:lnSpc>
                  <a:spcPts val="2610"/>
                </a:lnSpc>
              </a:pPr>
              <a:r>
                <a:rPr lang="en-US" b="true" sz="2175">
                  <a:solidFill>
                    <a:srgbClr val="059669"/>
                  </a:solidFill>
                  <a:latin typeface="Calibri (MS) Bold"/>
                  <a:ea typeface="Calibri (MS) Bold"/>
                  <a:cs typeface="Calibri (MS) Bold"/>
                  <a:sym typeface="Calibri (MS) Bold"/>
                </a:rPr>
                <a:t>Runtime Readiness (Steps 5–8)</a:t>
              </a:r>
            </a:p>
            <a:p>
              <a:pPr algn="l">
                <a:lnSpc>
                  <a:spcPts val="2340"/>
                </a:lnSpc>
              </a:pPr>
              <a:r>
                <a:rPr lang="en-US" b="true" sz="1950">
                  <a:solidFill>
                    <a:srgbClr val="0F172A"/>
                  </a:solidFill>
                  <a:latin typeface="Calibri (MS) Bold"/>
                  <a:ea typeface="Calibri (MS) Bold"/>
                  <a:cs typeface="Calibri (MS) Bold"/>
                  <a:sym typeface="Calibri (MS) Bold"/>
                </a:rPr>
                <a:t>• 5. KUKSA Data Broker:</a:t>
              </a:r>
            </a:p>
            <a:p>
              <a:pPr algn="l">
                <a:lnSpc>
                  <a:spcPts val="2340"/>
                </a:lnSpc>
              </a:pPr>
              <a:r>
                <a:rPr lang="en-US" sz="1950">
                  <a:solidFill>
                    <a:srgbClr val="334155"/>
                  </a:solidFill>
                  <a:latin typeface="Calibri (MS)"/>
                  <a:ea typeface="Calibri (MS)"/>
                  <a:cs typeface="Calibri (MS)"/>
                  <a:sym typeface="Calibri (MS)"/>
                </a:rPr>
                <a:t>Kuksa VSS data broker initializes &amp; loads compiled Lab Skateboard Vehicle Profile.</a:t>
              </a:r>
            </a:p>
            <a:p>
              <a:pPr algn="l">
                <a:lnSpc>
                  <a:spcPts val="2340"/>
                </a:lnSpc>
              </a:pPr>
              <a:r>
                <a:rPr lang="en-US" b="true" sz="1950">
                  <a:solidFill>
                    <a:srgbClr val="0F172A"/>
                  </a:solidFill>
                  <a:latin typeface="Calibri (MS) Bold"/>
                  <a:ea typeface="Calibri (MS) Bold"/>
                  <a:cs typeface="Calibri (MS) Bold"/>
                  <a:sym typeface="Calibri (MS) Bold"/>
                </a:rPr>
                <a:t>• 6. Vehicle Adapter &amp; Apps:</a:t>
              </a:r>
            </a:p>
            <a:p>
              <a:pPr algn="l">
                <a:lnSpc>
                  <a:spcPts val="2340"/>
                </a:lnSpc>
              </a:pPr>
              <a:r>
                <a:rPr lang="en-US" sz="1950">
                  <a:solidFill>
                    <a:srgbClr val="334155"/>
                  </a:solidFill>
                  <a:latin typeface="Calibri (MS)"/>
                  <a:ea typeface="Calibri (MS)"/>
                  <a:cs typeface="Calibri (MS)"/>
                  <a:sym typeface="Calibri (MS)"/>
                </a:rPr>
                <a:t>Lab Skateboard Adapter binds to CAN bus (0x1228/0x1291); Velocitas apps start up.</a:t>
              </a:r>
            </a:p>
            <a:p>
              <a:pPr algn="l">
                <a:lnSpc>
                  <a:spcPts val="2340"/>
                </a:lnSpc>
              </a:pPr>
              <a:r>
                <a:rPr lang="en-US" b="true" sz="1950">
                  <a:solidFill>
                    <a:srgbClr val="0F172A"/>
                  </a:solidFill>
                  <a:latin typeface="Calibri (MS) Bold"/>
                  <a:ea typeface="Calibri (MS) Bold"/>
                  <a:cs typeface="Calibri (MS) Bold"/>
                  <a:sym typeface="Calibri (MS) Bold"/>
                </a:rPr>
                <a:t>• 7. Telemetry &amp; Diagnostics:</a:t>
              </a:r>
            </a:p>
            <a:p>
              <a:pPr algn="l">
                <a:lnSpc>
                  <a:spcPts val="2340"/>
                </a:lnSpc>
              </a:pPr>
              <a:r>
                <a:rPr lang="en-US" sz="1950">
                  <a:solidFill>
                    <a:srgbClr val="334155"/>
                  </a:solidFill>
                  <a:latin typeface="Calibri (MS)"/>
                  <a:ea typeface="Calibri (MS)"/>
                  <a:cs typeface="Calibri (MS)"/>
                  <a:sym typeface="Calibri (MS)"/>
                </a:rPr>
                <a:t>OpenSOVD diagnostics &amp; Zenoh telemetry channels establish sync.</a:t>
              </a:r>
            </a:p>
            <a:p>
              <a:pPr algn="l">
                <a:lnSpc>
                  <a:spcPts val="2340"/>
                </a:lnSpc>
              </a:pPr>
              <a:r>
                <a:rPr lang="en-US" b="true" sz="1950">
                  <a:solidFill>
                    <a:srgbClr val="0F172A"/>
                  </a:solidFill>
                  <a:latin typeface="Calibri (MS) Bold"/>
                  <a:ea typeface="Calibri (MS) Bold"/>
                  <a:cs typeface="Calibri (MS) Bold"/>
                  <a:sym typeface="Calibri (MS) Bold"/>
                </a:rPr>
                <a:t>• 8. Dashboard UI Ready:</a:t>
              </a:r>
            </a:p>
            <a:p>
              <a:pPr algn="l">
                <a:lnSpc>
                  <a:spcPts val="2340"/>
                </a:lnSpc>
              </a:pPr>
              <a:r>
                <a:rPr lang="en-US" sz="1950">
                  <a:solidFill>
                    <a:srgbClr val="334155"/>
                  </a:solidFill>
                  <a:latin typeface="Calibri (MS)"/>
                  <a:ea typeface="Calibri (MS)"/>
                  <a:cs typeface="Calibri (MS)"/>
                  <a:sym typeface="Calibri (MS)"/>
                </a:rPr>
                <a:t>Vehicle SDV Dashboard UI launches ➔ SDV Platform READY (Zero Terminals).</a:t>
              </a:r>
            </a:p>
          </p:txBody>
        </p:sp>
      </p:gr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Normal Startup vs. First-Time Installation</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WORKFLOW</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26</a:t>
            </a:r>
          </a:p>
        </p:txBody>
      </p:sp>
      <p:graphicFrame>
        <p:nvGraphicFramePr>
          <p:cNvPr name="Table 9" id="9"/>
          <p:cNvGraphicFramePr>
            <a:graphicFrameLocks noGrp="true"/>
          </p:cNvGraphicFramePr>
          <p:nvPr/>
        </p:nvGraphicFramePr>
        <p:xfrm>
          <a:off x="960120" y="1577340"/>
          <a:ext cx="16154400" cy="7467600"/>
        </p:xfrm>
        <a:graphic>
          <a:graphicData uri="http://schemas.openxmlformats.org/drawingml/2006/table">
            <a:tbl>
              <a:tblPr/>
              <a:tblGrid>
                <a:gridCol w="3011828"/>
                <a:gridCol w="6571286"/>
                <a:gridCol w="6571286"/>
              </a:tblGrid>
              <a:tr h="933450">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Workflow Phase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First-Time Vehicle Onboarding (One-Time)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Normal Vehicle Runtime Startup (Every Time)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r>
              <a:tr h="9334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Trigger Event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New compatible vehicle connected for first time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Driver turns vehicle ignition / power switch 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9334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User Action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Launches Onboarding UI &amp; selects DBC file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Zero user action required (Automated boot)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9334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System Process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DBC parsing, AI DBC-&gt;VSS mapping &amp; validation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Linux systemd initializes auto-start services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9334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Profile &amp; Adapter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Generates Vehicle Profile &amp; compiles Vehicle Adapter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Loads existing Vehicle Profile &amp; Vehicle Adapter</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9334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Software Deployment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Downloads &amp; installs Kanto, Kuksa &amp; Velocitas apps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Kanto container engine resumes container workloads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9334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Validation Check</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Executes initial system diagnostic self-test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Performs fast telemetry &amp; sensor health check</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93345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Final Output State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Registers vehicle in Dashboard UI ➔ ONBOARDED</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Vehicle SDV Dashboard displays READY status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Vehicle SDV User Interface &amp; Dashboard</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DASHBOARD</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27</a:t>
            </a:r>
          </a:p>
        </p:txBody>
      </p:sp>
      <p:grpSp>
        <p:nvGrpSpPr>
          <p:cNvPr name="Group 9" id="9"/>
          <p:cNvGrpSpPr/>
          <p:nvPr/>
        </p:nvGrpSpPr>
        <p:grpSpPr>
          <a:xfrm rot="0">
            <a:off x="952976" y="1707356"/>
            <a:ext cx="7900988" cy="6597968"/>
            <a:chOff x="0" y="0"/>
            <a:chExt cx="10534650" cy="8797290"/>
          </a:xfrm>
        </p:grpSpPr>
        <p:sp>
          <p:nvSpPr>
            <p:cNvPr name="Freeform 10" id="10"/>
            <p:cNvSpPr/>
            <p:nvPr/>
          </p:nvSpPr>
          <p:spPr>
            <a:xfrm flipH="false" flipV="false" rot="0">
              <a:off x="0" y="0"/>
              <a:ext cx="10534650" cy="8797290"/>
            </a:xfrm>
            <a:custGeom>
              <a:avLst/>
              <a:gdLst/>
              <a:ahLst/>
              <a:cxnLst/>
              <a:rect r="r" b="b" t="t" l="l"/>
              <a:pathLst>
                <a:path h="8797290" w="10534650">
                  <a:moveTo>
                    <a:pt x="0" y="1466215"/>
                  </a:moveTo>
                  <a:cubicBezTo>
                    <a:pt x="0" y="656463"/>
                    <a:pt x="656463" y="0"/>
                    <a:pt x="1466215" y="0"/>
                  </a:cubicBezTo>
                  <a:lnTo>
                    <a:pt x="9068435" y="0"/>
                  </a:lnTo>
                  <a:cubicBezTo>
                    <a:pt x="9878187" y="0"/>
                    <a:pt x="10534650" y="656463"/>
                    <a:pt x="10534650" y="1466215"/>
                  </a:cubicBezTo>
                  <a:lnTo>
                    <a:pt x="10534650" y="7331075"/>
                  </a:lnTo>
                  <a:cubicBezTo>
                    <a:pt x="10534650" y="8140827"/>
                    <a:pt x="9878187" y="8797290"/>
                    <a:pt x="9068435" y="8797290"/>
                  </a:cubicBezTo>
                  <a:lnTo>
                    <a:pt x="1466215" y="8797290"/>
                  </a:lnTo>
                  <a:cubicBezTo>
                    <a:pt x="656463" y="8797290"/>
                    <a:pt x="0" y="8140827"/>
                    <a:pt x="0" y="7331075"/>
                  </a:cubicBezTo>
                  <a:close/>
                </a:path>
              </a:pathLst>
            </a:custGeom>
            <a:solidFill>
              <a:srgbClr val="F8FAFC"/>
            </a:solidFill>
            <a:ln w="14288" cap="sq">
              <a:solidFill>
                <a:srgbClr val="CBD5E1"/>
              </a:solidFill>
              <a:prstDash val="solid"/>
              <a:miter/>
            </a:ln>
          </p:spPr>
        </p:sp>
        <p:sp>
          <p:nvSpPr>
            <p:cNvPr name="TextBox 11" id="11"/>
            <p:cNvSpPr txBox="true"/>
            <p:nvPr/>
          </p:nvSpPr>
          <p:spPr>
            <a:xfrm>
              <a:off x="0" y="-47625"/>
              <a:ext cx="10534650" cy="8844915"/>
            </a:xfrm>
            <a:prstGeom prst="rect">
              <a:avLst/>
            </a:prstGeom>
          </p:spPr>
          <p:txBody>
            <a:bodyPr anchor="t" rtlCol="false" tIns="50800" lIns="50800" bIns="50800" rIns="50800"/>
            <a:lstStyle/>
            <a:p>
              <a:pPr algn="ctr">
                <a:lnSpc>
                  <a:spcPts val="2610"/>
                </a:lnSpc>
              </a:pPr>
              <a:r>
                <a:rPr lang="en-US" b="true" sz="2175">
                  <a:solidFill>
                    <a:srgbClr val="17365D"/>
                  </a:solidFill>
                  <a:latin typeface="Calibri (MS) Bold"/>
                  <a:ea typeface="Calibri (MS) Bold"/>
                  <a:cs typeface="Calibri (MS) Bold"/>
                  <a:sym typeface="Calibri (MS) Bold"/>
                </a:rPr>
                <a:t>Automotive Dashboard Layout</a:t>
              </a:r>
            </a:p>
            <a:p>
              <a:pPr algn="l">
                <a:lnSpc>
                  <a:spcPts val="2340"/>
                </a:lnSpc>
              </a:pPr>
              <a:r>
                <a:rPr lang="en-US" b="true" sz="1950">
                  <a:solidFill>
                    <a:srgbClr val="0F172A"/>
                  </a:solidFill>
                  <a:latin typeface="Calibri (MS) Bold"/>
                  <a:ea typeface="Calibri (MS) Bold"/>
                  <a:cs typeface="Calibri (MS) Bold"/>
                  <a:sym typeface="Calibri (MS) Bold"/>
                </a:rPr>
                <a:t>• Vehicle Identification:</a:t>
              </a:r>
            </a:p>
            <a:p>
              <a:pPr algn="l">
                <a:lnSpc>
                  <a:spcPts val="2340"/>
                </a:lnSpc>
              </a:pPr>
              <a:r>
                <a:rPr lang="en-US" sz="1950">
                  <a:solidFill>
                    <a:srgbClr val="334155"/>
                  </a:solidFill>
                  <a:latin typeface="Calibri (MS)"/>
                  <a:ea typeface="Calibri (MS)"/>
                  <a:cs typeface="Calibri (MS)"/>
                  <a:sym typeface="Calibri (MS)"/>
                </a:rPr>
                <a:t>Vehicle: Lab Skateboard Drive-by-Wire Platform  |  Status: SYSTEM READY</a:t>
              </a:r>
            </a:p>
            <a:p>
              <a:pPr algn="l">
                <a:lnSpc>
                  <a:spcPts val="2340"/>
                </a:lnSpc>
              </a:pPr>
              <a:r>
                <a:rPr lang="en-US" b="true" sz="1950">
                  <a:solidFill>
                    <a:srgbClr val="0F172A"/>
                  </a:solidFill>
                  <a:latin typeface="Calibri (MS) Bold"/>
                  <a:ea typeface="Calibri (MS) Bold"/>
                  <a:cs typeface="Calibri (MS) Bold"/>
                  <a:sym typeface="Calibri (MS) Bold"/>
                </a:rPr>
                <a:t>• Live Telemetry Display:</a:t>
              </a:r>
            </a:p>
            <a:p>
              <a:pPr algn="l">
                <a:lnSpc>
                  <a:spcPts val="2340"/>
                </a:lnSpc>
              </a:pPr>
              <a:r>
                <a:rPr lang="en-US" sz="1950">
                  <a:solidFill>
                    <a:srgbClr val="334155"/>
                  </a:solidFill>
                  <a:latin typeface="Calibri (MS)"/>
                  <a:ea typeface="Calibri (MS)"/>
                  <a:cs typeface="Calibri (MS)"/>
                  <a:sym typeface="Calibri (MS)"/>
                </a:rPr>
                <a:t>Vehicle Speed: 12.4 km/h  |  Battery: 78%  |  Drive Mode: AUTO  |  Steer Angle: +14.2 deg</a:t>
              </a:r>
            </a:p>
            <a:p>
              <a:pPr algn="l">
                <a:lnSpc>
                  <a:spcPts val="2340"/>
                </a:lnSpc>
              </a:pPr>
              <a:r>
                <a:rPr lang="en-US" b="true" sz="1950">
                  <a:solidFill>
                    <a:srgbClr val="0F172A"/>
                  </a:solidFill>
                  <a:latin typeface="Calibri (MS) Bold"/>
                  <a:ea typeface="Calibri (MS) Bold"/>
                  <a:cs typeface="Calibri (MS) Bold"/>
                  <a:sym typeface="Calibri (MS) Bold"/>
                </a:rPr>
                <a:t>• Runtime Health Status:</a:t>
              </a:r>
            </a:p>
            <a:p>
              <a:pPr algn="l">
                <a:lnSpc>
                  <a:spcPts val="2340"/>
                </a:lnSpc>
              </a:pPr>
              <a:r>
                <a:rPr lang="en-US" sz="1950">
                  <a:solidFill>
                    <a:srgbClr val="334155"/>
                  </a:solidFill>
                  <a:latin typeface="Calibri (MS)"/>
                  <a:ea typeface="Calibri (MS)"/>
                  <a:cs typeface="Calibri (MS)"/>
                  <a:sym typeface="Calibri (MS)"/>
                </a:rPr>
                <a:t>KUKSA VSS Broker: ● Running  |  Applications: ● 5 Active  |  Comms: ● Connected</a:t>
              </a:r>
            </a:p>
          </p:txBody>
        </p:sp>
      </p:grpSp>
      <p:grpSp>
        <p:nvGrpSpPr>
          <p:cNvPr name="Group 12" id="12"/>
          <p:cNvGrpSpPr/>
          <p:nvPr/>
        </p:nvGrpSpPr>
        <p:grpSpPr>
          <a:xfrm rot="0">
            <a:off x="9251156" y="1707356"/>
            <a:ext cx="7900988" cy="6597968"/>
            <a:chOff x="0" y="0"/>
            <a:chExt cx="10534650" cy="8797290"/>
          </a:xfrm>
        </p:grpSpPr>
        <p:sp>
          <p:nvSpPr>
            <p:cNvPr name="Freeform 13" id="13"/>
            <p:cNvSpPr/>
            <p:nvPr/>
          </p:nvSpPr>
          <p:spPr>
            <a:xfrm flipH="false" flipV="false" rot="0">
              <a:off x="0" y="0"/>
              <a:ext cx="10534650" cy="8797290"/>
            </a:xfrm>
            <a:custGeom>
              <a:avLst/>
              <a:gdLst/>
              <a:ahLst/>
              <a:cxnLst/>
              <a:rect r="r" b="b" t="t" l="l"/>
              <a:pathLst>
                <a:path h="8797290" w="10534650">
                  <a:moveTo>
                    <a:pt x="0" y="1466215"/>
                  </a:moveTo>
                  <a:cubicBezTo>
                    <a:pt x="0" y="656463"/>
                    <a:pt x="656463" y="0"/>
                    <a:pt x="1466215" y="0"/>
                  </a:cubicBezTo>
                  <a:lnTo>
                    <a:pt x="9068435" y="0"/>
                  </a:lnTo>
                  <a:cubicBezTo>
                    <a:pt x="9878187" y="0"/>
                    <a:pt x="10534650" y="656463"/>
                    <a:pt x="10534650" y="1466215"/>
                  </a:cubicBezTo>
                  <a:lnTo>
                    <a:pt x="10534650" y="7331075"/>
                  </a:lnTo>
                  <a:cubicBezTo>
                    <a:pt x="10534650" y="8140827"/>
                    <a:pt x="9878187" y="8797290"/>
                    <a:pt x="9068435" y="8797290"/>
                  </a:cubicBezTo>
                  <a:lnTo>
                    <a:pt x="1466215" y="8797290"/>
                  </a:lnTo>
                  <a:cubicBezTo>
                    <a:pt x="656463" y="8797290"/>
                    <a:pt x="0" y="8140827"/>
                    <a:pt x="0" y="7331075"/>
                  </a:cubicBezTo>
                  <a:close/>
                </a:path>
              </a:pathLst>
            </a:custGeom>
            <a:solidFill>
              <a:srgbClr val="F8FAFC"/>
            </a:solidFill>
            <a:ln w="14288" cap="sq">
              <a:solidFill>
                <a:srgbClr val="CBD5E1"/>
              </a:solidFill>
              <a:prstDash val="solid"/>
              <a:miter/>
            </a:ln>
          </p:spPr>
        </p:sp>
        <p:sp>
          <p:nvSpPr>
            <p:cNvPr name="TextBox 14" id="14"/>
            <p:cNvSpPr txBox="true"/>
            <p:nvPr/>
          </p:nvSpPr>
          <p:spPr>
            <a:xfrm>
              <a:off x="0" y="-47625"/>
              <a:ext cx="10534650" cy="8844915"/>
            </a:xfrm>
            <a:prstGeom prst="rect">
              <a:avLst/>
            </a:prstGeom>
          </p:spPr>
          <p:txBody>
            <a:bodyPr anchor="t" rtlCol="false" tIns="50800" lIns="50800" bIns="50800" rIns="50800"/>
            <a:lstStyle/>
            <a:p>
              <a:pPr algn="ctr">
                <a:lnSpc>
                  <a:spcPts val="2610"/>
                </a:lnSpc>
              </a:pPr>
              <a:r>
                <a:rPr lang="en-US" b="true" sz="2175">
                  <a:solidFill>
                    <a:srgbClr val="0284C7"/>
                  </a:solidFill>
                  <a:latin typeface="Calibri (MS) Bold"/>
                  <a:ea typeface="Calibri (MS) Bold"/>
                  <a:cs typeface="Calibri (MS) Bold"/>
                  <a:sym typeface="Calibri (MS) Bold"/>
                </a:rPr>
                <a:t>Subsystem Status &amp; Navigation</a:t>
              </a:r>
            </a:p>
            <a:p>
              <a:pPr algn="l">
                <a:lnSpc>
                  <a:spcPts val="2340"/>
                </a:lnSpc>
              </a:pPr>
              <a:r>
                <a:rPr lang="en-US" b="true" sz="1950">
                  <a:solidFill>
                    <a:srgbClr val="0F172A"/>
                  </a:solidFill>
                  <a:latin typeface="Calibri (MS) Bold"/>
                  <a:ea typeface="Calibri (MS) Bold"/>
                  <a:cs typeface="Calibri (MS) Bold"/>
                  <a:sym typeface="Calibri (MS) Bold"/>
                </a:rPr>
                <a:t>• Diagnostics Status:</a:t>
              </a:r>
            </a:p>
            <a:p>
              <a:pPr algn="l">
                <a:lnSpc>
                  <a:spcPts val="2340"/>
                </a:lnSpc>
              </a:pPr>
              <a:r>
                <a:rPr lang="en-US" sz="1950">
                  <a:solidFill>
                    <a:srgbClr val="334155"/>
                  </a:solidFill>
                  <a:latin typeface="Calibri (MS)"/>
                  <a:ea typeface="Calibri (MS)"/>
                  <a:cs typeface="Calibri (MS)"/>
                  <a:sym typeface="Calibri (MS)"/>
                </a:rPr>
                <a:t>OpenSOVD Diagnostic Agent: ● Healthy (0 Active Fault Codes)</a:t>
              </a:r>
            </a:p>
            <a:p>
              <a:pPr algn="l">
                <a:lnSpc>
                  <a:spcPts val="2340"/>
                </a:lnSpc>
              </a:pPr>
              <a:r>
                <a:rPr lang="en-US" b="true" sz="1950">
                  <a:solidFill>
                    <a:srgbClr val="0F172A"/>
                  </a:solidFill>
                  <a:latin typeface="Calibri (MS) Bold"/>
                  <a:ea typeface="Calibri (MS) Bold"/>
                  <a:cs typeface="Calibri (MS) Bold"/>
                  <a:sym typeface="Calibri (MS) Bold"/>
                </a:rPr>
                <a:t>• OTA Status:</a:t>
              </a:r>
            </a:p>
            <a:p>
              <a:pPr algn="l">
                <a:lnSpc>
                  <a:spcPts val="2340"/>
                </a:lnSpc>
              </a:pPr>
              <a:r>
                <a:rPr lang="en-US" sz="1950">
                  <a:solidFill>
                    <a:srgbClr val="334155"/>
                  </a:solidFill>
                  <a:latin typeface="Calibri (MS)"/>
                  <a:ea typeface="Calibri (MS)"/>
                  <a:cs typeface="Calibri (MS)"/>
                  <a:sym typeface="Calibri (MS)"/>
                </a:rPr>
                <a:t>OTA Lifecycle Agent: ● Up to Date (Software Version v1.2.0)</a:t>
              </a:r>
            </a:p>
            <a:p>
              <a:pPr algn="l">
                <a:lnSpc>
                  <a:spcPts val="2340"/>
                </a:lnSpc>
              </a:pPr>
              <a:r>
                <a:rPr lang="en-US" b="true" sz="1950">
                  <a:solidFill>
                    <a:srgbClr val="0F172A"/>
                  </a:solidFill>
                  <a:latin typeface="Calibri (MS) Bold"/>
                  <a:ea typeface="Calibri (MS) Bold"/>
                  <a:cs typeface="Calibri (MS) Bold"/>
                  <a:sym typeface="Calibri (MS) Bold"/>
                </a:rPr>
                <a:t>• Navigation Tabs:</a:t>
              </a:r>
            </a:p>
            <a:p>
              <a:pPr algn="l">
                <a:lnSpc>
                  <a:spcPts val="2340"/>
                </a:lnSpc>
              </a:pPr>
              <a:r>
                <a:rPr lang="en-US" sz="1950">
                  <a:solidFill>
                    <a:srgbClr val="334155"/>
                  </a:solidFill>
                  <a:latin typeface="Calibri (MS)"/>
                  <a:ea typeface="Calibri (MS)"/>
                  <a:cs typeface="Calibri (MS)"/>
                  <a:sym typeface="Calibri (MS)"/>
                </a:rPr>
                <a:t>[ Overview ]  [ Applications ]  [ Diagnostics ]  [ OTA Updates ]  [ Settings ]</a:t>
              </a:r>
            </a:p>
          </p:txBody>
        </p:sp>
      </p:gr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User Application Management UI</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APPLICATIONS</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28</a:t>
            </a:r>
          </a:p>
        </p:txBody>
      </p:sp>
      <p:graphicFrame>
        <p:nvGraphicFramePr>
          <p:cNvPr name="Table 9" id="9"/>
          <p:cNvGraphicFramePr>
            <a:graphicFrameLocks noGrp="true"/>
          </p:cNvGraphicFramePr>
          <p:nvPr/>
        </p:nvGraphicFramePr>
        <p:xfrm>
          <a:off x="960120" y="1577340"/>
          <a:ext cx="16173450" cy="7467600"/>
        </p:xfrm>
        <a:graphic>
          <a:graphicData uri="http://schemas.openxmlformats.org/drawingml/2006/table">
            <a:tbl>
              <a:tblPr/>
              <a:tblGrid>
                <a:gridCol w="3426577"/>
                <a:gridCol w="5893720"/>
                <a:gridCol w="2741261"/>
                <a:gridCol w="4111892"/>
              </a:tblGrid>
              <a:tr h="1066800">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Application Name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Functional Description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Runtime Status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c>
                  <a:txBody>
                    <a:bodyPr anchor="t" rtlCol="false"/>
                    <a:lstStyle/>
                    <a:p>
                      <a:pPr algn="l">
                        <a:lnSpc>
                          <a:spcPts val="2340"/>
                        </a:lnSpc>
                        <a:defRPr/>
                      </a:pPr>
                      <a:r>
                        <a:rPr lang="en-US" b="true" sz="1950">
                          <a:solidFill>
                            <a:srgbClr val="FFFFFF"/>
                          </a:solidFill>
                          <a:latin typeface="Calibri (MS) Bold"/>
                          <a:ea typeface="Calibri (MS) Bold"/>
                          <a:cs typeface="Calibri (MS) Bold"/>
                          <a:sym typeface="Calibri (MS) Bold"/>
                        </a:rPr>
                        <a:t>User Management Actions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7365D"/>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Vehicle Telemetry App</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Exposes speed, battery &amp; steer signals to cloud</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 Running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[View Signals]  [Restart]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Vehicle Monitor App</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Tracks ECU health, CAN watchdog &amp; diagnostics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 Running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[View Logs]  [Restart]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OpenSOVD Diagnostic Agent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ISO 17978 RESTful diagnostic service endpoint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 Running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[View Faults]  [Run Diag]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ADAS Service App</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Lane &amp; obstacle detection assistance logic</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 Running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[View Stream]  [Configure]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Companion Lock Service</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Processes mobile app lock/unlock commands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 Running</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[View Status]  [Restart]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1F5F9"/>
                    </a:solidFill>
                  </a:tcPr>
                </a:tc>
              </a:tr>
              <a:tr h="1066800">
                <a:tc>
                  <a:txBody>
                    <a:bodyPr anchor="t" rtlCol="false"/>
                    <a:lstStyle/>
                    <a:p>
                      <a:pPr algn="l">
                        <a:lnSpc>
                          <a:spcPts val="2340"/>
                        </a:lnSpc>
                        <a:defRPr/>
                      </a:pPr>
                      <a:r>
                        <a:rPr lang="en-US" b="true" sz="1950">
                          <a:solidFill>
                            <a:srgbClr val="17365D"/>
                          </a:solidFill>
                          <a:latin typeface="Calibri (MS) Bold"/>
                          <a:ea typeface="Calibri (MS) Bold"/>
                          <a:cs typeface="Calibri (MS) Bold"/>
                          <a:sym typeface="Calibri (MS) Bold"/>
                        </a:rPr>
                        <a:t>OTA Lifecycle Agent</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Checks container registry &amp; handles updates</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 Standby</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340"/>
                        </a:lnSpc>
                        <a:defRPr/>
                      </a:pPr>
                      <a:r>
                        <a:rPr lang="en-US" sz="1950">
                          <a:solidFill>
                            <a:srgbClr val="0F172A"/>
                          </a:solidFill>
                          <a:latin typeface="Calibri (MS)"/>
                          <a:ea typeface="Calibri (MS)"/>
                          <a:cs typeface="Calibri (MS)"/>
                          <a:sym typeface="Calibri (MS)"/>
                        </a:rPr>
                        <a:t>[Check Update]  [View Version]</a:t>
                      </a:r>
                      <a:endParaRPr lang="en-US" sz="1100"/>
                    </a:p>
                  </a:txBody>
                  <a:tcPr marL="91450" marR="91450" marT="91450" marB="9145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Developer Experience vs. Normal User Experience</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EXPERIENCE</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29</a:t>
            </a:r>
          </a:p>
        </p:txBody>
      </p:sp>
      <p:grpSp>
        <p:nvGrpSpPr>
          <p:cNvPr name="Group 9" id="9"/>
          <p:cNvGrpSpPr/>
          <p:nvPr/>
        </p:nvGrpSpPr>
        <p:grpSpPr>
          <a:xfrm rot="0">
            <a:off x="952976" y="1707356"/>
            <a:ext cx="5157788" cy="6597968"/>
            <a:chOff x="0" y="0"/>
            <a:chExt cx="6877050" cy="8797290"/>
          </a:xfrm>
        </p:grpSpPr>
        <p:sp>
          <p:nvSpPr>
            <p:cNvPr name="Freeform 10" id="10"/>
            <p:cNvSpPr/>
            <p:nvPr/>
          </p:nvSpPr>
          <p:spPr>
            <a:xfrm flipH="false" flipV="false" rot="0">
              <a:off x="0" y="0"/>
              <a:ext cx="6877050" cy="8797290"/>
            </a:xfrm>
            <a:custGeom>
              <a:avLst/>
              <a:gdLst/>
              <a:ahLst/>
              <a:cxnLst/>
              <a:rect r="r" b="b" t="t" l="l"/>
              <a:pathLst>
                <a:path h="8797290" w="6877050">
                  <a:moveTo>
                    <a:pt x="0" y="1146175"/>
                  </a:moveTo>
                  <a:cubicBezTo>
                    <a:pt x="0" y="513207"/>
                    <a:pt x="513207" y="0"/>
                    <a:pt x="1146175" y="0"/>
                  </a:cubicBezTo>
                  <a:lnTo>
                    <a:pt x="5730875" y="0"/>
                  </a:lnTo>
                  <a:cubicBezTo>
                    <a:pt x="6363843" y="0"/>
                    <a:pt x="6877050" y="513207"/>
                    <a:pt x="6877050" y="1146175"/>
                  </a:cubicBezTo>
                  <a:lnTo>
                    <a:pt x="6877050" y="7651115"/>
                  </a:lnTo>
                  <a:cubicBezTo>
                    <a:pt x="6877050" y="8284083"/>
                    <a:pt x="6363843" y="8797290"/>
                    <a:pt x="5730875" y="8797290"/>
                  </a:cubicBezTo>
                  <a:lnTo>
                    <a:pt x="1146175" y="8797290"/>
                  </a:lnTo>
                  <a:cubicBezTo>
                    <a:pt x="513207" y="8797290"/>
                    <a:pt x="0" y="8284083"/>
                    <a:pt x="0" y="7651115"/>
                  </a:cubicBezTo>
                  <a:close/>
                </a:path>
              </a:pathLst>
            </a:custGeom>
            <a:solidFill>
              <a:srgbClr val="F8FAFC"/>
            </a:solidFill>
            <a:ln w="14288" cap="sq">
              <a:solidFill>
                <a:srgbClr val="CBD5E1"/>
              </a:solidFill>
              <a:prstDash val="solid"/>
              <a:miter/>
            </a:ln>
          </p:spPr>
        </p:sp>
        <p:sp>
          <p:nvSpPr>
            <p:cNvPr name="TextBox 11" id="11"/>
            <p:cNvSpPr txBox="true"/>
            <p:nvPr/>
          </p:nvSpPr>
          <p:spPr>
            <a:xfrm>
              <a:off x="0" y="-47625"/>
              <a:ext cx="6877050" cy="8844915"/>
            </a:xfrm>
            <a:prstGeom prst="rect">
              <a:avLst/>
            </a:prstGeom>
          </p:spPr>
          <p:txBody>
            <a:bodyPr anchor="t" rtlCol="false" tIns="50800" lIns="50800" bIns="50800" rIns="50800"/>
            <a:lstStyle/>
            <a:p>
              <a:pPr algn="ctr">
                <a:lnSpc>
                  <a:spcPts val="2610"/>
                </a:lnSpc>
              </a:pPr>
              <a:r>
                <a:rPr lang="en-US" b="true" sz="2175">
                  <a:solidFill>
                    <a:srgbClr val="17365D"/>
                  </a:solidFill>
                  <a:latin typeface="Calibri (MS) Bold"/>
                  <a:ea typeface="Calibri (MS) Bold"/>
                  <a:cs typeface="Calibri (MS) Bold"/>
                  <a:sym typeface="Calibri (MS) Bold"/>
                </a:rPr>
                <a:t>1. Developer World</a:t>
              </a:r>
            </a:p>
            <a:p>
              <a:pPr algn="l">
                <a:lnSpc>
                  <a:spcPts val="2340"/>
                </a:lnSpc>
              </a:pPr>
              <a:r>
                <a:rPr lang="en-US" b="true" sz="1950">
                  <a:solidFill>
                    <a:srgbClr val="0F172A"/>
                  </a:solidFill>
                  <a:latin typeface="Calibri (MS) Bold"/>
                  <a:ea typeface="Calibri (MS) Bold"/>
                  <a:cs typeface="Calibri (MS) Bold"/>
                  <a:sym typeface="Calibri (MS) Bold"/>
                </a:rPr>
                <a:t>• Primary Hardware:</a:t>
              </a:r>
            </a:p>
            <a:p>
              <a:pPr algn="l">
                <a:lnSpc>
                  <a:spcPts val="2340"/>
                </a:lnSpc>
              </a:pPr>
              <a:r>
                <a:rPr lang="en-US" sz="1950">
                  <a:solidFill>
                    <a:srgbClr val="334155"/>
                  </a:solidFill>
                  <a:latin typeface="Calibri (MS)"/>
                  <a:ea typeface="Calibri (MS)"/>
                  <a:cs typeface="Calibri (MS)"/>
                  <a:sym typeface="Calibri (MS)"/>
                </a:rPr>
                <a:t>Jetson AGX Orin / Orin Nano ARM64 &amp; x86 Dev Compute.</a:t>
              </a:r>
            </a:p>
            <a:p>
              <a:pPr algn="l">
                <a:lnSpc>
                  <a:spcPts val="2340"/>
                </a:lnSpc>
              </a:pPr>
              <a:r>
                <a:rPr lang="en-US" b="true" sz="1950">
                  <a:solidFill>
                    <a:srgbClr val="0F172A"/>
                  </a:solidFill>
                  <a:latin typeface="Calibri (MS) Bold"/>
                  <a:ea typeface="Calibri (MS) Bold"/>
                  <a:cs typeface="Calibri (MS) Bold"/>
                  <a:sym typeface="Calibri (MS) Bold"/>
                </a:rPr>
                <a:t>• Development Tools:</a:t>
              </a:r>
            </a:p>
            <a:p>
              <a:pPr algn="l">
                <a:lnSpc>
                  <a:spcPts val="2340"/>
                </a:lnSpc>
              </a:pPr>
              <a:r>
                <a:rPr lang="en-US" sz="1950">
                  <a:solidFill>
                    <a:srgbClr val="334155"/>
                  </a:solidFill>
                  <a:latin typeface="Calibri (MS)"/>
                  <a:ea typeface="Calibri (MS)"/>
                  <a:cs typeface="Calibri (MS)"/>
                  <a:sym typeface="Calibri (MS)"/>
                </a:rPr>
                <a:t>Git, Terminal, Docker CLI, Python, VS Code, Ankaios CLI.</a:t>
              </a:r>
            </a:p>
            <a:p>
              <a:pPr algn="l">
                <a:lnSpc>
                  <a:spcPts val="2340"/>
                </a:lnSpc>
              </a:pPr>
              <a:r>
                <a:rPr lang="en-US" b="true" sz="1950">
                  <a:solidFill>
                    <a:srgbClr val="0F172A"/>
                  </a:solidFill>
                  <a:latin typeface="Calibri (MS) Bold"/>
                  <a:ea typeface="Calibri (MS) Bold"/>
                  <a:cs typeface="Calibri (MS) Bold"/>
                  <a:sym typeface="Calibri (MS) Bold"/>
                </a:rPr>
                <a:t>• Workflows:</a:t>
              </a:r>
            </a:p>
            <a:p>
              <a:pPr algn="l">
                <a:lnSpc>
                  <a:spcPts val="2340"/>
                </a:lnSpc>
              </a:pPr>
              <a:r>
                <a:rPr lang="en-US" sz="1950">
                  <a:solidFill>
                    <a:srgbClr val="334155"/>
                  </a:solidFill>
                  <a:latin typeface="Calibri (MS)"/>
                  <a:ea typeface="Calibri (MS)"/>
                  <a:cs typeface="Calibri (MS)"/>
                  <a:sym typeface="Calibri (MS)"/>
                </a:rPr>
                <a:t>Code edits, multi-arch builds, CI pipelines, local container testing &amp; logs.</a:t>
              </a:r>
            </a:p>
          </p:txBody>
        </p:sp>
      </p:grpSp>
      <p:grpSp>
        <p:nvGrpSpPr>
          <p:cNvPr name="Group 12" id="12"/>
          <p:cNvGrpSpPr/>
          <p:nvPr/>
        </p:nvGrpSpPr>
        <p:grpSpPr>
          <a:xfrm rot="0">
            <a:off x="6507956" y="1707356"/>
            <a:ext cx="5157788" cy="6597968"/>
            <a:chOff x="0" y="0"/>
            <a:chExt cx="6877050" cy="8797290"/>
          </a:xfrm>
        </p:grpSpPr>
        <p:sp>
          <p:nvSpPr>
            <p:cNvPr name="Freeform 13" id="13"/>
            <p:cNvSpPr/>
            <p:nvPr/>
          </p:nvSpPr>
          <p:spPr>
            <a:xfrm flipH="false" flipV="false" rot="0">
              <a:off x="0" y="0"/>
              <a:ext cx="6877050" cy="8797290"/>
            </a:xfrm>
            <a:custGeom>
              <a:avLst/>
              <a:gdLst/>
              <a:ahLst/>
              <a:cxnLst/>
              <a:rect r="r" b="b" t="t" l="l"/>
              <a:pathLst>
                <a:path h="8797290" w="6877050">
                  <a:moveTo>
                    <a:pt x="0" y="1146175"/>
                  </a:moveTo>
                  <a:cubicBezTo>
                    <a:pt x="0" y="513207"/>
                    <a:pt x="513207" y="0"/>
                    <a:pt x="1146175" y="0"/>
                  </a:cubicBezTo>
                  <a:lnTo>
                    <a:pt x="5730875" y="0"/>
                  </a:lnTo>
                  <a:cubicBezTo>
                    <a:pt x="6363843" y="0"/>
                    <a:pt x="6877050" y="513207"/>
                    <a:pt x="6877050" y="1146175"/>
                  </a:cubicBezTo>
                  <a:lnTo>
                    <a:pt x="6877050" y="7651115"/>
                  </a:lnTo>
                  <a:cubicBezTo>
                    <a:pt x="6877050" y="8284083"/>
                    <a:pt x="6363843" y="8797290"/>
                    <a:pt x="5730875" y="8797290"/>
                  </a:cubicBezTo>
                  <a:lnTo>
                    <a:pt x="1146175" y="8797290"/>
                  </a:lnTo>
                  <a:cubicBezTo>
                    <a:pt x="513207" y="8797290"/>
                    <a:pt x="0" y="8284083"/>
                    <a:pt x="0" y="7651115"/>
                  </a:cubicBezTo>
                  <a:close/>
                </a:path>
              </a:pathLst>
            </a:custGeom>
            <a:solidFill>
              <a:srgbClr val="F8FAFC"/>
            </a:solidFill>
            <a:ln w="14288" cap="sq">
              <a:solidFill>
                <a:srgbClr val="CBD5E1"/>
              </a:solidFill>
              <a:prstDash val="solid"/>
              <a:miter/>
            </a:ln>
          </p:spPr>
        </p:sp>
        <p:sp>
          <p:nvSpPr>
            <p:cNvPr name="TextBox 14" id="14"/>
            <p:cNvSpPr txBox="true"/>
            <p:nvPr/>
          </p:nvSpPr>
          <p:spPr>
            <a:xfrm>
              <a:off x="0" y="-47625"/>
              <a:ext cx="6877050" cy="8844915"/>
            </a:xfrm>
            <a:prstGeom prst="rect">
              <a:avLst/>
            </a:prstGeom>
          </p:spPr>
          <p:txBody>
            <a:bodyPr anchor="t" rtlCol="false" tIns="50800" lIns="50800" bIns="50800" rIns="50800"/>
            <a:lstStyle/>
            <a:p>
              <a:pPr algn="ctr">
                <a:lnSpc>
                  <a:spcPts val="2610"/>
                </a:lnSpc>
              </a:pPr>
              <a:r>
                <a:rPr lang="en-US" b="true" sz="2175">
                  <a:solidFill>
                    <a:srgbClr val="059669"/>
                  </a:solidFill>
                  <a:latin typeface="Calibri (MS) Bold"/>
                  <a:ea typeface="Calibri (MS) Bold"/>
                  <a:cs typeface="Calibri (MS) Bold"/>
                  <a:sym typeface="Calibri (MS) Bold"/>
                </a:rPr>
                <a:t>2. System / Control Layer</a:t>
              </a:r>
            </a:p>
            <a:p>
              <a:pPr algn="l">
                <a:lnSpc>
                  <a:spcPts val="2340"/>
                </a:lnSpc>
              </a:pPr>
              <a:r>
                <a:rPr lang="en-US" b="true" sz="1950">
                  <a:solidFill>
                    <a:srgbClr val="0F172A"/>
                  </a:solidFill>
                  <a:latin typeface="Calibri (MS) Bold"/>
                  <a:ea typeface="Calibri (MS) Bold"/>
                  <a:cs typeface="Calibri (MS) Bold"/>
                  <a:sym typeface="Calibri (MS) Bold"/>
                </a:rPr>
                <a:t>• Control Software:</a:t>
              </a:r>
            </a:p>
            <a:p>
              <a:pPr algn="l">
                <a:lnSpc>
                  <a:spcPts val="2340"/>
                </a:lnSpc>
              </a:pPr>
              <a:r>
                <a:rPr lang="en-US" sz="1950">
                  <a:solidFill>
                    <a:srgbClr val="334155"/>
                  </a:solidFill>
                  <a:latin typeface="Calibri (MS)"/>
                  <a:ea typeface="Calibri (MS)"/>
                  <a:cs typeface="Calibri (MS)"/>
                  <a:sym typeface="Calibri (MS)"/>
                </a:rPr>
                <a:t>Eclipse Kanto, Eclipse Ankaios, Eclipse Kuksa, Zenoh.</a:t>
              </a:r>
            </a:p>
            <a:p>
              <a:pPr algn="l">
                <a:lnSpc>
                  <a:spcPts val="2340"/>
                </a:lnSpc>
              </a:pPr>
              <a:r>
                <a:rPr lang="en-US" b="true" sz="1950">
                  <a:solidFill>
                    <a:srgbClr val="0F172A"/>
                  </a:solidFill>
                  <a:latin typeface="Calibri (MS) Bold"/>
                  <a:ea typeface="Calibri (MS) Bold"/>
                  <a:cs typeface="Calibri (MS) Bold"/>
                  <a:sym typeface="Calibri (MS) Bold"/>
                </a:rPr>
                <a:t>• System Automation:</a:t>
              </a:r>
            </a:p>
            <a:p>
              <a:pPr algn="l">
                <a:lnSpc>
                  <a:spcPts val="2340"/>
                </a:lnSpc>
              </a:pPr>
              <a:r>
                <a:rPr lang="en-US" sz="1950">
                  <a:solidFill>
                    <a:srgbClr val="334155"/>
                  </a:solidFill>
                  <a:latin typeface="Calibri (MS)"/>
                  <a:ea typeface="Calibri (MS)"/>
                  <a:cs typeface="Calibri (MS)"/>
                  <a:sym typeface="Calibri (MS)"/>
                </a:rPr>
                <a:t>Linux systemd auto-start services, management APIs &amp; OTA agent.</a:t>
              </a:r>
            </a:p>
          </p:txBody>
        </p:sp>
      </p:grpSp>
      <p:grpSp>
        <p:nvGrpSpPr>
          <p:cNvPr name="Group 15" id="15"/>
          <p:cNvGrpSpPr/>
          <p:nvPr/>
        </p:nvGrpSpPr>
        <p:grpSpPr>
          <a:xfrm rot="0">
            <a:off x="12062936" y="1707356"/>
            <a:ext cx="5157788" cy="6597968"/>
            <a:chOff x="0" y="0"/>
            <a:chExt cx="6877050" cy="8797290"/>
          </a:xfrm>
        </p:grpSpPr>
        <p:sp>
          <p:nvSpPr>
            <p:cNvPr name="Freeform 16" id="16"/>
            <p:cNvSpPr/>
            <p:nvPr/>
          </p:nvSpPr>
          <p:spPr>
            <a:xfrm flipH="false" flipV="false" rot="0">
              <a:off x="0" y="0"/>
              <a:ext cx="6877050" cy="8797290"/>
            </a:xfrm>
            <a:custGeom>
              <a:avLst/>
              <a:gdLst/>
              <a:ahLst/>
              <a:cxnLst/>
              <a:rect r="r" b="b" t="t" l="l"/>
              <a:pathLst>
                <a:path h="8797290" w="6877050">
                  <a:moveTo>
                    <a:pt x="0" y="1146175"/>
                  </a:moveTo>
                  <a:cubicBezTo>
                    <a:pt x="0" y="513207"/>
                    <a:pt x="513207" y="0"/>
                    <a:pt x="1146175" y="0"/>
                  </a:cubicBezTo>
                  <a:lnTo>
                    <a:pt x="5730875" y="0"/>
                  </a:lnTo>
                  <a:cubicBezTo>
                    <a:pt x="6363843" y="0"/>
                    <a:pt x="6877050" y="513207"/>
                    <a:pt x="6877050" y="1146175"/>
                  </a:cubicBezTo>
                  <a:lnTo>
                    <a:pt x="6877050" y="7651115"/>
                  </a:lnTo>
                  <a:cubicBezTo>
                    <a:pt x="6877050" y="8284083"/>
                    <a:pt x="6363843" y="8797290"/>
                    <a:pt x="5730875" y="8797290"/>
                  </a:cubicBezTo>
                  <a:lnTo>
                    <a:pt x="1146175" y="8797290"/>
                  </a:lnTo>
                  <a:cubicBezTo>
                    <a:pt x="513207" y="8797290"/>
                    <a:pt x="0" y="8284083"/>
                    <a:pt x="0" y="7651115"/>
                  </a:cubicBezTo>
                  <a:close/>
                </a:path>
              </a:pathLst>
            </a:custGeom>
            <a:solidFill>
              <a:srgbClr val="F8FAFC"/>
            </a:solidFill>
            <a:ln w="14288" cap="sq">
              <a:solidFill>
                <a:srgbClr val="CBD5E1"/>
              </a:solidFill>
              <a:prstDash val="solid"/>
              <a:miter/>
            </a:ln>
          </p:spPr>
        </p:sp>
        <p:sp>
          <p:nvSpPr>
            <p:cNvPr name="TextBox 17" id="17"/>
            <p:cNvSpPr txBox="true"/>
            <p:nvPr/>
          </p:nvSpPr>
          <p:spPr>
            <a:xfrm>
              <a:off x="0" y="-47625"/>
              <a:ext cx="6877050" cy="8844915"/>
            </a:xfrm>
            <a:prstGeom prst="rect">
              <a:avLst/>
            </a:prstGeom>
          </p:spPr>
          <p:txBody>
            <a:bodyPr anchor="t" rtlCol="false" tIns="50800" lIns="50800" bIns="50800" rIns="50800"/>
            <a:lstStyle/>
            <a:p>
              <a:pPr algn="ctr">
                <a:lnSpc>
                  <a:spcPts val="2610"/>
                </a:lnSpc>
              </a:pPr>
              <a:r>
                <a:rPr lang="en-US" b="true" sz="2175">
                  <a:solidFill>
                    <a:srgbClr val="0284C7"/>
                  </a:solidFill>
                  <a:latin typeface="Calibri (MS) Bold"/>
                  <a:ea typeface="Calibri (MS) Bold"/>
                  <a:cs typeface="Calibri (MS) Bold"/>
                  <a:sym typeface="Calibri (MS) Bold"/>
                </a:rPr>
                <a:t>3. Normal User World</a:t>
              </a:r>
            </a:p>
            <a:p>
              <a:pPr algn="l">
                <a:lnSpc>
                  <a:spcPts val="2340"/>
                </a:lnSpc>
              </a:pPr>
              <a:r>
                <a:rPr lang="en-US" b="true" sz="1950">
                  <a:solidFill>
                    <a:srgbClr val="0F172A"/>
                  </a:solidFill>
                  <a:latin typeface="Calibri (MS) Bold"/>
                  <a:ea typeface="Calibri (MS) Bold"/>
                  <a:cs typeface="Calibri (MS) Bold"/>
                  <a:sym typeface="Calibri (MS) Bold"/>
                </a:rPr>
                <a:t>• Primary Interface:</a:t>
              </a:r>
            </a:p>
            <a:p>
              <a:pPr algn="l">
                <a:lnSpc>
                  <a:spcPts val="2340"/>
                </a:lnSpc>
              </a:pPr>
              <a:r>
                <a:rPr lang="en-US" sz="1950">
                  <a:solidFill>
                    <a:srgbClr val="334155"/>
                  </a:solidFill>
                  <a:latin typeface="Calibri (MS)"/>
                  <a:ea typeface="Calibri (MS)"/>
                  <a:cs typeface="Calibri (MS)"/>
                  <a:sym typeface="Calibri (MS)"/>
                </a:rPr>
                <a:t>Vehicle SDV Dashboard UI &amp; Mobile Companion App.</a:t>
              </a:r>
            </a:p>
            <a:p>
              <a:pPr algn="l">
                <a:lnSpc>
                  <a:spcPts val="2340"/>
                </a:lnSpc>
              </a:pPr>
              <a:r>
                <a:rPr lang="en-US" b="true" sz="1950">
                  <a:solidFill>
                    <a:srgbClr val="0F172A"/>
                  </a:solidFill>
                  <a:latin typeface="Calibri (MS) Bold"/>
                  <a:ea typeface="Calibri (MS) Bold"/>
                  <a:cs typeface="Calibri (MS) Bold"/>
                  <a:sym typeface="Calibri (MS) Bold"/>
                </a:rPr>
                <a:t>• User Interaction:</a:t>
              </a:r>
            </a:p>
            <a:p>
              <a:pPr algn="l">
                <a:lnSpc>
                  <a:spcPts val="2340"/>
                </a:lnSpc>
              </a:pPr>
              <a:r>
                <a:rPr lang="en-US" sz="1950">
                  <a:solidFill>
                    <a:srgbClr val="334155"/>
                  </a:solidFill>
                  <a:latin typeface="Calibri (MS)"/>
                  <a:ea typeface="Calibri (MS)"/>
                  <a:cs typeface="Calibri (MS)"/>
                  <a:sym typeface="Calibri (MS)"/>
                </a:rPr>
                <a:t>Runtime vehicle, view status, manage apps &amp; OTA updates.</a:t>
              </a:r>
            </a:p>
            <a:p>
              <a:pPr algn="l">
                <a:lnSpc>
                  <a:spcPts val="2340"/>
                </a:lnSpc>
              </a:pPr>
              <a:r>
                <a:rPr lang="en-US" b="true" sz="1950">
                  <a:solidFill>
                    <a:srgbClr val="0F172A"/>
                  </a:solidFill>
                  <a:latin typeface="Calibri (MS) Bold"/>
                  <a:ea typeface="Calibri (MS) Bold"/>
                  <a:cs typeface="Calibri (MS) Bold"/>
                  <a:sym typeface="Calibri (MS) Bold"/>
                </a:rPr>
                <a:t>• Zero Technical Clutter:</a:t>
              </a:r>
            </a:p>
            <a:p>
              <a:pPr algn="l">
                <a:lnSpc>
                  <a:spcPts val="2340"/>
                </a:lnSpc>
              </a:pPr>
              <a:r>
                <a:rPr lang="en-US" sz="1950">
                  <a:solidFill>
                    <a:srgbClr val="334155"/>
                  </a:solidFill>
                  <a:latin typeface="Calibri (MS)"/>
                  <a:ea typeface="Calibri (MS)"/>
                  <a:cs typeface="Calibri (MS)"/>
                  <a:sym typeface="Calibri (MS)"/>
                </a:rPr>
                <a:t>NO terminals, NO Docker commands, NO CLI scripts.</a:t>
              </a:r>
            </a:p>
          </p:txBody>
        </p:sp>
      </p:gr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TextBox 4" id="4"/>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Over-The-Air (OTA) User &amp; Technical Lifecycle</a:t>
            </a:r>
          </a:p>
        </p:txBody>
      </p:sp>
      <p:sp>
        <p:nvSpPr>
          <p:cNvPr name="TextBox 5" id="5"/>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LIFECYCLE</a:t>
            </a:r>
          </a:p>
        </p:txBody>
      </p:sp>
      <p:grpSp>
        <p:nvGrpSpPr>
          <p:cNvPr name="Group 6" id="6"/>
          <p:cNvGrpSpPr/>
          <p:nvPr/>
        </p:nvGrpSpPr>
        <p:grpSpPr>
          <a:xfrm rot="0">
            <a:off x="754380" y="9669780"/>
            <a:ext cx="16733520" cy="13716"/>
            <a:chOff x="0" y="0"/>
            <a:chExt cx="22311360" cy="18288"/>
          </a:xfrm>
        </p:grpSpPr>
        <p:sp>
          <p:nvSpPr>
            <p:cNvPr name="Freeform 7" id="7"/>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30</a:t>
            </a:r>
          </a:p>
        </p:txBody>
      </p:sp>
      <p:grpSp>
        <p:nvGrpSpPr>
          <p:cNvPr name="Group 9" id="9"/>
          <p:cNvGrpSpPr/>
          <p:nvPr/>
        </p:nvGrpSpPr>
        <p:grpSpPr>
          <a:xfrm rot="0">
            <a:off x="952976" y="1707356"/>
            <a:ext cx="7900988" cy="6597968"/>
            <a:chOff x="0" y="0"/>
            <a:chExt cx="10534650" cy="8797290"/>
          </a:xfrm>
        </p:grpSpPr>
        <p:sp>
          <p:nvSpPr>
            <p:cNvPr name="Freeform 10" id="10"/>
            <p:cNvSpPr/>
            <p:nvPr/>
          </p:nvSpPr>
          <p:spPr>
            <a:xfrm flipH="false" flipV="false" rot="0">
              <a:off x="0" y="0"/>
              <a:ext cx="10534650" cy="8797290"/>
            </a:xfrm>
            <a:custGeom>
              <a:avLst/>
              <a:gdLst/>
              <a:ahLst/>
              <a:cxnLst/>
              <a:rect r="r" b="b" t="t" l="l"/>
              <a:pathLst>
                <a:path h="8797290" w="10534650">
                  <a:moveTo>
                    <a:pt x="0" y="1466215"/>
                  </a:moveTo>
                  <a:cubicBezTo>
                    <a:pt x="0" y="656463"/>
                    <a:pt x="656463" y="0"/>
                    <a:pt x="1466215" y="0"/>
                  </a:cubicBezTo>
                  <a:lnTo>
                    <a:pt x="9068435" y="0"/>
                  </a:lnTo>
                  <a:cubicBezTo>
                    <a:pt x="9878187" y="0"/>
                    <a:pt x="10534650" y="656463"/>
                    <a:pt x="10534650" y="1466215"/>
                  </a:cubicBezTo>
                  <a:lnTo>
                    <a:pt x="10534650" y="7331075"/>
                  </a:lnTo>
                  <a:cubicBezTo>
                    <a:pt x="10534650" y="8140827"/>
                    <a:pt x="9878187" y="8797290"/>
                    <a:pt x="9068435" y="8797290"/>
                  </a:cubicBezTo>
                  <a:lnTo>
                    <a:pt x="1466215" y="8797290"/>
                  </a:lnTo>
                  <a:cubicBezTo>
                    <a:pt x="656463" y="8797290"/>
                    <a:pt x="0" y="8140827"/>
                    <a:pt x="0" y="7331075"/>
                  </a:cubicBezTo>
                  <a:close/>
                </a:path>
              </a:pathLst>
            </a:custGeom>
            <a:solidFill>
              <a:srgbClr val="F8FAFC"/>
            </a:solidFill>
            <a:ln w="14288" cap="sq">
              <a:solidFill>
                <a:srgbClr val="CBD5E1"/>
              </a:solidFill>
              <a:prstDash val="solid"/>
              <a:miter/>
            </a:ln>
          </p:spPr>
        </p:sp>
        <p:sp>
          <p:nvSpPr>
            <p:cNvPr name="TextBox 11" id="11"/>
            <p:cNvSpPr txBox="true"/>
            <p:nvPr/>
          </p:nvSpPr>
          <p:spPr>
            <a:xfrm>
              <a:off x="0" y="-47625"/>
              <a:ext cx="10534650" cy="8844915"/>
            </a:xfrm>
            <a:prstGeom prst="rect">
              <a:avLst/>
            </a:prstGeom>
          </p:spPr>
          <p:txBody>
            <a:bodyPr anchor="t" rtlCol="false" tIns="50800" lIns="50800" bIns="50800" rIns="50800"/>
            <a:lstStyle/>
            <a:p>
              <a:pPr algn="ctr">
                <a:lnSpc>
                  <a:spcPts val="2610"/>
                </a:lnSpc>
              </a:pPr>
              <a:r>
                <a:rPr lang="en-US" b="true" sz="2175">
                  <a:solidFill>
                    <a:srgbClr val="0284C7"/>
                  </a:solidFill>
                  <a:latin typeface="Calibri (MS) Bold"/>
                  <a:ea typeface="Calibri (MS) Bold"/>
                  <a:cs typeface="Calibri (MS) Bold"/>
                  <a:sym typeface="Calibri (MS) Bold"/>
                </a:rPr>
                <a:t>User OTA Experience</a:t>
              </a:r>
            </a:p>
            <a:p>
              <a:pPr algn="l">
                <a:lnSpc>
                  <a:spcPts val="2340"/>
                </a:lnSpc>
              </a:pPr>
              <a:r>
                <a:rPr lang="en-US" b="true" sz="1950">
                  <a:solidFill>
                    <a:srgbClr val="0F172A"/>
                  </a:solidFill>
                  <a:latin typeface="Calibri (MS) Bold"/>
                  <a:ea typeface="Calibri (MS) Bold"/>
                  <a:cs typeface="Calibri (MS) Bold"/>
                  <a:sym typeface="Calibri (MS) Bold"/>
                </a:rPr>
                <a:t>• 1. Notification UI:</a:t>
              </a:r>
            </a:p>
            <a:p>
              <a:pPr algn="l">
                <a:lnSpc>
                  <a:spcPts val="2340"/>
                </a:lnSpc>
              </a:pPr>
              <a:r>
                <a:rPr lang="en-US" sz="1950">
                  <a:solidFill>
                    <a:srgbClr val="334155"/>
                  </a:solidFill>
                  <a:latin typeface="Calibri (MS)"/>
                  <a:ea typeface="Calibri (MS)"/>
                  <a:cs typeface="Calibri (MS)"/>
                  <a:sym typeface="Calibri (MS)"/>
                </a:rPr>
                <a:t>Dashboard displays 'Software Update v1.2.0 Available' with release notes.</a:t>
              </a:r>
            </a:p>
            <a:p>
              <a:pPr algn="l">
                <a:lnSpc>
                  <a:spcPts val="2340"/>
                </a:lnSpc>
              </a:pPr>
              <a:r>
                <a:rPr lang="en-US" b="true" sz="1950">
                  <a:solidFill>
                    <a:srgbClr val="0F172A"/>
                  </a:solidFill>
                  <a:latin typeface="Calibri (MS) Bold"/>
                  <a:ea typeface="Calibri (MS) Bold"/>
                  <a:cs typeface="Calibri (MS) Bold"/>
                  <a:sym typeface="Calibri (MS) Bold"/>
                </a:rPr>
                <a:t>• 2. User Trigger:</a:t>
              </a:r>
            </a:p>
            <a:p>
              <a:pPr algn="l">
                <a:lnSpc>
                  <a:spcPts val="2340"/>
                </a:lnSpc>
              </a:pPr>
              <a:r>
                <a:rPr lang="en-US" sz="1950">
                  <a:solidFill>
                    <a:srgbClr val="334155"/>
                  </a:solidFill>
                  <a:latin typeface="Calibri (MS)"/>
                  <a:ea typeface="Calibri (MS)"/>
                  <a:cs typeface="Calibri (MS)"/>
                  <a:sym typeface="Calibri (MS)"/>
                </a:rPr>
                <a:t>User selects [Install Now] or schedules update duration.</a:t>
              </a:r>
            </a:p>
            <a:p>
              <a:pPr algn="l">
                <a:lnSpc>
                  <a:spcPts val="2340"/>
                </a:lnSpc>
              </a:pPr>
              <a:r>
                <a:rPr lang="en-US" b="true" sz="1950">
                  <a:solidFill>
                    <a:srgbClr val="0F172A"/>
                  </a:solidFill>
                  <a:latin typeface="Calibri (MS) Bold"/>
                  <a:ea typeface="Calibri (MS) Bold"/>
                  <a:cs typeface="Calibri (MS) Bold"/>
                  <a:sym typeface="Calibri (MS) Bold"/>
                </a:rPr>
                <a:t>• 3. Progress Tracking:</a:t>
              </a:r>
            </a:p>
            <a:p>
              <a:pPr algn="l">
                <a:lnSpc>
                  <a:spcPts val="2340"/>
                </a:lnSpc>
              </a:pPr>
              <a:r>
                <a:rPr lang="en-US" sz="1950">
                  <a:solidFill>
                    <a:srgbClr val="334155"/>
                  </a:solidFill>
                  <a:latin typeface="Calibri (MS)"/>
                  <a:ea typeface="Calibri (MS)"/>
                  <a:cs typeface="Calibri (MS)"/>
                  <a:sym typeface="Calibri (MS)"/>
                </a:rPr>
                <a:t>UI displays clean progress: Downloading ➔ Verifying ➔ Staging ➔ Activating.</a:t>
              </a:r>
            </a:p>
            <a:p>
              <a:pPr algn="l">
                <a:lnSpc>
                  <a:spcPts val="2340"/>
                </a:lnSpc>
              </a:pPr>
              <a:r>
                <a:rPr lang="en-US" b="true" sz="1950">
                  <a:solidFill>
                    <a:srgbClr val="0F172A"/>
                  </a:solidFill>
                  <a:latin typeface="Calibri (MS) Bold"/>
                  <a:ea typeface="Calibri (MS) Bold"/>
                  <a:cs typeface="Calibri (MS) Bold"/>
                  <a:sym typeface="Calibri (MS) Bold"/>
                </a:rPr>
                <a:t>• 4. Automated Rollback:</a:t>
              </a:r>
            </a:p>
            <a:p>
              <a:pPr algn="l">
                <a:lnSpc>
                  <a:spcPts val="2340"/>
                </a:lnSpc>
              </a:pPr>
              <a:r>
                <a:rPr lang="en-US" sz="1950">
                  <a:solidFill>
                    <a:srgbClr val="334155"/>
                  </a:solidFill>
                  <a:latin typeface="Calibri (MS)"/>
                  <a:ea typeface="Calibri (MS)"/>
                  <a:cs typeface="Calibri (MS)"/>
                  <a:sym typeface="Calibri (MS)"/>
                </a:rPr>
                <a:t>If post-install health check fails ➔ System automatically rolls back to stable v1.1.0.</a:t>
              </a:r>
            </a:p>
          </p:txBody>
        </p:sp>
      </p:grpSp>
      <p:grpSp>
        <p:nvGrpSpPr>
          <p:cNvPr name="Group 12" id="12"/>
          <p:cNvGrpSpPr/>
          <p:nvPr/>
        </p:nvGrpSpPr>
        <p:grpSpPr>
          <a:xfrm rot="0">
            <a:off x="9251156" y="1707356"/>
            <a:ext cx="7900988" cy="6597968"/>
            <a:chOff x="0" y="0"/>
            <a:chExt cx="10534650" cy="8797290"/>
          </a:xfrm>
        </p:grpSpPr>
        <p:sp>
          <p:nvSpPr>
            <p:cNvPr name="Freeform 13" id="13"/>
            <p:cNvSpPr/>
            <p:nvPr/>
          </p:nvSpPr>
          <p:spPr>
            <a:xfrm flipH="false" flipV="false" rot="0">
              <a:off x="0" y="0"/>
              <a:ext cx="10534650" cy="8797290"/>
            </a:xfrm>
            <a:custGeom>
              <a:avLst/>
              <a:gdLst/>
              <a:ahLst/>
              <a:cxnLst/>
              <a:rect r="r" b="b" t="t" l="l"/>
              <a:pathLst>
                <a:path h="8797290" w="10534650">
                  <a:moveTo>
                    <a:pt x="0" y="1466215"/>
                  </a:moveTo>
                  <a:cubicBezTo>
                    <a:pt x="0" y="656463"/>
                    <a:pt x="656463" y="0"/>
                    <a:pt x="1466215" y="0"/>
                  </a:cubicBezTo>
                  <a:lnTo>
                    <a:pt x="9068435" y="0"/>
                  </a:lnTo>
                  <a:cubicBezTo>
                    <a:pt x="9878187" y="0"/>
                    <a:pt x="10534650" y="656463"/>
                    <a:pt x="10534650" y="1466215"/>
                  </a:cubicBezTo>
                  <a:lnTo>
                    <a:pt x="10534650" y="7331075"/>
                  </a:lnTo>
                  <a:cubicBezTo>
                    <a:pt x="10534650" y="8140827"/>
                    <a:pt x="9878187" y="8797290"/>
                    <a:pt x="9068435" y="8797290"/>
                  </a:cubicBezTo>
                  <a:lnTo>
                    <a:pt x="1466215" y="8797290"/>
                  </a:lnTo>
                  <a:cubicBezTo>
                    <a:pt x="656463" y="8797290"/>
                    <a:pt x="0" y="8140827"/>
                    <a:pt x="0" y="7331075"/>
                  </a:cubicBezTo>
                  <a:close/>
                </a:path>
              </a:pathLst>
            </a:custGeom>
            <a:solidFill>
              <a:srgbClr val="F8FAFC"/>
            </a:solidFill>
            <a:ln w="14288" cap="sq">
              <a:solidFill>
                <a:srgbClr val="CBD5E1"/>
              </a:solidFill>
              <a:prstDash val="solid"/>
              <a:miter/>
            </a:ln>
          </p:spPr>
        </p:sp>
        <p:sp>
          <p:nvSpPr>
            <p:cNvPr name="TextBox 14" id="14"/>
            <p:cNvSpPr txBox="true"/>
            <p:nvPr/>
          </p:nvSpPr>
          <p:spPr>
            <a:xfrm>
              <a:off x="0" y="-47625"/>
              <a:ext cx="10534650" cy="8844915"/>
            </a:xfrm>
            <a:prstGeom prst="rect">
              <a:avLst/>
            </a:prstGeom>
          </p:spPr>
          <p:txBody>
            <a:bodyPr anchor="t" rtlCol="false" tIns="50800" lIns="50800" bIns="50800" rIns="50800"/>
            <a:lstStyle/>
            <a:p>
              <a:pPr algn="ctr">
                <a:lnSpc>
                  <a:spcPts val="2610"/>
                </a:lnSpc>
              </a:pPr>
              <a:r>
                <a:rPr lang="en-US" b="true" sz="2175">
                  <a:solidFill>
                    <a:srgbClr val="17365D"/>
                  </a:solidFill>
                  <a:latin typeface="Calibri (MS) Bold"/>
                  <a:ea typeface="Calibri (MS) Bold"/>
                  <a:cs typeface="Calibri (MS) Bold"/>
                  <a:sym typeface="Calibri (MS) Bold"/>
                </a:rPr>
                <a:t>Technical OTA Pipeline</a:t>
              </a:r>
            </a:p>
            <a:p>
              <a:pPr algn="l">
                <a:lnSpc>
                  <a:spcPts val="2340"/>
                </a:lnSpc>
              </a:pPr>
              <a:r>
                <a:rPr lang="en-US" b="true" sz="1950">
                  <a:solidFill>
                    <a:srgbClr val="0F172A"/>
                  </a:solidFill>
                  <a:latin typeface="Calibri (MS) Bold"/>
                  <a:ea typeface="Calibri (MS) Bold"/>
                  <a:cs typeface="Calibri (MS) Bold"/>
                  <a:sym typeface="Calibri (MS) Bold"/>
                </a:rPr>
                <a:t>• 1. CI / Build:</a:t>
              </a:r>
            </a:p>
            <a:p>
              <a:pPr algn="l">
                <a:lnSpc>
                  <a:spcPts val="2340"/>
                </a:lnSpc>
              </a:pPr>
              <a:r>
                <a:rPr lang="en-US" sz="1950">
                  <a:solidFill>
                    <a:srgbClr val="334155"/>
                  </a:solidFill>
                  <a:latin typeface="Calibri (MS)"/>
                  <a:ea typeface="Calibri (MS)"/>
                  <a:cs typeface="Calibri (MS)"/>
                  <a:sym typeface="Calibri (MS)"/>
                </a:rPr>
                <a:t>Developer pushes code ➔ CI builds multi-arch container images (ARM64 &amp; AMD64).</a:t>
              </a:r>
            </a:p>
            <a:p>
              <a:pPr algn="l">
                <a:lnSpc>
                  <a:spcPts val="2340"/>
                </a:lnSpc>
              </a:pPr>
              <a:r>
                <a:rPr lang="en-US" b="true" sz="1950">
                  <a:solidFill>
                    <a:srgbClr val="0F172A"/>
                  </a:solidFill>
                  <a:latin typeface="Calibri (MS) Bold"/>
                  <a:ea typeface="Calibri (MS) Bold"/>
                  <a:cs typeface="Calibri (MS) Bold"/>
                  <a:sym typeface="Calibri (MS) Bold"/>
                </a:rPr>
                <a:t>• 2. Registry &amp; Control:</a:t>
              </a:r>
            </a:p>
            <a:p>
              <a:pPr algn="l">
                <a:lnSpc>
                  <a:spcPts val="2340"/>
                </a:lnSpc>
              </a:pPr>
              <a:r>
                <a:rPr lang="en-US" sz="1950">
                  <a:solidFill>
                    <a:srgbClr val="334155"/>
                  </a:solidFill>
                  <a:latin typeface="Calibri (MS)"/>
                  <a:ea typeface="Calibri (MS)"/>
                  <a:cs typeface="Calibri (MS)"/>
                  <a:sym typeface="Calibri (MS)"/>
                </a:rPr>
                <a:t>Pushes signed artifacts to Container Registry; OTA Control Plane stages release.</a:t>
              </a:r>
            </a:p>
            <a:p>
              <a:pPr algn="l">
                <a:lnSpc>
                  <a:spcPts val="2340"/>
                </a:lnSpc>
              </a:pPr>
              <a:r>
                <a:rPr lang="en-US" b="true" sz="1950">
                  <a:solidFill>
                    <a:srgbClr val="0F172A"/>
                  </a:solidFill>
                  <a:latin typeface="Calibri (MS) Bold"/>
                  <a:ea typeface="Calibri (MS) Bold"/>
                  <a:cs typeface="Calibri (MS) Bold"/>
                  <a:sym typeface="Calibri (MS) Bold"/>
                </a:rPr>
                <a:t>• 3. Target Selection:</a:t>
              </a:r>
            </a:p>
            <a:p>
              <a:pPr algn="l">
                <a:lnSpc>
                  <a:spcPts val="2340"/>
                </a:lnSpc>
              </a:pPr>
              <a:r>
                <a:rPr lang="en-US" sz="1950">
                  <a:solidFill>
                    <a:srgbClr val="334155"/>
                  </a:solidFill>
                  <a:latin typeface="Calibri (MS)"/>
                  <a:ea typeface="Calibri (MS)"/>
                  <a:cs typeface="Calibri (MS)"/>
                  <a:sym typeface="Calibri (MS)"/>
                </a:rPr>
                <a:t>OTA Agent checks vehicle compatibility, CPU arch &amp; Profile before download.</a:t>
              </a:r>
            </a:p>
            <a:p>
              <a:pPr algn="l">
                <a:lnSpc>
                  <a:spcPts val="2340"/>
                </a:lnSpc>
              </a:pPr>
              <a:r>
                <a:rPr lang="en-US" b="true" sz="1950">
                  <a:solidFill>
                    <a:srgbClr val="0F172A"/>
                  </a:solidFill>
                  <a:latin typeface="Calibri (MS) Bold"/>
                  <a:ea typeface="Calibri (MS) Bold"/>
                  <a:cs typeface="Calibri (MS) Bold"/>
                  <a:sym typeface="Calibri (MS) Bold"/>
                </a:rPr>
                <a:t>• 4. Deployment &amp; Health:</a:t>
              </a:r>
            </a:p>
            <a:p>
              <a:pPr algn="l">
                <a:lnSpc>
                  <a:spcPts val="2340"/>
                </a:lnSpc>
              </a:pPr>
              <a:r>
                <a:rPr lang="en-US" sz="1950">
                  <a:solidFill>
                    <a:srgbClr val="334155"/>
                  </a:solidFill>
                  <a:latin typeface="Calibri (MS)"/>
                  <a:ea typeface="Calibri (MS)"/>
                  <a:cs typeface="Calibri (MS)"/>
                  <a:sym typeface="Calibri (MS)"/>
                </a:rPr>
                <a:t>Kanto updates container ➔ Health check validates VSS signals &amp; DBW watchdog.</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grpSp>
        <p:nvGrpSpPr>
          <p:cNvPr name="Group 4" id="4"/>
          <p:cNvGrpSpPr/>
          <p:nvPr/>
        </p:nvGrpSpPr>
        <p:grpSpPr>
          <a:xfrm rot="0">
            <a:off x="754380" y="9669780"/>
            <a:ext cx="16733520" cy="13716"/>
            <a:chOff x="0" y="0"/>
            <a:chExt cx="22311360" cy="18288"/>
          </a:xfrm>
        </p:grpSpPr>
        <p:sp>
          <p:nvSpPr>
            <p:cNvPr name="Freeform 5" id="5"/>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Freeform 6" id="6"/>
          <p:cNvSpPr/>
          <p:nvPr/>
        </p:nvSpPr>
        <p:spPr>
          <a:xfrm flipH="false" flipV="false" rot="0">
            <a:off x="1219200" y="1028700"/>
            <a:ext cx="15429806" cy="8542036"/>
          </a:xfrm>
          <a:custGeom>
            <a:avLst/>
            <a:gdLst/>
            <a:ahLst/>
            <a:cxnLst/>
            <a:rect r="r" b="b" t="t" l="l"/>
            <a:pathLst>
              <a:path h="8542036" w="15429806">
                <a:moveTo>
                  <a:pt x="0" y="0"/>
                </a:moveTo>
                <a:lnTo>
                  <a:pt x="15429806" y="0"/>
                </a:lnTo>
                <a:lnTo>
                  <a:pt x="15429806" y="8542036"/>
                </a:lnTo>
                <a:lnTo>
                  <a:pt x="0" y="8542036"/>
                </a:lnTo>
                <a:lnTo>
                  <a:pt x="0" y="0"/>
                </a:lnTo>
                <a:close/>
              </a:path>
            </a:pathLst>
          </a:custGeom>
          <a:blipFill>
            <a:blip r:embed="rId3"/>
            <a:stretch>
              <a:fillRect l="-396" t="-2546" r="0" b="-18353"/>
            </a:stretch>
          </a:blipFill>
        </p:spPr>
      </p:sp>
      <p:sp>
        <p:nvSpPr>
          <p:cNvPr name="TextBox 7" id="7"/>
          <p:cNvSpPr txBox="true"/>
          <p:nvPr/>
        </p:nvSpPr>
        <p:spPr>
          <a:xfrm rot="0">
            <a:off x="754380" y="115824"/>
            <a:ext cx="13990320" cy="597408"/>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Final Integrated System Architecture</a:t>
            </a:r>
          </a:p>
        </p:txBody>
      </p:sp>
      <p:sp>
        <p:nvSpPr>
          <p:cNvPr name="TextBox 8" id="8"/>
          <p:cNvSpPr txBox="true"/>
          <p:nvPr/>
        </p:nvSpPr>
        <p:spPr>
          <a:xfrm rot="0">
            <a:off x="14813280" y="199263"/>
            <a:ext cx="2715768" cy="459105"/>
          </a:xfrm>
          <a:prstGeom prst="rect">
            <a:avLst/>
          </a:prstGeom>
        </p:spPr>
        <p:txBody>
          <a:bodyPr anchor="t" rtlCol="false" tIns="0" lIns="0" bIns="0" rIns="0">
            <a:spAutoFit/>
          </a:bodyPr>
          <a:lstStyle/>
          <a:p>
            <a:pPr algn="r">
              <a:lnSpc>
                <a:spcPts val="2610"/>
              </a:lnSpc>
            </a:pPr>
            <a:r>
              <a:rPr lang="en-US" b="true" sz="2175">
                <a:solidFill>
                  <a:srgbClr val="FFFFFF"/>
                </a:solidFill>
                <a:latin typeface="Calibri (MS) Bold"/>
                <a:ea typeface="Calibri (MS) Bold"/>
                <a:cs typeface="Calibri (MS) Bold"/>
                <a:sym typeface="Calibri (MS) Bold"/>
              </a:rPr>
              <a:t>MASTER ARCH</a:t>
            </a:r>
          </a:p>
        </p:txBody>
      </p:sp>
      <p:sp>
        <p:nvSpPr>
          <p:cNvPr name="TextBox 9" id="9"/>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31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grpSp>
        <p:nvGrpSpPr>
          <p:cNvPr name="Group 4" id="4"/>
          <p:cNvGrpSpPr/>
          <p:nvPr/>
        </p:nvGrpSpPr>
        <p:grpSpPr>
          <a:xfrm rot="0">
            <a:off x="754380" y="9669780"/>
            <a:ext cx="16733520" cy="13716"/>
            <a:chOff x="0" y="0"/>
            <a:chExt cx="22311360" cy="18288"/>
          </a:xfrm>
        </p:grpSpPr>
        <p:sp>
          <p:nvSpPr>
            <p:cNvPr name="Freeform 5" id="5"/>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graphicFrame>
        <p:nvGraphicFramePr>
          <p:cNvPr name="Object 6" id="6"/>
          <p:cNvGraphicFramePr/>
          <p:nvPr/>
        </p:nvGraphicFramePr>
        <p:xfrm>
          <a:off x="909272" y="1395937"/>
          <a:ext cx="11315700" cy="5657850"/>
        </p:xfrm>
        <a:graphic>
          <a:graphicData uri="http://schemas.openxmlformats.org/presentationml/2006/ole">
            <p:oleObj imgW="13576300" imgH="7924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754380" y="115824"/>
            <a:ext cx="8152581" cy="647700"/>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Project Compatibility &amp; Platform Support</a:t>
            </a:r>
          </a:p>
        </p:txBody>
      </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32</a:t>
            </a:r>
          </a:p>
        </p:txBody>
      </p:sp>
      <p:sp>
        <p:nvSpPr>
          <p:cNvPr name="TextBox 9" id="9"/>
          <p:cNvSpPr txBox="true"/>
          <p:nvPr/>
        </p:nvSpPr>
        <p:spPr>
          <a:xfrm rot="0">
            <a:off x="909272" y="9041779"/>
            <a:ext cx="15704820" cy="685800"/>
          </a:xfrm>
          <a:prstGeom prst="rect">
            <a:avLst/>
          </a:prstGeom>
        </p:spPr>
        <p:txBody>
          <a:bodyPr anchor="t" rtlCol="false" tIns="0" lIns="0" bIns="0" rIns="0">
            <a:spAutoFit/>
          </a:bodyPr>
          <a:lstStyle/>
          <a:p>
            <a:pPr algn="just">
              <a:lnSpc>
                <a:spcPts val="2580"/>
              </a:lnSpc>
              <a:spcBef>
                <a:spcPct val="0"/>
              </a:spcBef>
            </a:pPr>
            <a:r>
              <a:rPr lang="en-US" sz="2150">
                <a:solidFill>
                  <a:srgbClr val="000000"/>
                </a:solidFill>
                <a:latin typeface="Calibri (MS)"/>
                <a:ea typeface="Calibri (MS)"/>
                <a:cs typeface="Calibri (MS)"/>
                <a:sym typeface="Calibri (MS)"/>
              </a:rPr>
              <a:t>Legend: ✅ Verified at software/platform level · 🟡 Demonstrated/strong evidence · ⚠️ Requires target-specific validation</a:t>
            </a:r>
          </a:p>
          <a:p>
            <a:pPr algn="just">
              <a:lnSpc>
                <a:spcPts val="2580"/>
              </a:lnSpc>
              <a:spcBef>
                <a:spcPct val="0"/>
              </a:spcBef>
            </a:pPr>
            <a:r>
              <a:rPr lang="en-US" b="true" sz="2150">
                <a:solidFill>
                  <a:srgbClr val="000000"/>
                </a:solidFill>
                <a:latin typeface="Calibri (MS) Bold"/>
                <a:ea typeface="Calibri (MS) Bold"/>
                <a:cs typeface="Calibri (MS) Bold"/>
                <a:sym typeface="Calibri (MS) Bold"/>
              </a:rPr>
              <a:t> * Individual project compatibility does not imply complete end-to-end stack validation.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grpSp>
        <p:nvGrpSpPr>
          <p:cNvPr name="Group 4" id="4"/>
          <p:cNvGrpSpPr/>
          <p:nvPr/>
        </p:nvGrpSpPr>
        <p:grpSpPr>
          <a:xfrm rot="0">
            <a:off x="754380" y="9669780"/>
            <a:ext cx="16733520" cy="13716"/>
            <a:chOff x="0" y="0"/>
            <a:chExt cx="22311360" cy="18288"/>
          </a:xfrm>
        </p:grpSpPr>
        <p:sp>
          <p:nvSpPr>
            <p:cNvPr name="Freeform 5" id="5"/>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graphicFrame>
        <p:nvGraphicFramePr>
          <p:cNvPr name="Object 6" id="6"/>
          <p:cNvGraphicFramePr/>
          <p:nvPr/>
        </p:nvGraphicFramePr>
        <p:xfrm>
          <a:off x="1976341" y="5886083"/>
          <a:ext cx="5657850" cy="3143250"/>
        </p:xfrm>
        <a:graphic>
          <a:graphicData uri="http://schemas.openxmlformats.org/presentationml/2006/ole">
            <p:oleObj imgW="6781800" imgH="4267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Freeform 7" id="7"/>
          <p:cNvSpPr/>
          <p:nvPr/>
        </p:nvSpPr>
        <p:spPr>
          <a:xfrm flipH="false" flipV="false" rot="0">
            <a:off x="4961592" y="1132352"/>
            <a:ext cx="6971279" cy="4526635"/>
          </a:xfrm>
          <a:custGeom>
            <a:avLst/>
            <a:gdLst/>
            <a:ahLst/>
            <a:cxnLst/>
            <a:rect r="r" b="b" t="t" l="l"/>
            <a:pathLst>
              <a:path h="4526635" w="6971279">
                <a:moveTo>
                  <a:pt x="0" y="0"/>
                </a:moveTo>
                <a:lnTo>
                  <a:pt x="6971280" y="0"/>
                </a:lnTo>
                <a:lnTo>
                  <a:pt x="6971280" y="4526635"/>
                </a:lnTo>
                <a:lnTo>
                  <a:pt x="0" y="4526635"/>
                </a:lnTo>
                <a:lnTo>
                  <a:pt x="0" y="0"/>
                </a:lnTo>
                <a:close/>
              </a:path>
            </a:pathLst>
          </a:custGeom>
          <a:blipFill>
            <a:blip r:embed="rId5"/>
            <a:stretch>
              <a:fillRect l="0" t="-1335" r="0" b="-1335"/>
            </a:stretch>
          </a:blipFill>
        </p:spPr>
      </p:sp>
      <p:sp>
        <p:nvSpPr>
          <p:cNvPr name="TextBox 8" id="8"/>
          <p:cNvSpPr txBox="true"/>
          <p:nvPr/>
        </p:nvSpPr>
        <p:spPr>
          <a:xfrm rot="0">
            <a:off x="754380" y="115824"/>
            <a:ext cx="11666786" cy="647700"/>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Platform Portability — Recommended Deployment Targets</a:t>
            </a:r>
          </a:p>
        </p:txBody>
      </p:sp>
      <p:sp>
        <p:nvSpPr>
          <p:cNvPr name="TextBox 9" id="9"/>
          <p:cNvSpPr txBox="true"/>
          <p:nvPr/>
        </p:nvSpPr>
        <p:spPr>
          <a:xfrm rot="0">
            <a:off x="16733520" y="9728835"/>
            <a:ext cx="754380" cy="352425"/>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33</a:t>
            </a:r>
          </a:p>
        </p:txBody>
      </p:sp>
      <p:sp>
        <p:nvSpPr>
          <p:cNvPr name="TextBox 10" id="10"/>
          <p:cNvSpPr txBox="true"/>
          <p:nvPr/>
        </p:nvSpPr>
        <p:spPr>
          <a:xfrm rot="0">
            <a:off x="1976341" y="9010650"/>
            <a:ext cx="10890498" cy="247650"/>
          </a:xfrm>
          <a:prstGeom prst="rect">
            <a:avLst/>
          </a:prstGeom>
        </p:spPr>
        <p:txBody>
          <a:bodyPr anchor="t" rtlCol="false" tIns="0" lIns="0" bIns="0" rIns="0">
            <a:spAutoFit/>
          </a:bodyPr>
          <a:lstStyle/>
          <a:p>
            <a:pPr algn="ctr">
              <a:lnSpc>
                <a:spcPts val="1740"/>
              </a:lnSpc>
              <a:spcBef>
                <a:spcPct val="0"/>
              </a:spcBef>
            </a:pPr>
            <a:r>
              <a:rPr lang="en-US" b="true" sz="1450">
                <a:solidFill>
                  <a:srgbClr val="000000"/>
                </a:solidFill>
                <a:latin typeface="Calibri (MS) Bold"/>
                <a:ea typeface="Calibri (MS) Bold"/>
                <a:cs typeface="Calibri (MS) Bold"/>
                <a:sym typeface="Calibri (MS) Bold"/>
              </a:rPr>
              <a:t>Software portability is established at the architecture level; vehicle-interface portability requires re-validation for each target vehicle/platform.</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Freeform 4" id="4"/>
          <p:cNvSpPr/>
          <p:nvPr/>
        </p:nvSpPr>
        <p:spPr>
          <a:xfrm flipH="false" flipV="false" rot="0">
            <a:off x="13636144" y="2226044"/>
            <a:ext cx="533718" cy="726147"/>
          </a:xfrm>
          <a:custGeom>
            <a:avLst/>
            <a:gdLst/>
            <a:ahLst/>
            <a:cxnLst/>
            <a:rect r="r" b="b" t="t" l="l"/>
            <a:pathLst>
              <a:path h="726147" w="533718">
                <a:moveTo>
                  <a:pt x="0" y="0"/>
                </a:moveTo>
                <a:lnTo>
                  <a:pt x="533717" y="0"/>
                </a:lnTo>
                <a:lnTo>
                  <a:pt x="533717" y="726146"/>
                </a:lnTo>
                <a:lnTo>
                  <a:pt x="0" y="7261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118055" y="1028700"/>
            <a:ext cx="14615465" cy="9258300"/>
          </a:xfrm>
          <a:custGeom>
            <a:avLst/>
            <a:gdLst/>
            <a:ahLst/>
            <a:cxnLst/>
            <a:rect r="r" b="b" t="t" l="l"/>
            <a:pathLst>
              <a:path h="9258300" w="14615465">
                <a:moveTo>
                  <a:pt x="0" y="0"/>
                </a:moveTo>
                <a:lnTo>
                  <a:pt x="14615465" y="0"/>
                </a:lnTo>
                <a:lnTo>
                  <a:pt x="14615465" y="9258300"/>
                </a:lnTo>
                <a:lnTo>
                  <a:pt x="0" y="9258300"/>
                </a:lnTo>
                <a:lnTo>
                  <a:pt x="0" y="0"/>
                </a:lnTo>
                <a:close/>
              </a:path>
            </a:pathLst>
          </a:custGeom>
          <a:blipFill>
            <a:blip r:embed="rId5"/>
            <a:stretch>
              <a:fillRect l="0" t="-1500" r="-5650" b="-10292"/>
            </a:stretch>
          </a:blipFill>
        </p:spPr>
      </p:sp>
      <p:sp>
        <p:nvSpPr>
          <p:cNvPr name="TextBox 6" id="6"/>
          <p:cNvSpPr txBox="true"/>
          <p:nvPr/>
        </p:nvSpPr>
        <p:spPr>
          <a:xfrm rot="0">
            <a:off x="754380" y="115824"/>
            <a:ext cx="5909221" cy="647700"/>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 Architecture with skateboard</a:t>
            </a:r>
          </a:p>
        </p:txBody>
      </p:sp>
      <p:sp>
        <p:nvSpPr>
          <p:cNvPr name="TextBox 7" id="7"/>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34</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sp>
        <p:nvSpPr>
          <p:cNvPr name="Freeform 4" id="4"/>
          <p:cNvSpPr/>
          <p:nvPr/>
        </p:nvSpPr>
        <p:spPr>
          <a:xfrm flipH="false" flipV="false" rot="0">
            <a:off x="13636144" y="2226044"/>
            <a:ext cx="533718" cy="726147"/>
          </a:xfrm>
          <a:custGeom>
            <a:avLst/>
            <a:gdLst/>
            <a:ahLst/>
            <a:cxnLst/>
            <a:rect r="r" b="b" t="t" l="l"/>
            <a:pathLst>
              <a:path h="726147" w="533718">
                <a:moveTo>
                  <a:pt x="0" y="0"/>
                </a:moveTo>
                <a:lnTo>
                  <a:pt x="533717" y="0"/>
                </a:lnTo>
                <a:lnTo>
                  <a:pt x="533717" y="726146"/>
                </a:lnTo>
                <a:lnTo>
                  <a:pt x="0" y="7261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80951" y="895731"/>
            <a:ext cx="16542449" cy="9391269"/>
          </a:xfrm>
          <a:custGeom>
            <a:avLst/>
            <a:gdLst/>
            <a:ahLst/>
            <a:cxnLst/>
            <a:rect r="r" b="b" t="t" l="l"/>
            <a:pathLst>
              <a:path h="9391269" w="16542449">
                <a:moveTo>
                  <a:pt x="0" y="0"/>
                </a:moveTo>
                <a:lnTo>
                  <a:pt x="16542449" y="0"/>
                </a:lnTo>
                <a:lnTo>
                  <a:pt x="16542449" y="9391269"/>
                </a:lnTo>
                <a:lnTo>
                  <a:pt x="0" y="9391269"/>
                </a:lnTo>
                <a:lnTo>
                  <a:pt x="0" y="0"/>
                </a:lnTo>
                <a:close/>
              </a:path>
            </a:pathLst>
          </a:custGeom>
          <a:blipFill>
            <a:blip r:embed="rId5"/>
            <a:stretch>
              <a:fillRect l="0" t="-357" r="0" b="-14876"/>
            </a:stretch>
          </a:blipFill>
        </p:spPr>
      </p:sp>
      <p:sp>
        <p:nvSpPr>
          <p:cNvPr name="TextBox 6" id="6"/>
          <p:cNvSpPr txBox="true"/>
          <p:nvPr/>
        </p:nvSpPr>
        <p:spPr>
          <a:xfrm rot="0">
            <a:off x="754380" y="115824"/>
            <a:ext cx="5909221" cy="647700"/>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 Architecture with skateboard</a:t>
            </a:r>
          </a:p>
        </p:txBody>
      </p:sp>
      <p:sp>
        <p:nvSpPr>
          <p:cNvPr name="TextBox 7" id="7"/>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35</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grpSp>
        <p:nvGrpSpPr>
          <p:cNvPr name="Group 4" id="4"/>
          <p:cNvGrpSpPr/>
          <p:nvPr/>
        </p:nvGrpSpPr>
        <p:grpSpPr>
          <a:xfrm rot="0">
            <a:off x="754380" y="9669780"/>
            <a:ext cx="16733520" cy="13716"/>
            <a:chOff x="0" y="0"/>
            <a:chExt cx="22311360" cy="18288"/>
          </a:xfrm>
        </p:grpSpPr>
        <p:sp>
          <p:nvSpPr>
            <p:cNvPr name="Freeform 5" id="5"/>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graphicFrame>
        <p:nvGraphicFramePr>
          <p:cNvPr name="Object 6" id="6"/>
          <p:cNvGraphicFramePr/>
          <p:nvPr/>
        </p:nvGraphicFramePr>
        <p:xfrm>
          <a:off x="889523" y="1302072"/>
          <a:ext cx="7543800" cy="5657850"/>
        </p:xfrm>
        <a:graphic>
          <a:graphicData uri="http://schemas.openxmlformats.org/presentationml/2006/ole">
            <p:oleObj imgW="9042400" imgH="7162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754380" y="115824"/>
            <a:ext cx="12694816" cy="647700"/>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Milestone Schedule — Infosys Eclipse SDV RC/Skateboard Demo</a:t>
            </a:r>
          </a:p>
        </p:txBody>
      </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36</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grpSp>
        <p:nvGrpSpPr>
          <p:cNvPr name="Group 4" id="4"/>
          <p:cNvGrpSpPr/>
          <p:nvPr/>
        </p:nvGrpSpPr>
        <p:grpSpPr>
          <a:xfrm rot="0">
            <a:off x="754380" y="9669780"/>
            <a:ext cx="16733520" cy="13716"/>
            <a:chOff x="0" y="0"/>
            <a:chExt cx="22311360" cy="18288"/>
          </a:xfrm>
        </p:grpSpPr>
        <p:sp>
          <p:nvSpPr>
            <p:cNvPr name="Freeform 5" id="5"/>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graphicFrame>
        <p:nvGraphicFramePr>
          <p:cNvPr name="Object 6" id="6"/>
          <p:cNvGraphicFramePr/>
          <p:nvPr/>
        </p:nvGraphicFramePr>
        <p:xfrm>
          <a:off x="3244958" y="1851433"/>
          <a:ext cx="4937760" cy="8229600"/>
        </p:xfrm>
        <a:graphic>
          <a:graphicData uri="http://schemas.openxmlformats.org/presentationml/2006/ole">
            <p:oleObj imgW="6578600" imgH="9867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754380" y="115824"/>
            <a:ext cx="2368004" cy="647700"/>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Github links</a:t>
            </a:r>
          </a:p>
        </p:txBody>
      </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37</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grpSp>
        <p:nvGrpSpPr>
          <p:cNvPr name="Group 4" id="4"/>
          <p:cNvGrpSpPr/>
          <p:nvPr/>
        </p:nvGrpSpPr>
        <p:grpSpPr>
          <a:xfrm rot="0">
            <a:off x="754380" y="9669780"/>
            <a:ext cx="16733520" cy="13716"/>
            <a:chOff x="0" y="0"/>
            <a:chExt cx="22311360" cy="18288"/>
          </a:xfrm>
        </p:grpSpPr>
        <p:sp>
          <p:nvSpPr>
            <p:cNvPr name="Freeform 5" id="5"/>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graphicFrame>
        <p:nvGraphicFramePr>
          <p:cNvPr name="Object 6" id="6"/>
          <p:cNvGraphicFramePr/>
          <p:nvPr/>
        </p:nvGraphicFramePr>
        <p:xfrm>
          <a:off x="1442564" y="1891044"/>
          <a:ext cx="9429750" cy="3771900"/>
        </p:xfrm>
        <a:graphic>
          <a:graphicData uri="http://schemas.openxmlformats.org/presentationml/2006/ole">
            <p:oleObj imgW="11315700" imgH="5651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754380" y="115824"/>
            <a:ext cx="3937695" cy="647700"/>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USE CASE MAPPING</a:t>
            </a:r>
          </a:p>
        </p:txBody>
      </p:sp>
      <p:sp>
        <p:nvSpPr>
          <p:cNvPr name="TextBox 8" id="8"/>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38</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905256"/>
            <a:chOff x="0" y="0"/>
            <a:chExt cx="24383390" cy="1207008"/>
          </a:xfrm>
        </p:grpSpPr>
        <p:sp>
          <p:nvSpPr>
            <p:cNvPr name="Freeform 3" id="3"/>
            <p:cNvSpPr/>
            <p:nvPr/>
          </p:nvSpPr>
          <p:spPr>
            <a:xfrm flipH="false" flipV="false" rot="0">
              <a:off x="0" y="0"/>
              <a:ext cx="24383364" cy="1207008"/>
            </a:xfrm>
            <a:custGeom>
              <a:avLst/>
              <a:gdLst/>
              <a:ahLst/>
              <a:cxnLst/>
              <a:rect r="r" b="b" t="t" l="l"/>
              <a:pathLst>
                <a:path h="1207008" w="24383364">
                  <a:moveTo>
                    <a:pt x="0" y="0"/>
                  </a:moveTo>
                  <a:lnTo>
                    <a:pt x="24383364" y="0"/>
                  </a:lnTo>
                  <a:lnTo>
                    <a:pt x="24383364" y="1207008"/>
                  </a:lnTo>
                  <a:lnTo>
                    <a:pt x="0" y="1207008"/>
                  </a:lnTo>
                  <a:close/>
                </a:path>
              </a:pathLst>
            </a:custGeom>
            <a:solidFill>
              <a:srgbClr val="17365D"/>
            </a:solidFill>
          </p:spPr>
        </p:sp>
      </p:grpSp>
      <p:grpSp>
        <p:nvGrpSpPr>
          <p:cNvPr name="Group 4" id="4"/>
          <p:cNvGrpSpPr/>
          <p:nvPr/>
        </p:nvGrpSpPr>
        <p:grpSpPr>
          <a:xfrm rot="0">
            <a:off x="754380" y="9669780"/>
            <a:ext cx="16733520" cy="13716"/>
            <a:chOff x="0" y="0"/>
            <a:chExt cx="22311360" cy="18288"/>
          </a:xfrm>
        </p:grpSpPr>
        <p:sp>
          <p:nvSpPr>
            <p:cNvPr name="Freeform 5" id="5"/>
            <p:cNvSpPr/>
            <p:nvPr/>
          </p:nvSpPr>
          <p:spPr>
            <a:xfrm flipH="false" flipV="false" rot="0">
              <a:off x="0" y="0"/>
              <a:ext cx="22311361" cy="18288"/>
            </a:xfrm>
            <a:custGeom>
              <a:avLst/>
              <a:gdLst/>
              <a:ahLst/>
              <a:cxnLst/>
              <a:rect r="r" b="b" t="t" l="l"/>
              <a:pathLst>
                <a:path h="18288" w="22311361">
                  <a:moveTo>
                    <a:pt x="0" y="0"/>
                  </a:moveTo>
                  <a:lnTo>
                    <a:pt x="22311361" y="0"/>
                  </a:lnTo>
                  <a:lnTo>
                    <a:pt x="22311361" y="18288"/>
                  </a:lnTo>
                  <a:lnTo>
                    <a:pt x="0" y="18288"/>
                  </a:lnTo>
                  <a:close/>
                </a:path>
              </a:pathLst>
            </a:custGeom>
            <a:solidFill>
              <a:srgbClr val="BFBFBF"/>
            </a:solidFill>
          </p:spPr>
        </p:sp>
      </p:grpSp>
      <p:sp>
        <p:nvSpPr>
          <p:cNvPr name="Freeform 6" id="6"/>
          <p:cNvSpPr/>
          <p:nvPr/>
        </p:nvSpPr>
        <p:spPr>
          <a:xfrm flipH="false" flipV="false" rot="0">
            <a:off x="1302030" y="1490460"/>
            <a:ext cx="5178560" cy="7767840"/>
          </a:xfrm>
          <a:custGeom>
            <a:avLst/>
            <a:gdLst/>
            <a:ahLst/>
            <a:cxnLst/>
            <a:rect r="r" b="b" t="t" l="l"/>
            <a:pathLst>
              <a:path h="7767840" w="5178560">
                <a:moveTo>
                  <a:pt x="0" y="0"/>
                </a:moveTo>
                <a:lnTo>
                  <a:pt x="5178560" y="0"/>
                </a:lnTo>
                <a:lnTo>
                  <a:pt x="5178560" y="7767840"/>
                </a:lnTo>
                <a:lnTo>
                  <a:pt x="0" y="7767840"/>
                </a:lnTo>
                <a:lnTo>
                  <a:pt x="0" y="0"/>
                </a:lnTo>
                <a:close/>
              </a:path>
            </a:pathLst>
          </a:custGeom>
          <a:blipFill>
            <a:blip r:embed="rId3"/>
            <a:stretch>
              <a:fillRect l="0" t="0" r="0" b="0"/>
            </a:stretch>
          </a:blipFill>
        </p:spPr>
      </p:sp>
      <p:graphicFrame>
        <p:nvGraphicFramePr>
          <p:cNvPr name="Object 7" id="7"/>
          <p:cNvGraphicFramePr/>
          <p:nvPr/>
        </p:nvGraphicFramePr>
        <p:xfrm>
          <a:off x="7859821" y="2153594"/>
          <a:ext cx="5657850" cy="5029200"/>
        </p:xfrm>
        <a:graphic>
          <a:graphicData uri="http://schemas.openxmlformats.org/presentationml/2006/ole">
            <p:oleObj imgW="6781800" imgH="6159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8" id="8"/>
          <p:cNvSpPr txBox="true"/>
          <p:nvPr/>
        </p:nvSpPr>
        <p:spPr>
          <a:xfrm rot="0">
            <a:off x="754380" y="115824"/>
            <a:ext cx="2338462" cy="647700"/>
          </a:xfrm>
          <a:prstGeom prst="rect">
            <a:avLst/>
          </a:prstGeom>
        </p:spPr>
        <p:txBody>
          <a:bodyPr anchor="t" rtlCol="false" tIns="0" lIns="0" bIns="0" rIns="0">
            <a:spAutoFit/>
          </a:bodyPr>
          <a:lstStyle/>
          <a:p>
            <a:pPr algn="l">
              <a:lnSpc>
                <a:spcPts val="4500"/>
              </a:lnSpc>
            </a:pPr>
            <a:r>
              <a:rPr lang="en-US" b="true" sz="3750">
                <a:solidFill>
                  <a:srgbClr val="FFFFFF"/>
                </a:solidFill>
                <a:latin typeface="Calibri (MS) Bold"/>
                <a:ea typeface="Calibri (MS) Bold"/>
                <a:cs typeface="Calibri (MS) Bold"/>
                <a:sym typeface="Calibri (MS) Bold"/>
              </a:rPr>
              <a:t>OTA PROOF</a:t>
            </a:r>
          </a:p>
        </p:txBody>
      </p:sp>
      <p:sp>
        <p:nvSpPr>
          <p:cNvPr name="TextBox 9" id="9"/>
          <p:cNvSpPr txBox="true"/>
          <p:nvPr/>
        </p:nvSpPr>
        <p:spPr>
          <a:xfrm rot="0">
            <a:off x="17191137" y="9728835"/>
            <a:ext cx="296763" cy="323850"/>
          </a:xfrm>
          <a:prstGeom prst="rect">
            <a:avLst/>
          </a:prstGeom>
        </p:spPr>
        <p:txBody>
          <a:bodyPr anchor="t" rtlCol="false" tIns="0" lIns="0" bIns="0" rIns="0">
            <a:spAutoFit/>
          </a:bodyPr>
          <a:lstStyle/>
          <a:p>
            <a:pPr algn="r">
              <a:lnSpc>
                <a:spcPts val="2520"/>
              </a:lnSpc>
            </a:pPr>
            <a:r>
              <a:rPr lang="en-US" sz="2100">
                <a:solidFill>
                  <a:srgbClr val="000000"/>
                </a:solidFill>
                <a:latin typeface="Arial"/>
                <a:ea typeface="Arial"/>
                <a:cs typeface="Arial"/>
                <a:sym typeface="Arial"/>
              </a:rPr>
              <a:t>39</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411956"/>
            <a:ext cx="12344400" cy="1714500"/>
            <a:chOff x="0" y="0"/>
            <a:chExt cx="16459200" cy="2286000"/>
          </a:xfrm>
        </p:grpSpPr>
        <p:sp>
          <p:nvSpPr>
            <p:cNvPr name="Freeform 3" id="3"/>
            <p:cNvSpPr/>
            <p:nvPr/>
          </p:nvSpPr>
          <p:spPr>
            <a:xfrm flipH="false" flipV="false" rot="0">
              <a:off x="0" y="0"/>
              <a:ext cx="16459200" cy="2286000"/>
            </a:xfrm>
            <a:custGeom>
              <a:avLst/>
              <a:gdLst/>
              <a:ahLst/>
              <a:cxnLst/>
              <a:rect r="r" b="b" t="t" l="l"/>
              <a:pathLst>
                <a:path h="2286000" w="16459200">
                  <a:moveTo>
                    <a:pt x="0" y="0"/>
                  </a:moveTo>
                  <a:lnTo>
                    <a:pt x="16459200" y="0"/>
                  </a:lnTo>
                  <a:lnTo>
                    <a:pt x="16459200" y="2286000"/>
                  </a:lnTo>
                  <a:lnTo>
                    <a:pt x="0" y="2286000"/>
                  </a:lnTo>
                  <a:close/>
                </a:path>
              </a:pathLst>
            </a:custGeom>
            <a:blipFill>
              <a:blip r:embed="rId2">
                <a:alphaModFix amt="0"/>
              </a:blip>
              <a:stretch>
                <a:fillRect l="0" t="-90292" r="0" b="-90292"/>
              </a:stretch>
            </a:blipFill>
          </p:spPr>
        </p:sp>
        <p:sp>
          <p:nvSpPr>
            <p:cNvPr name="TextBox 4" id="4"/>
            <p:cNvSpPr txBox="true"/>
            <p:nvPr/>
          </p:nvSpPr>
          <p:spPr>
            <a:xfrm>
              <a:off x="0" y="-171450"/>
              <a:ext cx="16459200" cy="2457450"/>
            </a:xfrm>
            <a:prstGeom prst="rect">
              <a:avLst/>
            </a:prstGeom>
          </p:spPr>
          <p:txBody>
            <a:bodyPr anchor="ctr" rtlCol="false" tIns="0" lIns="0" bIns="0" rIns="0"/>
            <a:lstStyle/>
            <a:p>
              <a:pPr algn="ctr">
                <a:lnSpc>
                  <a:spcPts val="9720"/>
                </a:lnSpc>
              </a:pPr>
              <a:r>
                <a:rPr lang="en-US" sz="8100" b="true">
                  <a:solidFill>
                    <a:srgbClr val="17365D"/>
                  </a:solidFill>
                  <a:latin typeface="Calibri (MS) Bold"/>
                  <a:ea typeface="Calibri (MS) Bold"/>
                  <a:cs typeface="Calibri (MS) Bold"/>
                  <a:sym typeface="Calibri (MS) Bold"/>
                </a:rPr>
                <a:t>THANK YOU</a:t>
              </a:r>
            </a:p>
          </p:txBody>
        </p:sp>
      </p:grpSp>
      <p:grpSp>
        <p:nvGrpSpPr>
          <p:cNvPr name="Group 5" id="5"/>
          <p:cNvGrpSpPr/>
          <p:nvPr/>
        </p:nvGrpSpPr>
        <p:grpSpPr>
          <a:xfrm rot="0">
            <a:off x="0" y="0"/>
            <a:ext cx="18287543" cy="10287000"/>
            <a:chOff x="0" y="0"/>
            <a:chExt cx="24383390" cy="13716000"/>
          </a:xfrm>
        </p:grpSpPr>
        <p:sp>
          <p:nvSpPr>
            <p:cNvPr name="Freeform 6" id="6"/>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17365D"/>
            </a:solidFill>
          </p:spPr>
        </p:sp>
        <p:sp>
          <p:nvSpPr>
            <p:cNvPr name="TextBox 7" id="7"/>
            <p:cNvSpPr txBox="true"/>
            <p:nvPr/>
          </p:nvSpPr>
          <p:spPr>
            <a:xfrm>
              <a:off x="0" y="-171450"/>
              <a:ext cx="24383390" cy="13887450"/>
            </a:xfrm>
            <a:prstGeom prst="rect">
              <a:avLst/>
            </a:prstGeom>
          </p:spPr>
          <p:txBody>
            <a:bodyPr anchor="ctr" rtlCol="false" tIns="50800" lIns="50800" bIns="50800" rIns="50800"/>
            <a:lstStyle/>
            <a:p>
              <a:pPr algn="ctr">
                <a:lnSpc>
                  <a:spcPts val="9720"/>
                </a:lnSpc>
              </a:pPr>
              <a:r>
                <a:rPr lang="en-US" sz="8100" b="true">
                  <a:solidFill>
                    <a:srgbClr val="17365D"/>
                  </a:solidFill>
                  <a:latin typeface="Calibri (MS) Bold"/>
                  <a:ea typeface="Calibri (MS) Bold"/>
                  <a:cs typeface="Calibri (MS) Bold"/>
                  <a:sym typeface="Calibri (MS) Bold"/>
                </a:rPr>
                <a:t>THANK YOU</a:t>
              </a:r>
            </a:p>
          </p:txBody>
        </p:sp>
      </p:grpSp>
      <p:grpSp>
        <p:nvGrpSpPr>
          <p:cNvPr name="Group 8" id="8"/>
          <p:cNvGrpSpPr/>
          <p:nvPr/>
        </p:nvGrpSpPr>
        <p:grpSpPr>
          <a:xfrm rot="0">
            <a:off x="0" y="0"/>
            <a:ext cx="18287543" cy="205740"/>
            <a:chOff x="0" y="0"/>
            <a:chExt cx="24383390" cy="274320"/>
          </a:xfrm>
        </p:grpSpPr>
        <p:sp>
          <p:nvSpPr>
            <p:cNvPr name="Freeform 9" id="9"/>
            <p:cNvSpPr/>
            <p:nvPr/>
          </p:nvSpPr>
          <p:spPr>
            <a:xfrm flipH="false" flipV="false" rot="0">
              <a:off x="0" y="0"/>
              <a:ext cx="24383364" cy="274320"/>
            </a:xfrm>
            <a:custGeom>
              <a:avLst/>
              <a:gdLst/>
              <a:ahLst/>
              <a:cxnLst/>
              <a:rect r="r" b="b" t="t" l="l"/>
              <a:pathLst>
                <a:path h="274320" w="24383364">
                  <a:moveTo>
                    <a:pt x="0" y="0"/>
                  </a:moveTo>
                  <a:lnTo>
                    <a:pt x="24383364" y="0"/>
                  </a:lnTo>
                  <a:lnTo>
                    <a:pt x="24383364" y="274320"/>
                  </a:lnTo>
                  <a:lnTo>
                    <a:pt x="0" y="274320"/>
                  </a:lnTo>
                  <a:close/>
                </a:path>
              </a:pathLst>
            </a:custGeom>
            <a:solidFill>
              <a:srgbClr val="0284C7"/>
            </a:solidFill>
          </p:spPr>
        </p:sp>
      </p:grpSp>
      <p:grpSp>
        <p:nvGrpSpPr>
          <p:cNvPr name="Group 10" id="10"/>
          <p:cNvGrpSpPr/>
          <p:nvPr/>
        </p:nvGrpSpPr>
        <p:grpSpPr>
          <a:xfrm rot="0">
            <a:off x="2050256" y="2050256"/>
            <a:ext cx="14187030" cy="6186488"/>
            <a:chOff x="0" y="0"/>
            <a:chExt cx="18916040" cy="8248650"/>
          </a:xfrm>
        </p:grpSpPr>
        <p:sp>
          <p:nvSpPr>
            <p:cNvPr name="Freeform 11" id="11"/>
            <p:cNvSpPr/>
            <p:nvPr/>
          </p:nvSpPr>
          <p:spPr>
            <a:xfrm flipH="false" flipV="false" rot="0">
              <a:off x="0" y="0"/>
              <a:ext cx="18916014" cy="8248650"/>
            </a:xfrm>
            <a:custGeom>
              <a:avLst/>
              <a:gdLst/>
              <a:ahLst/>
              <a:cxnLst/>
              <a:rect r="r" b="b" t="t" l="l"/>
              <a:pathLst>
                <a:path h="8248650" w="18916014">
                  <a:moveTo>
                    <a:pt x="0" y="1374775"/>
                  </a:moveTo>
                  <a:cubicBezTo>
                    <a:pt x="0" y="615569"/>
                    <a:pt x="615569" y="0"/>
                    <a:pt x="1374775" y="0"/>
                  </a:cubicBezTo>
                  <a:lnTo>
                    <a:pt x="17541239" y="0"/>
                  </a:lnTo>
                  <a:cubicBezTo>
                    <a:pt x="18300573" y="0"/>
                    <a:pt x="18916014" y="615569"/>
                    <a:pt x="18916014" y="1374775"/>
                  </a:cubicBezTo>
                  <a:lnTo>
                    <a:pt x="18916014" y="6873875"/>
                  </a:lnTo>
                  <a:cubicBezTo>
                    <a:pt x="18916014" y="7633208"/>
                    <a:pt x="18300446" y="8248650"/>
                    <a:pt x="17541239" y="8248650"/>
                  </a:cubicBezTo>
                  <a:lnTo>
                    <a:pt x="1374775" y="8248650"/>
                  </a:lnTo>
                  <a:cubicBezTo>
                    <a:pt x="615569" y="8248650"/>
                    <a:pt x="0" y="7633081"/>
                    <a:pt x="0" y="6873875"/>
                  </a:cubicBezTo>
                  <a:close/>
                </a:path>
              </a:pathLst>
            </a:custGeom>
            <a:solidFill>
              <a:srgbClr val="FFFFFF"/>
            </a:solidFill>
            <a:ln w="14288" cap="sq">
              <a:solidFill>
                <a:srgbClr val="0284C7"/>
              </a:solidFill>
              <a:prstDash val="solid"/>
              <a:miter/>
            </a:ln>
          </p:spPr>
        </p:sp>
        <p:sp>
          <p:nvSpPr>
            <p:cNvPr name="TextBox 12" id="12"/>
            <p:cNvSpPr txBox="true"/>
            <p:nvPr/>
          </p:nvSpPr>
          <p:spPr>
            <a:xfrm>
              <a:off x="0" y="-171450"/>
              <a:ext cx="18916040" cy="8420100"/>
            </a:xfrm>
            <a:prstGeom prst="rect">
              <a:avLst/>
            </a:prstGeom>
          </p:spPr>
          <p:txBody>
            <a:bodyPr anchor="ctr" rtlCol="false" tIns="50800" lIns="50800" bIns="50800" rIns="50800"/>
            <a:lstStyle/>
            <a:p>
              <a:pPr algn="ctr">
                <a:lnSpc>
                  <a:spcPts val="9720"/>
                </a:lnSpc>
              </a:pPr>
              <a:r>
                <a:rPr lang="en-US" sz="8100" b="true">
                  <a:solidFill>
                    <a:srgbClr val="17365D"/>
                  </a:solidFill>
                  <a:latin typeface="Calibri (MS) Bold"/>
                  <a:ea typeface="Calibri (MS) Bold"/>
                  <a:cs typeface="Calibri (MS) Bold"/>
                  <a:sym typeface="Calibri (MS)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DAHTMgFYkPw</dc:identifier>
  <dcterms:modified xsi:type="dcterms:W3CDTF">2011-08-01T06:04:30Z</dcterms:modified>
  <cp:revision>1</cp:revision>
  <dc:title>ECLIPSEEE.pptx</dc:title>
</cp:coreProperties>
</file>